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81" r:id="rId4"/>
    <p:sldId id="258" r:id="rId5"/>
    <p:sldId id="261" r:id="rId6"/>
    <p:sldId id="259" r:id="rId7"/>
    <p:sldId id="260" r:id="rId8"/>
    <p:sldId id="263" r:id="rId9"/>
    <p:sldId id="264" r:id="rId10"/>
    <p:sldId id="262" r:id="rId11"/>
    <p:sldId id="267" r:id="rId12"/>
    <p:sldId id="265" r:id="rId13"/>
    <p:sldId id="266" r:id="rId14"/>
    <p:sldId id="270" r:id="rId15"/>
    <p:sldId id="268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0" r:id="rId25"/>
    <p:sldId id="278" r:id="rId26"/>
    <p:sldId id="279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钰哲 赵" initials="钰赵" lastIdx="1" clrIdx="0">
    <p:extLst>
      <p:ext uri="{19B8F6BF-5375-455C-9EA6-DF929625EA0E}">
        <p15:presenceInfo xmlns:p15="http://schemas.microsoft.com/office/powerpoint/2012/main" userId="f3300543e4769e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A7629E-5EB6-405A-B177-FF33CCBA37E6}" type="datetimeFigureOut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A8DEA3-2765-437E-9B62-5CD56F7ED1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20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3F605-2BB4-B86E-0C64-AA28DD95DA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2674F4-C593-1BB8-6275-CF53E303CA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543B0E-61E5-1CA5-1062-E33E521B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CE3B8-B423-4699-8820-CC54D7799607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7AA503-5D73-2764-99E5-3E6C599B2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1A3705-7F00-0983-711D-F7A62007B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7AC7F-01EA-E7BA-20A1-63A5028A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F768B-75B7-621E-A51B-58D5D5953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D20825-9E5F-DA1B-5458-2BB3421D7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AF79-2E08-43EA-ACC5-300569C30205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2669CA-6117-78B4-C873-99CEF657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41210E-1BE6-F39D-375D-89C8BFBA5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887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44D35-A063-530E-5E70-DB01D4D94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12FC3-1A87-B8F5-04D1-2BD812D02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E64FFF-FD52-013B-77DD-7A8286EB9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045D-4A41-4DFB-8D30-B4ACA11C45AC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29D5AF-6FFA-64FF-B7B3-2E9C42D9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8C8115-9B12-4F86-AC94-33CD8B7E5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893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E0DC43-7B7A-B0FA-F5C5-0473D143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104564-506C-5BAB-C196-2C7A86346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7F119DE-3C57-90F8-E557-1A0ED5AC1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D0A0CA-EC4A-44E9-954A-54AFB299F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A9FAA-777A-41A9-930B-1C3C2715CF24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EFBF74-B0B8-7A36-A411-AFC65FBD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A396E2-0A64-AAB1-E67F-45B94163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235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49FC14-C51E-F6A8-D0F5-B18EF1027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48FF55-E718-9231-6436-DBD7FF3BD9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F5025E-B404-BA64-F433-3DB57C5B3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17559CD-C634-8240-1428-5095657C06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83412E-24A7-CC65-4A16-41B8706FCA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68A9864-CC03-51E4-8C21-8AD26E62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55C5A-8044-45B4-A3B6-10C454F24D27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CB900D-7D4D-F88B-9B24-59260E747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8B6262F-3211-5BB6-DBBE-FA8EE037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211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D5084-24A0-76A4-5E68-E5F7E7A97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B15A174-A095-045F-6167-61214F1B9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C08D3-1F69-4EFC-927B-76CEDAC45AEF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CD3D34-63E6-87A8-7292-960D1AE4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093DC7-DCB7-868C-0D31-ACF4792BD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778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0FD7EE-E32C-5340-6B4E-378322B76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11079-18A2-4B6B-A695-F27384955685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E38D9B-47AE-672F-3A6A-507B2440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3B112E-B8E1-F45C-3683-F3AC7707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282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C71934-118C-429A-4BE7-CA379BF4E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831FC4-EEE9-3690-9663-3C5844DBB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5196DC-E166-BEFE-03A8-09079CBF3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CEE3D7-FD8C-E47A-9812-C41D07FE3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9D9A-0C1D-453B-A7DA-37142068A21A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D776EDE-EBF1-4114-EF43-1DB2D3304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02D03BF-2D58-7D13-4F1B-4856FD80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80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BA2BFB-647F-08AC-C16A-1E0880C34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846D1E4-E454-7EEC-FDC0-1D57CE2FE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0C0208-A1D3-C85C-5757-6675C4EE5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7E76CB-8425-1664-AB4B-D93009807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196AD-3F1A-43A2-89DA-230C62A33773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4E9FC0-CB74-5E64-CB03-1D3B6F069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78244A-948A-AA16-1039-FBF09F896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0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CD49E5-85C5-E45E-C7AB-A03068DFD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96DCFF4-6C86-4FA7-1788-B32393A44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50B2D-321F-3E8F-2251-14F5F9D03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97863-E411-4FD3-9734-9234A44EE0FC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192D0B-9BE6-6632-D4A8-C30440B6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DF7933-B5D4-BF3E-CEB7-BB4E61C4E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3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DA49B0-FE5A-FA49-40F2-2BFC0AD13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AEFE72E-C47F-AB19-6C3E-45E07BE0B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15BF12-D573-B5FC-AE2A-0CED7B7A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29F3-F4E2-46DD-9DD5-31404E06B641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23FA7C-7A6B-8208-A681-7BA8D1E3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EA3E4E-FAF9-4CD6-26D1-8D2B43C6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4910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99CB304-1517-1212-28A8-83ED408C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3AC8E9-BA74-5895-55C6-9D7BF610A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B019D1-FB55-4E64-C76D-A58C3DD5F7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205D4-C559-4472-A5E7-150DC3E95A47}" type="datetime1">
              <a:rPr lang="zh-CN" altLang="en-US" smtClean="0"/>
              <a:t>2026/1/19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04809-9F01-35F4-2AEF-9AF5DC7A2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FA8F0C-379B-5FB1-3E1F-9581C46D1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12B58D-2340-4FA7-9DF0-6D9778CAAE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35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FCAD74-13AF-73EF-8452-F86BF21FC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07910" y="1235484"/>
            <a:ext cx="8421278" cy="2387600"/>
          </a:xfrm>
        </p:spPr>
        <p:txBody>
          <a:bodyPr>
            <a:noAutofit/>
          </a:bodyPr>
          <a:lstStyle/>
          <a:p>
            <a:r>
              <a:rPr lang="en-US" altLang="zh-CN" sz="9600" b="1" dirty="0"/>
              <a:t>MoE</a:t>
            </a:r>
            <a:br>
              <a:rPr lang="en-US" altLang="zh-CN" sz="9600" dirty="0"/>
            </a:br>
            <a:r>
              <a:rPr lang="en-US" altLang="zh-CN" sz="4000" dirty="0"/>
              <a:t>Mixture-of-Experts</a:t>
            </a:r>
            <a:endParaRPr lang="zh-CN" altLang="en-US" sz="40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33ECF9-5D90-1929-A00C-362176FFA2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549" y="4345757"/>
            <a:ext cx="9144000" cy="85548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332E2-40BF-17AA-DFD1-3D02780E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225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5442BA-9CCD-E758-62C5-2CA50C97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D0FC68-7B0E-5C79-E1ED-4484762D0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en-US" altLang="zh-CN" dirty="0"/>
              <a:t>Switch Transformer</a:t>
            </a:r>
          </a:p>
          <a:p>
            <a:pPr marL="0" indent="0">
              <a:buNone/>
            </a:pPr>
            <a:r>
              <a:rPr lang="en-US" altLang="zh-CN" dirty="0"/>
              <a:t>	DeepSeek V1/V2 &amp; Qwen &amp; GROK</a:t>
            </a:r>
          </a:p>
          <a:p>
            <a:pPr marL="0" indent="0">
              <a:buNone/>
            </a:pPr>
            <a:r>
              <a:rPr lang="en-US" altLang="zh-CN" dirty="0"/>
              <a:t>	Auxiliary Load Balancing Loss</a:t>
            </a:r>
          </a:p>
          <a:p>
            <a:r>
              <a:rPr lang="en-US" altLang="zh-CN" dirty="0"/>
              <a:t>DeepSeekMoE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细粒度专家和共享专家</a:t>
            </a:r>
            <a:endParaRPr lang="en-US" altLang="zh-CN" dirty="0"/>
          </a:p>
          <a:p>
            <a:r>
              <a:rPr lang="en-US" altLang="zh-CN" dirty="0"/>
              <a:t>DeepSeek V2</a:t>
            </a:r>
          </a:p>
          <a:p>
            <a:pPr marL="0" indent="0">
              <a:buNone/>
            </a:pPr>
            <a:r>
              <a:rPr lang="en-US" altLang="zh-CN" dirty="0"/>
              <a:t>	Device-Limited Routing</a:t>
            </a:r>
          </a:p>
          <a:p>
            <a:r>
              <a:rPr lang="en-US" altLang="zh-CN" dirty="0"/>
              <a:t>DeepSeek V3</a:t>
            </a:r>
          </a:p>
          <a:p>
            <a:pPr marL="0" indent="0">
              <a:buNone/>
            </a:pPr>
            <a:r>
              <a:rPr lang="en-US" altLang="zh-CN" dirty="0"/>
              <a:t>	Auxiliary-Loss-Free Load Balancing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4E4F8D-7F8C-957A-8564-383F4B181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05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0D7042-31FB-E07C-A88F-5D7010E1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感谢粉丝大佬们这段时间的充电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1F58AB-6B0D-AE59-33D8-3C33457BE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58006" cy="4667250"/>
          </a:xfrm>
        </p:spPr>
        <p:txBody>
          <a:bodyPr>
            <a:normAutofit/>
          </a:bodyPr>
          <a:lstStyle/>
          <a:p>
            <a:r>
              <a:rPr lang="zh-CN" altLang="en-US" dirty="0"/>
              <a:t>狂且</a:t>
            </a:r>
            <a:r>
              <a:rPr lang="en-US" altLang="zh-CN" dirty="0"/>
              <a:t>X</a:t>
            </a:r>
          </a:p>
          <a:p>
            <a:r>
              <a:rPr lang="zh-CN" altLang="en-US" dirty="0"/>
              <a:t>迷途小白喲</a:t>
            </a:r>
          </a:p>
          <a:p>
            <a:r>
              <a:rPr lang="zh-CN" altLang="en-US" dirty="0"/>
              <a:t>你的初心</a:t>
            </a:r>
          </a:p>
          <a:p>
            <a:r>
              <a:rPr lang="en-US" altLang="zh-CN" dirty="0"/>
              <a:t>W0ND3RFULHE4VEN</a:t>
            </a:r>
          </a:p>
          <a:p>
            <a:r>
              <a:rPr lang="zh-CN" altLang="en-US" dirty="0"/>
              <a:t>宽人克己是謂上策</a:t>
            </a:r>
          </a:p>
          <a:p>
            <a:r>
              <a:rPr lang="zh-CN" altLang="en-US" dirty="0"/>
              <a:t>浪浪洗脚</a:t>
            </a:r>
          </a:p>
          <a:p>
            <a:r>
              <a:rPr lang="zh-CN" altLang="en-US" dirty="0"/>
              <a:t>阿萨李逍遥张小凡</a:t>
            </a:r>
          </a:p>
        </p:txBody>
      </p:sp>
      <p:sp>
        <p:nvSpPr>
          <p:cNvPr id="7" name="内容占位符 5">
            <a:extLst>
              <a:ext uri="{FF2B5EF4-FFF2-40B4-BE49-F238E27FC236}">
                <a16:creationId xmlns:a16="http://schemas.microsoft.com/office/drawing/2014/main" id="{8D206FB0-001E-7941-0D62-63D0F5ACFEB6}"/>
              </a:ext>
            </a:extLst>
          </p:cNvPr>
          <p:cNvSpPr txBox="1">
            <a:spLocks/>
          </p:cNvSpPr>
          <p:nvPr/>
        </p:nvSpPr>
        <p:spPr>
          <a:xfrm>
            <a:off x="4996206" y="1825625"/>
            <a:ext cx="4158006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蕾西亚万岁啊我透</a:t>
            </a:r>
          </a:p>
          <a:p>
            <a:r>
              <a:rPr lang="zh-CN" altLang="en-US" dirty="0"/>
              <a:t>你的初心</a:t>
            </a:r>
            <a:endParaRPr lang="en-US" altLang="zh-CN" dirty="0"/>
          </a:p>
          <a:p>
            <a:r>
              <a:rPr lang="en-US" altLang="zh-CN" dirty="0"/>
              <a:t>Lib_Yancy</a:t>
            </a:r>
          </a:p>
          <a:p>
            <a:r>
              <a:rPr lang="zh-CN" altLang="en-US" dirty="0"/>
              <a:t>我们的征途是漫漫星海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1CA2C4-56F5-B2CE-B99D-46835B947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733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DB37F0-D3AF-57AE-13E6-6A155721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标准</a:t>
            </a:r>
            <a:r>
              <a:rPr lang="en-US" altLang="zh-CN" dirty="0"/>
              <a:t>transformer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B45A4-DC9F-A51F-53B4-397C7FEA0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5CD4ED-86C0-9FC2-9D18-B404DEE9AE71}"/>
              </a:ext>
            </a:extLst>
          </p:cNvPr>
          <p:cNvPicPr>
            <a:picLocks/>
          </p:cNvPicPr>
          <p:nvPr/>
        </p:nvPicPr>
        <p:blipFill>
          <a:blip r:embed="rId2"/>
          <a:srcRect l="1955" t="18115" b="4494"/>
          <a:stretch>
            <a:fillRect/>
          </a:stretch>
        </p:blipFill>
        <p:spPr>
          <a:xfrm>
            <a:off x="615574" y="1871180"/>
            <a:ext cx="10960851" cy="462169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0703B0-4F9D-DA74-0BF1-D36FCB947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18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36F69-7ABD-52E9-161C-4D6752BA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Dense Model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8194AE-84DF-11CF-EA56-703E756C9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810"/>
            <a:ext cx="11353800" cy="5357190"/>
          </a:xfrm>
        </p:spPr>
        <p:txBody>
          <a:bodyPr>
            <a:normAutofit/>
          </a:bodyPr>
          <a:lstStyle/>
          <a:p>
            <a:r>
              <a:rPr lang="zh-CN" altLang="en-US" dirty="0"/>
              <a:t>每一个</a:t>
            </a:r>
            <a:r>
              <a:rPr lang="en-US" altLang="zh-CN" dirty="0"/>
              <a:t>token</a:t>
            </a:r>
            <a:r>
              <a:rPr lang="zh-CN" altLang="en-US" dirty="0"/>
              <a:t>都要进入同一个</a:t>
            </a:r>
            <a:r>
              <a:rPr lang="en-US" altLang="zh-CN" dirty="0"/>
              <a:t>FFN</a:t>
            </a:r>
            <a:r>
              <a:rPr lang="zh-CN" altLang="en-US" dirty="0"/>
              <a:t>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每一次前向传播时会用</a:t>
            </a:r>
            <a:r>
              <a:rPr lang="en-US" altLang="zh-CN" dirty="0"/>
              <a:t>FFN</a:t>
            </a:r>
            <a:r>
              <a:rPr lang="zh-CN" altLang="en-US" dirty="0"/>
              <a:t>层所有参数计算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这里的计算量一般用</a:t>
            </a:r>
            <a:r>
              <a:rPr lang="en-US" altLang="zh-CN" dirty="0"/>
              <a:t>FLOPs</a:t>
            </a:r>
            <a:r>
              <a:rPr lang="zh-CN" altLang="en-US" dirty="0"/>
              <a:t>来衡量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当模型参数越多，权重矩阵越大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计算量就会越大</a:t>
            </a:r>
            <a:endParaRPr lang="en-US" altLang="zh-CN" dirty="0"/>
          </a:p>
          <a:p>
            <a:r>
              <a:rPr lang="en-US" altLang="zh-CN" dirty="0"/>
              <a:t>MoE</a:t>
            </a:r>
          </a:p>
          <a:p>
            <a:pPr marL="0" indent="0">
              <a:buNone/>
            </a:pPr>
            <a:r>
              <a:rPr lang="en-US" altLang="zh-CN" dirty="0"/>
              <a:t>	Mixture-of-Experts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提供了一种办法，在保持</a:t>
            </a:r>
            <a:r>
              <a:rPr lang="en-US" altLang="zh-CN" dirty="0"/>
              <a:t>FLOPs</a:t>
            </a:r>
            <a:r>
              <a:rPr lang="zh-CN" altLang="en-US" dirty="0"/>
              <a:t>几乎不变的情况下增加模型参数量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MoE</a:t>
            </a:r>
            <a:r>
              <a:rPr lang="zh-CN" altLang="en-US" dirty="0"/>
              <a:t>把大的</a:t>
            </a:r>
            <a:r>
              <a:rPr lang="en-US" altLang="zh-CN" dirty="0"/>
              <a:t>FFN</a:t>
            </a:r>
            <a:r>
              <a:rPr lang="zh-CN" altLang="en-US" dirty="0"/>
              <a:t>切分或复制成多个</a:t>
            </a:r>
            <a:r>
              <a:rPr lang="en-US" altLang="zh-CN" dirty="0"/>
              <a:t>FFN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处理每个</a:t>
            </a:r>
            <a:r>
              <a:rPr lang="en-US" altLang="zh-CN" dirty="0"/>
              <a:t>token</a:t>
            </a:r>
            <a:r>
              <a:rPr lang="zh-CN" altLang="en-US" dirty="0"/>
              <a:t>时，只稀疏地激活其中的一个或几个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A93466-1918-33F0-E949-A96CBED813FB}"/>
              </a:ext>
            </a:extLst>
          </p:cNvPr>
          <p:cNvPicPr>
            <a:picLocks/>
          </p:cNvPicPr>
          <p:nvPr/>
        </p:nvPicPr>
        <p:blipFill>
          <a:blip r:embed="rId2"/>
          <a:srcRect l="1955" t="26845" r="75133" b="16670"/>
          <a:stretch>
            <a:fillRect/>
          </a:stretch>
        </p:blipFill>
        <p:spPr>
          <a:xfrm>
            <a:off x="9211486" y="1345958"/>
            <a:ext cx="2561414" cy="337312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FB144B-E3CE-4BFC-54A8-E6FD4C073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99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AAF99-E0C1-17FE-7CDD-72E2535E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CCED79-2696-6DB8-780A-A2CFDD267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A860384-2F5A-C780-D671-87C7DE278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12192000" cy="6142417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CAD7CA-3237-9979-8862-CD7832BD0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992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04BC1E-53BD-A6A0-82C2-B231F566B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MoE </a:t>
            </a:r>
            <a:r>
              <a:rPr lang="zh-CN" altLang="en-US" dirty="0"/>
              <a:t>混合专家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193454-E3CB-706C-3E85-28082E4CB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zh-CN" altLang="en-US" dirty="0"/>
              <a:t>每一个</a:t>
            </a:r>
            <a:r>
              <a:rPr lang="en-US" altLang="zh-CN" dirty="0"/>
              <a:t>FFN</a:t>
            </a:r>
            <a:r>
              <a:rPr lang="zh-CN" altLang="en-US" dirty="0"/>
              <a:t>就是一个专家</a:t>
            </a:r>
            <a:endParaRPr lang="en-US" altLang="zh-CN" dirty="0"/>
          </a:p>
          <a:p>
            <a:r>
              <a:rPr lang="zh-CN" altLang="en-US" dirty="0"/>
              <a:t>对于每一个</a:t>
            </a:r>
            <a:r>
              <a:rPr lang="en-US" altLang="zh-CN" dirty="0"/>
              <a:t>token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通过</a:t>
            </a:r>
            <a:r>
              <a:rPr lang="en-US" altLang="zh-CN" dirty="0"/>
              <a:t>router</a:t>
            </a:r>
            <a:r>
              <a:rPr lang="zh-CN" altLang="en-US" dirty="0"/>
              <a:t>选择最适合他的</a:t>
            </a:r>
            <a:r>
              <a:rPr lang="en-US" altLang="zh-CN" dirty="0"/>
              <a:t>FFN</a:t>
            </a:r>
          </a:p>
          <a:p>
            <a:r>
              <a:rPr lang="en-US" altLang="zh-CN" dirty="0"/>
              <a:t>token</a:t>
            </a:r>
            <a:r>
              <a:rPr lang="zh-CN" altLang="en-US" dirty="0"/>
              <a:t>对专家的选择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计算向量内积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token</a:t>
            </a:r>
            <a:r>
              <a:rPr lang="zh-CN" altLang="en-US" dirty="0"/>
              <a:t>的向量与每个专家的向量相乘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得到该</a:t>
            </a:r>
            <a:r>
              <a:rPr lang="en-US" altLang="zh-CN" dirty="0"/>
              <a:t>token</a:t>
            </a:r>
            <a:r>
              <a:rPr lang="zh-CN" altLang="en-US" dirty="0"/>
              <a:t>与各个专家的匹配度</a:t>
            </a:r>
            <a:endParaRPr lang="en-US" altLang="zh-CN" dirty="0"/>
          </a:p>
          <a:p>
            <a:r>
              <a:rPr lang="zh-CN" altLang="en-US" dirty="0"/>
              <a:t>专家最多学习到</a:t>
            </a:r>
            <a:r>
              <a:rPr lang="en-US" altLang="zh-CN" dirty="0"/>
              <a:t>token</a:t>
            </a:r>
            <a:r>
              <a:rPr lang="zh-CN" altLang="en-US" dirty="0"/>
              <a:t>级别的语法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1BB56E2-26A2-BE50-E662-ABE57D0034BA}"/>
              </a:ext>
            </a:extLst>
          </p:cNvPr>
          <p:cNvPicPr>
            <a:picLocks/>
          </p:cNvPicPr>
          <p:nvPr/>
        </p:nvPicPr>
        <p:blipFill>
          <a:blip r:embed="rId2"/>
          <a:srcRect l="43777" t="19591" r="1685" b="42074"/>
          <a:stretch>
            <a:fillRect/>
          </a:stretch>
        </p:blipFill>
        <p:spPr>
          <a:xfrm>
            <a:off x="5277676" y="365125"/>
            <a:ext cx="6649279" cy="2355575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C3453F-2D83-D39A-82D0-570DB57B8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87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E8AB05-C00A-2B1E-2473-04119CF60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router</a:t>
            </a:r>
            <a:r>
              <a:rPr lang="zh-CN" altLang="en-US" dirty="0"/>
              <a:t>路由器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CC9879-DE79-CC78-750A-A1123827AB96}"/>
              </a:ext>
            </a:extLst>
          </p:cNvPr>
          <p:cNvPicPr>
            <a:picLocks/>
          </p:cNvPicPr>
          <p:nvPr/>
        </p:nvPicPr>
        <p:blipFill>
          <a:blip r:embed="rId2"/>
          <a:srcRect t="10262"/>
          <a:stretch>
            <a:fillRect/>
          </a:stretch>
        </p:blipFill>
        <p:spPr>
          <a:xfrm>
            <a:off x="1398519" y="1550504"/>
            <a:ext cx="9394962" cy="494237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0FE1B5F-9861-A88C-DFE3-1C63D05C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29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F7201-2212-7212-C415-7AA36D9F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+mn-lt"/>
              </a:rPr>
              <a:t>Token Choose Expert </a:t>
            </a:r>
            <a:endParaRPr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AAA3E-8A44-C992-033A-AA2F22E46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Switch Transformer</a:t>
            </a:r>
          </a:p>
          <a:p>
            <a:pPr marL="0" indent="0">
              <a:buNone/>
            </a:pPr>
            <a:r>
              <a:rPr lang="en-US" altLang="zh-CN" dirty="0"/>
              <a:t>	DeepSeek V1/V2 &amp; Qwen &amp; GROK</a:t>
            </a:r>
          </a:p>
          <a:p>
            <a:r>
              <a:rPr lang="en-US" altLang="zh-CN" dirty="0"/>
              <a:t>DeepSeekMoE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细粒度专家和共享专家</a:t>
            </a:r>
            <a:endParaRPr lang="en-US" altLang="zh-CN" dirty="0"/>
          </a:p>
          <a:p>
            <a:r>
              <a:rPr lang="en-US" altLang="zh-CN" dirty="0"/>
              <a:t>DeepSeek V2</a:t>
            </a:r>
          </a:p>
          <a:p>
            <a:r>
              <a:rPr lang="en-US" altLang="zh-CN" dirty="0"/>
              <a:t>DeepSeek V3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保持这种</a:t>
            </a:r>
            <a:r>
              <a:rPr lang="en-US" altLang="zh-CN" dirty="0">
                <a:latin typeface="+mn-lt"/>
              </a:rPr>
              <a:t>Token Choose Expert </a:t>
            </a:r>
          </a:p>
          <a:p>
            <a:pPr marL="0" indent="0">
              <a:buNone/>
            </a:pPr>
            <a:r>
              <a:rPr lang="en-US" altLang="zh-CN" dirty="0"/>
              <a:t>	softmax after TopK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3F03D0-570D-072A-62FA-275480566FF1}"/>
              </a:ext>
            </a:extLst>
          </p:cNvPr>
          <p:cNvPicPr>
            <a:picLocks/>
          </p:cNvPicPr>
          <p:nvPr/>
        </p:nvPicPr>
        <p:blipFill>
          <a:blip r:embed="rId2"/>
          <a:srcRect r="64731"/>
          <a:stretch>
            <a:fillRect/>
          </a:stretch>
        </p:blipFill>
        <p:spPr>
          <a:xfrm>
            <a:off x="8010665" y="1349783"/>
            <a:ext cx="3103538" cy="4351338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18D8C9-F7FD-F09D-B5B5-147DB268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4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354F34-AF93-68DA-AA81-568E33AF3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Switch Transformers (Fedus 2022)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738B44-8D18-B8B0-1CCF-9FC5ECC2F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952862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altLang="zh-CN" i="0">
                            <a:latin typeface="Cambria Math" panose="02040503050406030204" pitchFamily="18" charset="0"/>
                          </a:rPr>
                          <m:t>Softmax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Sup>
                              <m:sSub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𝐮</m:t>
                                </m:r>
                              </m:e>
                              <m:sub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𝐭</m:t>
                                </m:r>
                              </m:sub>
                              <m:sup>
                                <m: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  <m:t>𝐥</m:t>
                                </m:r>
                              </m:sup>
                            </m:sSubSup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Sup>
                          <m:sSub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𝐢</m:t>
                            </m:r>
                          </m:sub>
                          <m:sup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𝐥</m:t>
                            </m:r>
                          </m:sup>
                        </m:sSubSup>
                      </m:e>
                    </m:d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其中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𝐥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表示第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个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的隐藏状态的向量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𝐞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𝐢</m:t>
                        </m:r>
                      </m:sub>
                      <m:sup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𝐥</m:t>
                        </m:r>
                      </m:sup>
                    </m:sSubSup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表示第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个专家的向量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我们让向量点积通过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softmax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归一化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得到了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选择每个专家的概率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表示第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个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选择第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个专家的概率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softmax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是对于每个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来讲的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对于一个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token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，它和所有专家的匹配度之和为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D738B44-8D18-B8B0-1CCF-9FC5ECC2F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952862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0CD8C9-1D19-5B60-6083-CB28C36A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99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瀑布图&#10;&#10;AI 生成的内容可能不正确。">
            <a:extLst>
              <a:ext uri="{FF2B5EF4-FFF2-40B4-BE49-F238E27FC236}">
                <a16:creationId xmlns:a16="http://schemas.microsoft.com/office/drawing/2014/main" id="{2C983D0C-576E-7A2A-F32A-442D359CF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370"/>
            <a:ext cx="12192000" cy="601557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2F5CDE1-4ACA-2A77-07C9-369B709CA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4599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46713-B244-FDDC-B92B-DDF24285E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KeepTopK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C89694-A62E-C9E6-A4A1-F822A4395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90392"/>
          </a:xfrm>
        </p:spPr>
        <p:txBody>
          <a:bodyPr>
            <a:normAutofit/>
          </a:bodyPr>
          <a:lstStyle/>
          <a:p>
            <a:r>
              <a:rPr lang="zh-CN" altLang="en-US" dirty="0"/>
              <a:t>对于每个</a:t>
            </a:r>
            <a:r>
              <a:rPr lang="en-US" altLang="zh-CN" dirty="0"/>
              <a:t>token</a:t>
            </a:r>
            <a:r>
              <a:rPr lang="zh-CN" altLang="en-US" dirty="0"/>
              <a:t>，我们筛选出得分最高的</a:t>
            </a:r>
            <a:r>
              <a:rPr lang="en-US" altLang="zh-CN" dirty="0"/>
              <a:t>K</a:t>
            </a:r>
            <a:r>
              <a:rPr lang="zh-CN" altLang="en-US" dirty="0"/>
              <a:t>个专家</a:t>
            </a:r>
            <a:endParaRPr lang="en-US" altLang="zh-CN" dirty="0"/>
          </a:p>
          <a:p>
            <a:r>
              <a:rPr lang="zh-CN" altLang="en-US" dirty="0"/>
              <a:t>如果这个专家的得分属于</a:t>
            </a:r>
            <a:r>
              <a:rPr lang="en-US" altLang="zh-CN" dirty="0"/>
              <a:t>top-K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就保留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否则置为</a:t>
            </a:r>
            <a:r>
              <a:rPr lang="en-US" altLang="zh-CN" dirty="0"/>
              <a:t>0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FBC19077-6640-7050-419F-E5E923107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208" y="3916017"/>
            <a:ext cx="6248399" cy="1072052"/>
          </a:xfrm>
          <a:prstGeom prst="rect">
            <a:avLst/>
          </a:prstGeom>
        </p:spPr>
      </p:pic>
      <p:pic>
        <p:nvPicPr>
          <p:cNvPr id="7" name="图片 6" descr="图片包含 日历&#10;&#10;AI 生成的内容可能不正确。">
            <a:extLst>
              <a:ext uri="{FF2B5EF4-FFF2-40B4-BE49-F238E27FC236}">
                <a16:creationId xmlns:a16="http://schemas.microsoft.com/office/drawing/2014/main" id="{E3C22744-656D-F924-7730-3490A235A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926" y="4988069"/>
            <a:ext cx="11188148" cy="138556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48683-AF17-3CFF-FA54-BEF2F59FD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717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62D978F-D7E2-4F34-99CA-72C34B17CE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  <m:sup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𝐥</m:t>
                          </m:r>
                        </m:sup>
                      </m:sSub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zh-CN" i="0" dirty="0">
                                      <a:latin typeface="Cambria Math" panose="02040503050406030204" pitchFamily="18" charset="0"/>
                                    </a:rPr>
                                    <m:t>FFN</m:t>
                                  </m:r>
                                </m:e>
                                <m:sub>
                                  <m:r>
                                    <a:rPr lang="en-US" altLang="zh-CN" i="1" dirty="0" err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  <m:t>𝐮</m:t>
                                      </m:r>
                                    </m:e>
                                    <m:sub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𝐭</m:t>
                                      </m:r>
                                    </m:sub>
                                    <m:sup>
                                      <m:r>
                                        <a:rPr lang="en-US" altLang="zh-CN" i="1" dirty="0" err="1">
                                          <a:latin typeface="Cambria Math" panose="02040503050406030204" pitchFamily="18" charset="0"/>
                                        </a:rPr>
                                        <m:t>𝐥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</m:nary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𝐮</m:t>
                          </m:r>
                        </m:e>
                        <m:sub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  <m:sup>
                          <m:r>
                            <a:rPr lang="en-US" altLang="zh-CN" i="1" dirty="0" err="1">
                              <a:latin typeface="Cambria Math" panose="02040503050406030204" pitchFamily="18" charset="0"/>
                            </a:rPr>
                            <m:t>𝐥</m:t>
                          </m:r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F62D978F-D7E2-4F34-99CA-72C34B17CE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903" b="-11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305923-57FD-F907-D55D-68A4AA337A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661534"/>
              </a:xfrm>
            </p:spPr>
            <p:txBody>
              <a:bodyPr/>
              <a:lstStyle/>
              <a:p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dirty="0"/>
                  <a:t>是权重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每个选出的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专家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输出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根据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权重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加权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求和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加上末尾的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𝐥</m:t>
                        </m:r>
                      </m:sup>
                    </m:sSubSup>
                    <m:r>
                      <a:rPr lang="zh-CN" altLang="en-US" i="1" dirty="0" err="1">
                        <a:latin typeface="Cambria Math" panose="02040503050406030204" pitchFamily="18" charset="0"/>
                      </a:rPr>
                      <m:t>完成残差连接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这样就得到了第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层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输出</m:t>
                    </m:r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𝐡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𝐭</m:t>
                        </m:r>
                      </m:sub>
                      <m:sup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𝐥</m:t>
                        </m:r>
                      </m:sup>
                    </m:sSubSup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作为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下一层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输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入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完整流程：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8305923-57FD-F907-D55D-68A4AA337A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661534"/>
              </a:xfrm>
              <a:blipFill>
                <a:blip r:embed="rId3"/>
                <a:stretch>
                  <a:fillRect l="-1043" t="-3661" b="-2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 descr="文本, 信件&#10;&#10;AI 生成的内容可能不正确。">
            <a:extLst>
              <a:ext uri="{FF2B5EF4-FFF2-40B4-BE49-F238E27FC236}">
                <a16:creationId xmlns:a16="http://schemas.microsoft.com/office/drawing/2014/main" id="{F98072D3-7E3B-48EC-51EF-29FE18253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6321" y="4182372"/>
            <a:ext cx="5571242" cy="2675628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DC5C25-7372-1FA7-5474-C74E12976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49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A6E4A2-9402-8DC7-3115-B8AFDB39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C93BF6-98F4-1D65-4F42-349EDA381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662993-3454-942A-564C-6C7B98DDA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11" y="1735431"/>
            <a:ext cx="9439373" cy="47574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7D14309-8A31-165D-659B-5F93F4A94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56" y="524909"/>
            <a:ext cx="10674285" cy="1005994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5117C9-278D-DE4A-F552-7D7117C1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760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6904D7-820A-552A-2170-4DC569E40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00140"/>
            <a:ext cx="11039573" cy="3876823"/>
          </a:xfrm>
        </p:spPr>
        <p:txBody>
          <a:bodyPr/>
          <a:lstStyle/>
          <a:p>
            <a:r>
              <a:rPr lang="zh-CN" altLang="en-US" dirty="0"/>
              <a:t>细粒度专家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刚才的</a:t>
            </a:r>
            <a:r>
              <a:rPr lang="en-US" altLang="zh-CN" dirty="0"/>
              <a:t>SwitchTransformers</a:t>
            </a:r>
            <a:r>
              <a:rPr lang="zh-CN" altLang="en-US" dirty="0"/>
              <a:t>里的专家大小与</a:t>
            </a:r>
            <a:r>
              <a:rPr lang="en-US" altLang="zh-CN" dirty="0"/>
              <a:t>dense model</a:t>
            </a:r>
            <a:r>
              <a:rPr lang="zh-CN" altLang="en-US" dirty="0"/>
              <a:t>里一样大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DeepSeekMoE</a:t>
            </a:r>
            <a:r>
              <a:rPr lang="zh-CN" altLang="en-US" dirty="0"/>
              <a:t>对专家进行细粒度切分</a:t>
            </a:r>
            <a:endParaRPr lang="en-US" altLang="zh-CN" dirty="0"/>
          </a:p>
          <a:p>
            <a:r>
              <a:rPr lang="zh-CN" altLang="en-US" dirty="0"/>
              <a:t>在专家数量有限时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分配给某个专家的</a:t>
            </a:r>
            <a:r>
              <a:rPr lang="en-US" altLang="zh-CN" dirty="0"/>
              <a:t>token</a:t>
            </a:r>
            <a:r>
              <a:rPr lang="zh-CN" altLang="en-US" dirty="0"/>
              <a:t>可能覆盖了太多知识</a:t>
            </a:r>
            <a:endParaRPr lang="en-US" altLang="zh-CN" dirty="0"/>
          </a:p>
          <a:p>
            <a:r>
              <a:rPr lang="zh-CN" altLang="en-US" dirty="0"/>
              <a:t>当我们对专家做细粒度切分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每个专家就可以学到更专业、更集中、更细粒度的知识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0BDDD27-6DFF-0D26-DA8C-A21BBC772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70"/>
            <a:ext cx="12192000" cy="90480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E94DF2-D61C-04F7-DC8B-6BC5D55EA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28" y="1005302"/>
            <a:ext cx="11774543" cy="1095528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5A894E2-44FB-335A-2193-5D2F6801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85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B7829E-9FDF-85D0-FA76-59EB9EC68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细粒度专家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6B764F69-7B94-7BBE-9832-B03AC9093D3E}"/>
              </a:ext>
            </a:extLst>
          </p:cNvPr>
          <p:cNvPicPr>
            <a:picLocks/>
          </p:cNvPicPr>
          <p:nvPr/>
        </p:nvPicPr>
        <p:blipFill>
          <a:blip r:embed="rId2"/>
          <a:srcRect l="1532"/>
          <a:stretch>
            <a:fillRect/>
          </a:stretch>
        </p:blipFill>
        <p:spPr>
          <a:xfrm>
            <a:off x="918720" y="1454152"/>
            <a:ext cx="10354559" cy="5227487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1FB4914-8D0B-F998-0743-249C6041A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99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25355B-BA69-888A-7F30-CE0A40E12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Shared Expert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0C7E0-DA44-6B73-964F-1ED134928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r>
              <a:rPr lang="zh-CN" altLang="en-US" dirty="0"/>
              <a:t>共享专家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MoE</a:t>
            </a:r>
            <a:r>
              <a:rPr lang="zh-CN" altLang="en-US" dirty="0"/>
              <a:t>过程中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分配给不同专家的</a:t>
            </a:r>
            <a:r>
              <a:rPr lang="en-US" altLang="zh-CN" dirty="0"/>
              <a:t>token</a:t>
            </a:r>
            <a:r>
              <a:rPr lang="zh-CN" altLang="en-US" dirty="0"/>
              <a:t>很可能需要共同的信息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每个专家为了处理自己分到的</a:t>
            </a:r>
            <a:r>
              <a:rPr lang="en-US" altLang="zh-CN" dirty="0"/>
              <a:t>token</a:t>
            </a:r>
            <a:r>
              <a:rPr lang="zh-CN" altLang="en-US" dirty="0"/>
              <a:t>，被迫学习通用知识</a:t>
            </a:r>
            <a:endParaRPr lang="en-US" altLang="zh-CN" dirty="0"/>
          </a:p>
          <a:p>
            <a:r>
              <a:rPr lang="zh-CN" altLang="en-US" dirty="0"/>
              <a:t>如何解决？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选出一些专家专门处理这些通用知识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这样，其他专家就可以专心学习专业知识</a:t>
            </a:r>
            <a:endParaRPr lang="en-US" altLang="zh-CN" dirty="0"/>
          </a:p>
          <a:p>
            <a:r>
              <a:rPr lang="zh-CN" altLang="en-US" dirty="0"/>
              <a:t>共享专家不需要</a:t>
            </a:r>
            <a:r>
              <a:rPr lang="en-US" altLang="zh-CN" dirty="0"/>
              <a:t>router</a:t>
            </a:r>
            <a:r>
              <a:rPr lang="zh-CN" altLang="en-US" dirty="0"/>
              <a:t>分配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他是默认激活的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2727C-4CC2-C40E-4E76-80BE0C9C4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85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9BD4005A-7C05-E525-59F0-264710B45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9323"/>
            <a:ext cx="12192000" cy="588326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2ED0D18-2A3F-EC70-D2F7-FAAD9C209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共享专家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B7AEDE-AEE4-3F72-47A1-99B08290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324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4522B-D5FB-345B-4896-62C6529B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如何训练</a:t>
            </a:r>
            <a:r>
              <a:rPr lang="en-US" altLang="zh-CN" dirty="0"/>
              <a:t>MoE</a:t>
            </a:r>
            <a:endParaRPr lang="zh-CN" altLang="en-US" dirty="0"/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D80C1F75-5570-DBF5-7451-EAE3AF36A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13" y="1690688"/>
            <a:ext cx="8818567" cy="4985067"/>
          </a:xfrm>
          <a:prstGeom prst="rect">
            <a:avLst/>
          </a:prstGeom>
        </p:spPr>
      </p:pic>
      <p:pic>
        <p:nvPicPr>
          <p:cNvPr id="7" name="图片 6" descr="图片包含 图标&#10;&#10;AI 生成的内容可能不正确。">
            <a:extLst>
              <a:ext uri="{FF2B5EF4-FFF2-40B4-BE49-F238E27FC236}">
                <a16:creationId xmlns:a16="http://schemas.microsoft.com/office/drawing/2014/main" id="{5604ECE9-BE7B-A8CD-437F-4EA8D797B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394" y="568744"/>
            <a:ext cx="4504075" cy="173266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903A76-7919-5217-221B-B55B54C04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5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1C655-60ED-92AA-F3C0-6D7CBA76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Auxiliary Load Balancing Loss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4105AF-FC95-F6F8-A5E5-383072F1FB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负载均衡损失</a:t>
                </a:r>
                <a:endParaRPr lang="en-US" altLang="zh-CN" dirty="0"/>
              </a:p>
              <a:p>
                <a:r>
                  <a:rPr lang="zh-CN" altLang="en-US" dirty="0"/>
                  <a:t>我们想让每个专家的负载尽量均衡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𝑙𝑜𝑠𝑠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nary>
                      <m:naryPr>
                        <m:chr m:val="∑"/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i="1" dirty="0" err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altLang="zh-CN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是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超参数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是</m:t>
                    </m:r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专家的数量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是第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i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个专家的实际负载比例，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是路由概率期望</a:t>
                </a:r>
                <a:endParaRPr lang="en-US" altLang="zh-CN" dirty="0"/>
              </a:p>
              <a:p>
                <a:r>
                  <a:rPr lang="zh-CN" altLang="en-US" dirty="0">
                    <a:latin typeface="Cambria Math" panose="02040503050406030204" pitchFamily="18" charset="0"/>
                  </a:rPr>
                  <a:t>两个分布的点积在均匀分布时最小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Cambria Math" panose="02040503050406030204" pitchFamily="18" charset="0"/>
                  </a:rPr>
                  <a:t>	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最小化这个</a:t>
                </a:r>
                <a:r>
                  <a:rPr lang="en-US" altLang="zh-CN" dirty="0">
                    <a:latin typeface="Cambria Math" panose="02040503050406030204" pitchFamily="18" charset="0"/>
                  </a:rPr>
                  <a:t>loss</a:t>
                </a:r>
                <a:r>
                  <a:rPr lang="zh-CN" altLang="en-US" dirty="0">
                    <a:latin typeface="Cambria Math" panose="02040503050406030204" pitchFamily="18" charset="0"/>
                  </a:rPr>
                  <a:t>，强迫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i="1" dirty="0" err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Cambria Math" panose="02040503050406030204" pitchFamily="18" charset="0"/>
                  </a:rPr>
                  <a:t>接近均匀</a:t>
                </a:r>
                <a:endParaRPr lang="en-US" altLang="zh-CN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4105AF-FC95-F6F8-A5E5-383072F1FB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865985-DA19-ED12-CC14-AF2C9B15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32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C2AF87-C330-AF39-6534-D9095704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Expert Capacity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1AAB6-959B-6434-93A5-14B36AC83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179"/>
            <a:ext cx="10515600" cy="521649"/>
          </a:xfrm>
        </p:spPr>
        <p:txBody>
          <a:bodyPr/>
          <a:lstStyle/>
          <a:p>
            <a:r>
              <a:rPr lang="zh-CN" altLang="en-US" dirty="0"/>
              <a:t>限制每个专家的最大吞吐量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545482EF-A842-4909-2796-B3850DAA5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500" y="1229480"/>
            <a:ext cx="6196554" cy="940946"/>
          </a:xfrm>
          <a:prstGeom prst="rect">
            <a:avLst/>
          </a:prstGeom>
        </p:spPr>
      </p:pic>
      <p:pic>
        <p:nvPicPr>
          <p:cNvPr id="7" name="图片 6" descr="图示&#10;&#10;AI 生成的内容可能不正确。">
            <a:extLst>
              <a:ext uri="{FF2B5EF4-FFF2-40B4-BE49-F238E27FC236}">
                <a16:creationId xmlns:a16="http://schemas.microsoft.com/office/drawing/2014/main" id="{5A80DA2E-8CA9-564F-6813-CC2BB04B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735" y="2170425"/>
            <a:ext cx="8583284" cy="448489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99F7DB-2EE8-8537-6E6A-252B94566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2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413AB-39F6-23A7-1EFB-A9ED0E793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强制要求每个专家尽量均衡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B46EE4-636A-B4AA-7479-D01078879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86499"/>
          </a:xfrm>
        </p:spPr>
        <p:txBody>
          <a:bodyPr>
            <a:normAutofit/>
          </a:bodyPr>
          <a:lstStyle/>
          <a:p>
            <a:r>
              <a:rPr lang="en-US" altLang="zh-CN" dirty="0"/>
              <a:t>Switch Transformers </a:t>
            </a:r>
            <a:r>
              <a:rPr lang="zh-CN" altLang="en-US" dirty="0"/>
              <a:t>强制要求每个专家一样忙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比如某件困难的任务只能这个专家做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但是由于负载均衡损失的存在，强行分配给另一个专家</a:t>
            </a:r>
            <a:endParaRPr lang="en-US" altLang="zh-CN" dirty="0"/>
          </a:p>
          <a:p>
            <a:r>
              <a:rPr lang="en-US" altLang="zh-CN" b="1" dirty="0"/>
              <a:t>DeepSeekMoE</a:t>
            </a:r>
            <a:r>
              <a:rPr lang="zh-CN" altLang="en-US" dirty="0"/>
              <a:t>的改进</a:t>
            </a:r>
            <a:endParaRPr lang="en-US" altLang="zh-CN" dirty="0"/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C6F41BD-C342-234F-E074-76EE7DD42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882" y="3774352"/>
            <a:ext cx="4796507" cy="2600688"/>
          </a:xfrm>
          <a:prstGeom prst="rect">
            <a:avLst/>
          </a:prstGeom>
        </p:spPr>
      </p:pic>
      <p:pic>
        <p:nvPicPr>
          <p:cNvPr id="7" name="图片 6" descr="图示, 示意图&#10;&#10;AI 生成的内容可能不正确。">
            <a:extLst>
              <a:ext uri="{FF2B5EF4-FFF2-40B4-BE49-F238E27FC236}">
                <a16:creationId xmlns:a16="http://schemas.microsoft.com/office/drawing/2014/main" id="{92D89FE0-EC96-6124-525A-B5F81DBE2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683" y="3892187"/>
            <a:ext cx="2500072" cy="2345081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39ACFD-A2F9-EDFB-2DB8-2B57855B9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99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50FF39-A726-F922-49BC-3BD62915E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143500"/>
            <a:ext cx="10515600" cy="2045616"/>
          </a:xfrm>
        </p:spPr>
        <p:txBody>
          <a:bodyPr/>
          <a:lstStyle/>
          <a:p>
            <a:r>
              <a:rPr lang="en-US" altLang="zh-CN" dirty="0"/>
              <a:t>Device-Limited Routing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限制一个</a:t>
            </a:r>
            <a:r>
              <a:rPr lang="en-US" altLang="zh-CN" dirty="0"/>
              <a:t>token</a:t>
            </a:r>
            <a:r>
              <a:rPr lang="zh-CN" altLang="en-US" dirty="0"/>
              <a:t>最多只能去</a:t>
            </a:r>
            <a:r>
              <a:rPr lang="en-US" altLang="zh-CN" dirty="0"/>
              <a:t>M</a:t>
            </a:r>
            <a:r>
              <a:rPr lang="zh-CN" altLang="en-US" dirty="0"/>
              <a:t>个</a:t>
            </a:r>
            <a:r>
              <a:rPr lang="en-US" altLang="zh-CN" dirty="0"/>
              <a:t>device</a:t>
            </a:r>
          </a:p>
          <a:p>
            <a:pPr marL="0" indent="0">
              <a:buNone/>
            </a:pPr>
            <a:r>
              <a:rPr lang="en-US" altLang="zh-CN" dirty="0"/>
              <a:t>	Top-M </a:t>
            </a:r>
          </a:p>
          <a:p>
            <a:r>
              <a:rPr lang="zh-CN" altLang="en-US" dirty="0"/>
              <a:t>完整流程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9C212F-7B1C-0806-5B1B-D676DAC8D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028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5C5EA7A-3771-2717-3656-C3F7B9E4E6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022" y="902815"/>
            <a:ext cx="8971955" cy="1043251"/>
          </a:xfrm>
          <a:prstGeom prst="rect">
            <a:avLst/>
          </a:prstGeom>
        </p:spPr>
      </p:pic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2DE56964-8AAB-9C7F-D895-DF912B864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15968"/>
            <a:ext cx="12192000" cy="2162517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15AD3C6-D435-DA2F-4853-AB5C823B0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21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0DB693-D1E8-FD80-8BA9-B8287301F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35974"/>
            <a:ext cx="10515600" cy="1542421"/>
          </a:xfrm>
        </p:spPr>
        <p:txBody>
          <a:bodyPr>
            <a:normAutofit/>
          </a:bodyPr>
          <a:lstStyle/>
          <a:p>
            <a:r>
              <a:rPr lang="en-US" altLang="zh-CN" dirty="0"/>
              <a:t>Auxiliary-Loss-Free Load Balancing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彻底砍掉用来让专家们均衡的损失函数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在线学习 调节权重</a:t>
            </a:r>
            <a:endParaRPr lang="en-US" altLang="zh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5F33DCA-7DF3-0B91-38E5-B7CC4CC33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7524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015DAD3-DC69-92C5-9297-23CC5C3A8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282" y="875245"/>
            <a:ext cx="5745435" cy="519650"/>
          </a:xfrm>
          <a:prstGeom prst="rect">
            <a:avLst/>
          </a:prstGeom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D1DD5A75-1539-6E6A-4557-96ECECBB6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1005" y="1847250"/>
            <a:ext cx="7129988" cy="10879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DA1A72E-0E6D-9F37-5620-7093D4232A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95115"/>
            <a:ext cx="12192000" cy="1077629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CA8F853-3FBD-6240-7F01-CBF697E3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72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F234983A-B2F4-75F6-6400-CA251D90D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" y="1410084"/>
            <a:ext cx="12146814" cy="1159181"/>
          </a:xfrm>
          <a:prstGeom prst="rect">
            <a:avLst/>
          </a:prstGeom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57F7DA4A-3615-40FC-81D5-824F04A7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zh-CN" dirty="0"/>
              <a:t>V3</a:t>
            </a:r>
            <a:r>
              <a:rPr lang="zh-CN" altLang="en-US" dirty="0"/>
              <a:t>：砍掉了，但没完全砍掉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16">
                <a:extLst>
                  <a:ext uri="{FF2B5EF4-FFF2-40B4-BE49-F238E27FC236}">
                    <a16:creationId xmlns:a16="http://schemas.microsoft.com/office/drawing/2014/main" id="{CD9B094A-D0CF-F33D-E48D-C1787940A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69264"/>
                <a:ext cx="10515600" cy="4288735"/>
              </a:xfrm>
            </p:spPr>
            <p:txBody>
              <a:bodyPr/>
              <a:lstStyle/>
              <a:p>
                <a:r>
                  <a:rPr lang="zh-CN" altLang="en-US" dirty="0"/>
                  <a:t>由于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b="0" dirty="0"/>
                  <a:t>调整是在线且基于统计的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即使大部分情况下可以很好调节负载至均衡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其反应也一定具有滞后性</a:t>
                </a:r>
                <a:endParaRPr lang="en-US" altLang="zh-CN" b="0" dirty="0"/>
              </a:p>
              <a:p>
                <a:r>
                  <a:rPr lang="zh-CN" altLang="en-US" b="0" dirty="0"/>
                  <a:t>训练的时候砍掉</a:t>
                </a:r>
                <a:r>
                  <a:rPr lang="en-US" altLang="zh-CN" dirty="0"/>
                  <a:t>Auxiliary Loss</a:t>
                </a:r>
                <a:r>
                  <a:rPr lang="zh-CN" altLang="en-US" dirty="0"/>
                  <a:t>没问题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但是推理的时候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如果专家收到了严重偏离分布的序列，专家会不知所措</a:t>
                </a:r>
                <a:endParaRPr lang="en-US" altLang="zh-CN" dirty="0"/>
              </a:p>
              <a:p>
                <a:r>
                  <a:rPr lang="zh-CN" altLang="en-US" b="0" dirty="0"/>
                  <a:t>推理阶段需要更强大的平衡机制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所以引入</a:t>
                </a:r>
                <a:r>
                  <a:rPr lang="en-US" altLang="zh-CN" dirty="0"/>
                  <a:t>Complementary Sequence-Wise Auxiliary Loss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17" name="内容占位符 16">
                <a:extLst>
                  <a:ext uri="{FF2B5EF4-FFF2-40B4-BE49-F238E27FC236}">
                    <a16:creationId xmlns:a16="http://schemas.microsoft.com/office/drawing/2014/main" id="{CD9B094A-D0CF-F33D-E48D-C1787940A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69264"/>
                <a:ext cx="10515600" cy="4288735"/>
              </a:xfrm>
              <a:blipFill>
                <a:blip r:embed="rId3"/>
                <a:stretch>
                  <a:fillRect l="-1043" t="-24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5B581113-9461-2999-9F3C-C043FB72D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17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FEF49D-A2B6-D1D6-12C1-469BDA6DB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softmax after TopK</a:t>
            </a:r>
            <a:endParaRPr lang="zh-CN" altLang="en-US" dirty="0"/>
          </a:p>
        </p:txBody>
      </p:sp>
      <p:pic>
        <p:nvPicPr>
          <p:cNvPr id="7" name="图片 6" descr="文本">
            <a:extLst>
              <a:ext uri="{FF2B5EF4-FFF2-40B4-BE49-F238E27FC236}">
                <a16:creationId xmlns:a16="http://schemas.microsoft.com/office/drawing/2014/main" id="{E79161F2-FBDA-52DE-1B87-49D256F12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76" y="2687459"/>
            <a:ext cx="4892571" cy="2014230"/>
          </a:xfrm>
          <a:prstGeom prst="rect">
            <a:avLst/>
          </a:prstGeom>
        </p:spPr>
      </p:pic>
      <p:sp>
        <p:nvSpPr>
          <p:cNvPr id="8" name="箭头: 右 7">
            <a:extLst>
              <a:ext uri="{FF2B5EF4-FFF2-40B4-BE49-F238E27FC236}">
                <a16:creationId xmlns:a16="http://schemas.microsoft.com/office/drawing/2014/main" id="{D114C63A-8DF5-2BC0-A492-5C8AFB278546}"/>
              </a:ext>
            </a:extLst>
          </p:cNvPr>
          <p:cNvSpPr/>
          <p:nvPr/>
        </p:nvSpPr>
        <p:spPr>
          <a:xfrm>
            <a:off x="5419841" y="3294589"/>
            <a:ext cx="998497" cy="565119"/>
          </a:xfrm>
          <a:prstGeom prst="right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文本&#10;&#10;AI 生成的内容可能不正确。">
            <a:extLst>
              <a:ext uri="{FF2B5EF4-FFF2-40B4-BE49-F238E27FC236}">
                <a16:creationId xmlns:a16="http://schemas.microsoft.com/office/drawing/2014/main" id="{BE70EA4D-C31E-4A34-A270-81C81AFC3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632" y="2018880"/>
            <a:ext cx="5139552" cy="3116536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B2CE73B-9EA5-81C5-4F0F-DFDBD52CC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12B58D-2340-4FA7-9DF0-6D9778CAAE1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295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1567</TotalTime>
  <Words>887</Words>
  <Application>Microsoft Office PowerPoint</Application>
  <PresentationFormat>宽屏</PresentationFormat>
  <Paragraphs>153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1" baseType="lpstr">
      <vt:lpstr>等线</vt:lpstr>
      <vt:lpstr>等线 Light</vt:lpstr>
      <vt:lpstr>Arial</vt:lpstr>
      <vt:lpstr>Cambria Math</vt:lpstr>
      <vt:lpstr>Office 主题​​</vt:lpstr>
      <vt:lpstr>MoE Mixture-of-Experts</vt:lpstr>
      <vt:lpstr>主要内容</vt:lpstr>
      <vt:lpstr>感谢粉丝大佬们这段时间的充电</vt:lpstr>
      <vt:lpstr>标准transformer</vt:lpstr>
      <vt:lpstr>Dense Model</vt:lpstr>
      <vt:lpstr>PowerPoint 演示文稿</vt:lpstr>
      <vt:lpstr>MoE 混合专家</vt:lpstr>
      <vt:lpstr>router路由器</vt:lpstr>
      <vt:lpstr>Token Choose Expert </vt:lpstr>
      <vt:lpstr>Switch Transformers (Fedus 2022)</vt:lpstr>
      <vt:lpstr>PowerPoint 演示文稿</vt:lpstr>
      <vt:lpstr>KeepTopK</vt:lpstr>
      <vt:lpstr>h_t^l=∑_(i=1)^N▒(g_(i,t)⋅〖"FFN" 〗_i (u_t^l )) +u_t^l</vt:lpstr>
      <vt:lpstr>PowerPoint 演示文稿</vt:lpstr>
      <vt:lpstr>PowerPoint 演示文稿</vt:lpstr>
      <vt:lpstr>细粒度专家</vt:lpstr>
      <vt:lpstr>Shared Expert</vt:lpstr>
      <vt:lpstr>共享专家</vt:lpstr>
      <vt:lpstr>如何训练MoE</vt:lpstr>
      <vt:lpstr>Auxiliary Load Balancing Loss</vt:lpstr>
      <vt:lpstr>Expert Capacity</vt:lpstr>
      <vt:lpstr>强制要求每个专家尽量均衡</vt:lpstr>
      <vt:lpstr>PowerPoint 演示文稿</vt:lpstr>
      <vt:lpstr>PowerPoint 演示文稿</vt:lpstr>
      <vt:lpstr>V3：砍掉了，但没完全砍掉</vt:lpstr>
      <vt:lpstr>softmax after TopK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9</cp:revision>
  <dcterms:created xsi:type="dcterms:W3CDTF">2026-01-16T04:20:14Z</dcterms:created>
  <dcterms:modified xsi:type="dcterms:W3CDTF">2026-01-19T09:42:05Z</dcterms:modified>
</cp:coreProperties>
</file>