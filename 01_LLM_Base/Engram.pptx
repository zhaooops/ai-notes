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8A034-70F0-19FD-0391-E18A810A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EF196A-E8ED-BDA7-573A-0FD6E80BF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B0E53-521F-9DE7-CCF4-DB54CDF9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AA8C5-F23A-2D2F-253F-07B9B8F9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E2859-832E-3F57-A258-FA7D2504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9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53EB6-41E8-5C0D-BA43-1AAD4A79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BE6D75-3B50-5A30-50CB-A9765FC2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3850A-574E-F7FD-1140-C977CD25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B01E8-909D-C86E-0174-3C6DBEBD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532B0A-1FAE-7359-D847-32997BB1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869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AFCBC-1F4D-B0E3-0660-180E6434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052D03-D866-BCA9-91B2-638C9D782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9AD5DF-5B3A-D7AE-E77B-968F7CE6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5D65B-A399-0E9C-ED51-17A613AC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95D9D-053B-8390-ABA2-599E7E8C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169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65723-C20A-E63D-753C-5A5451EB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A3200-615C-9598-53A7-FDA5B8ADE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4227D4-5843-5FA1-1844-54F00C848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1F391E-1076-2528-6E4B-3705ACB9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E70E3C-0EAE-3E14-3482-2FED23EA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4C614A-6D8B-20A0-A60B-A5C724D7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959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FF16F-13CC-F890-2A81-3E9420CE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8DEF89-0CAA-B782-DA3E-BAE54CC1D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B91DD1-6534-E40A-BA9F-D179419BB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8CD247-BF0B-57EC-E397-4996E6E2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379FEB-07C5-29EB-2FC5-61AE1A7E4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E75327-F378-5C14-192F-C812AC53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62EDD1-6A5A-E039-B1E6-21DE9C3F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CE1149-39F6-1964-8B30-68810AB8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95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FB909-2928-182F-87C7-D3609D52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5D941A-0776-6579-B2B6-F1F16E8E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730BC5-2BFD-FE81-DA52-6D8B235F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07EF5A-C6B2-FAE7-2DDB-CC53CC30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062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DBC3F8-EE91-27B8-D3A2-5E5F3DA9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A87B90-4580-CBAC-8661-91663093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98CCF7-861E-7298-7AB2-E0AFB903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900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48E45-9BD1-DD49-617F-F7A77D71F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03A56A-5E30-F242-B21B-FD3E37535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C8AA8A-B735-EE68-77AE-9D008F137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2894A8-4038-FAD2-877E-85B6EF6D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51E133-D1B0-F4FB-FC01-252780A7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0B21D6-F350-77AD-7698-98BB80ED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11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616C1-C06F-C41C-0683-9874577A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AFE277-9AA2-905A-B058-1D145B8BD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E0F5F2-337C-6044-C239-52D74B628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FE46B8-1432-785C-B0F9-F211F873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8687DE-DE0E-DFBC-425F-577CB1BA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4A2DF1-3128-BF3F-EEAB-5A37F1B5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746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F6FAA-E974-E8F7-31CF-55374249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2AC578-CCD9-9CA7-C25F-0B15F0E77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7235EC-3746-A7ED-B742-D8EEC8B3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0499E-AAFB-70AC-CD21-7FF46C03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9EE7B-6A14-BA89-43E3-FDA33348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542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A575A8-4157-E9DD-51F9-8B4654109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1D2D0-468D-6B6D-2213-F163F94FC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3DD3DB-94A2-9724-BBD1-E56DC377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B3D4F-4ACF-6AF5-947D-E9787388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D2EF3-CF67-91AD-D7C3-848D542E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215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1333D5-1739-F8E4-33BC-659960BD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E31677-0455-06E9-E8B0-6BA41B0F7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3BC15-5B28-7F9B-5617-233F31C99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5F43-FBCB-4C42-8DA6-F001AC84A759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1AFD1-1F43-EF55-E535-F74D7880B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3B1AD-4F93-3C09-4F3B-66AA59EA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36AFC-8FBE-4149-A01C-0C064F989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60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CF58A-0FBE-3A3E-96AD-118AC4770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36"/>
            <a:ext cx="9144000" cy="2337847"/>
          </a:xfrm>
        </p:spPr>
        <p:txBody>
          <a:bodyPr>
            <a:normAutofit fontScale="90000"/>
          </a:bodyPr>
          <a:lstStyle/>
          <a:p>
            <a:r>
              <a:rPr lang="en-US" altLang="zh-CN" sz="12400" dirty="0"/>
              <a:t>Engram</a:t>
            </a:r>
            <a:br>
              <a:rPr lang="en-US" altLang="zh-CN" sz="9600" dirty="0"/>
            </a:br>
            <a:r>
              <a:rPr lang="zh-CN" altLang="en-US" sz="6700" dirty="0"/>
              <a:t>论文解读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ADB24B-6B62-72B0-C943-59560FFA1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64230"/>
            <a:ext cx="9144000" cy="978031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25038801-B803-5619-1712-9BF7B2FB0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986" y="1171087"/>
            <a:ext cx="2753714" cy="6616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9B72D4B-F564-D235-71A8-8C07B974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717" y="1234018"/>
            <a:ext cx="5015060" cy="5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78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E0208-BAE2-1525-FC2C-EBAF33F3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E8485A-C944-15D8-08B4-66CFCC34E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zh-CN" dirty="0"/>
              <a:t>LLM</a:t>
            </a:r>
            <a:r>
              <a:rPr lang="zh-CN" altLang="en-US" dirty="0"/>
              <a:t>用计算模拟检索</a:t>
            </a:r>
            <a:endParaRPr lang="en-US" altLang="zh-CN" dirty="0"/>
          </a:p>
          <a:p>
            <a:r>
              <a:rPr lang="zh-CN" altLang="en-US" dirty="0"/>
              <a:t>𝑁</a:t>
            </a:r>
            <a:r>
              <a:rPr lang="en-US" altLang="zh-CN" dirty="0"/>
              <a:t>-gram</a:t>
            </a:r>
          </a:p>
          <a:p>
            <a:r>
              <a:rPr lang="en-US" altLang="zh-CN" dirty="0"/>
              <a:t>Engram</a:t>
            </a:r>
            <a:r>
              <a:rPr lang="zh-CN" altLang="en-US" dirty="0"/>
              <a:t>的流程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分词器压缩</a:t>
            </a:r>
            <a:r>
              <a:rPr lang="en-US" altLang="zh-CN" dirty="0"/>
              <a:t> </a:t>
            </a:r>
            <a:r>
              <a:rPr lang="zh-CN" altLang="en-US" dirty="0"/>
              <a:t>多头哈希</a:t>
            </a:r>
            <a:r>
              <a:rPr lang="en-US" altLang="zh-CN" dirty="0"/>
              <a:t> </a:t>
            </a:r>
            <a:r>
              <a:rPr lang="zh-CN" altLang="en-US" dirty="0"/>
              <a:t>上下文感知门控</a:t>
            </a:r>
            <a:endParaRPr lang="en-US" altLang="zh-CN" dirty="0"/>
          </a:p>
          <a:p>
            <a:r>
              <a:rPr lang="en-US" altLang="zh-CN" dirty="0"/>
              <a:t>Engram</a:t>
            </a:r>
            <a:r>
              <a:rPr lang="zh-CN" altLang="en-US" dirty="0"/>
              <a:t>的优化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与</a:t>
            </a:r>
            <a:r>
              <a:rPr lang="en-US" altLang="zh-CN" dirty="0" err="1"/>
              <a:t>mHC</a:t>
            </a:r>
            <a:r>
              <a:rPr lang="zh-CN" altLang="en-US" dirty="0"/>
              <a:t>适配</a:t>
            </a:r>
            <a:r>
              <a:rPr lang="en-US" altLang="zh-CN" dirty="0"/>
              <a:t> MoE</a:t>
            </a:r>
            <a:r>
              <a:rPr lang="zh-CN" altLang="en-US" dirty="0"/>
              <a:t>解耦计算与记忆 多级缓存</a:t>
            </a:r>
            <a:endParaRPr lang="en-US" altLang="zh-CN" dirty="0"/>
          </a:p>
          <a:p>
            <a:r>
              <a:rPr lang="en-US" altLang="zh-CN" dirty="0"/>
              <a:t>Engram</a:t>
            </a:r>
            <a:r>
              <a:rPr lang="zh-CN" altLang="en-US" dirty="0"/>
              <a:t>的实验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槽位越多越好吗 参数如何分配 放置在哪一层最好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614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9FDE0-5C95-9975-5619-4AF5B029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MOE: </a:t>
            </a:r>
            <a:r>
              <a:rPr lang="zh-CN" altLang="en-US" dirty="0"/>
              <a:t>条件计算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309938-C2F6-5CFC-8482-1A674DB5C2AB}"/>
              </a:ext>
            </a:extLst>
          </p:cNvPr>
          <p:cNvPicPr>
            <a:picLocks/>
          </p:cNvPicPr>
          <p:nvPr/>
        </p:nvPicPr>
        <p:blipFill>
          <a:blip r:embed="rId2"/>
          <a:srcRect b="4657"/>
          <a:stretch>
            <a:fillRect/>
          </a:stretch>
        </p:blipFill>
        <p:spPr>
          <a:xfrm>
            <a:off x="1124672" y="1498267"/>
            <a:ext cx="9942653" cy="946760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6A6B3930-770D-531D-6CBB-A6A769046D59}"/>
              </a:ext>
            </a:extLst>
          </p:cNvPr>
          <p:cNvPicPr>
            <a:picLocks/>
          </p:cNvPicPr>
          <p:nvPr/>
        </p:nvPicPr>
        <p:blipFill>
          <a:blip r:embed="rId3"/>
          <a:srcRect b="2202"/>
          <a:stretch>
            <a:fillRect/>
          </a:stretch>
        </p:blipFill>
        <p:spPr>
          <a:xfrm>
            <a:off x="1643443" y="2445027"/>
            <a:ext cx="8905113" cy="44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64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A9E79-F4A6-DB5A-1A1D-2B676C34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LLM</a:t>
            </a:r>
            <a:r>
              <a:rPr lang="zh-CN" altLang="en-US" dirty="0"/>
              <a:t>如何理解</a:t>
            </a:r>
            <a:r>
              <a:rPr lang="en-US" altLang="zh-CN" dirty="0"/>
              <a:t>“Diana, Princess of Wales”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539D2-FC1D-E113-C889-98BFACC6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6723"/>
          </a:xfrm>
        </p:spPr>
        <p:txBody>
          <a:bodyPr/>
          <a:lstStyle/>
          <a:p>
            <a:r>
              <a:rPr lang="zh-CN" altLang="en-US" dirty="0"/>
              <a:t>一层一层看</a:t>
            </a:r>
            <a:r>
              <a:rPr lang="en-US" altLang="zh-CN" dirty="0"/>
              <a:t>LLM</a:t>
            </a:r>
            <a:r>
              <a:rPr lang="zh-CN" altLang="en-US" dirty="0"/>
              <a:t>对这个词组的理解过程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PatchScope</a:t>
            </a:r>
            <a:r>
              <a:rPr lang="zh-CN" altLang="en-US" dirty="0"/>
              <a:t>把</a:t>
            </a:r>
            <a:r>
              <a:rPr lang="en-US" altLang="zh-CN" dirty="0"/>
              <a:t>LLM</a:t>
            </a:r>
            <a:r>
              <a:rPr lang="zh-CN" altLang="en-US" dirty="0"/>
              <a:t>对词在每一层的理解翻译成自然语言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85ACAB3-3AB5-8AD8-C68E-66F42ABDC828}"/>
              </a:ext>
            </a:extLst>
          </p:cNvPr>
          <p:cNvPicPr>
            <a:picLocks/>
          </p:cNvPicPr>
          <p:nvPr/>
        </p:nvPicPr>
        <p:blipFill>
          <a:blip r:embed="rId2"/>
          <a:srcRect b="90244"/>
          <a:stretch>
            <a:fillRect/>
          </a:stretch>
        </p:blipFill>
        <p:spPr>
          <a:xfrm>
            <a:off x="3196397" y="3120888"/>
            <a:ext cx="5799206" cy="377687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10A1EC4-B1D5-D9D9-0094-AFA1EFCA4E61}"/>
              </a:ext>
            </a:extLst>
          </p:cNvPr>
          <p:cNvPicPr>
            <a:picLocks/>
          </p:cNvPicPr>
          <p:nvPr/>
        </p:nvPicPr>
        <p:blipFill>
          <a:blip r:embed="rId2"/>
          <a:srcRect t="9756" b="80488"/>
          <a:stretch>
            <a:fillRect/>
          </a:stretch>
        </p:blipFill>
        <p:spPr>
          <a:xfrm>
            <a:off x="3196397" y="3429000"/>
            <a:ext cx="5799206" cy="377687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700162B9-7A9C-C81B-128E-11E1D408B37F}"/>
              </a:ext>
            </a:extLst>
          </p:cNvPr>
          <p:cNvPicPr>
            <a:picLocks/>
          </p:cNvPicPr>
          <p:nvPr/>
        </p:nvPicPr>
        <p:blipFill>
          <a:blip r:embed="rId2"/>
          <a:srcRect t="24647" b="57895"/>
          <a:stretch>
            <a:fillRect/>
          </a:stretch>
        </p:blipFill>
        <p:spPr>
          <a:xfrm>
            <a:off x="3196397" y="3806687"/>
            <a:ext cx="5799206" cy="675861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42C72B80-C430-E7B6-3705-088001D89046}"/>
              </a:ext>
            </a:extLst>
          </p:cNvPr>
          <p:cNvPicPr>
            <a:picLocks/>
          </p:cNvPicPr>
          <p:nvPr/>
        </p:nvPicPr>
        <p:blipFill>
          <a:blip r:embed="rId2"/>
          <a:srcRect t="46726" b="35815"/>
          <a:stretch>
            <a:fillRect/>
          </a:stretch>
        </p:blipFill>
        <p:spPr>
          <a:xfrm>
            <a:off x="3196397" y="4482548"/>
            <a:ext cx="5799206" cy="675861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C25EE2DE-0EC1-5955-87EF-F3489B2AF7F5}"/>
              </a:ext>
            </a:extLst>
          </p:cNvPr>
          <p:cNvPicPr>
            <a:picLocks/>
          </p:cNvPicPr>
          <p:nvPr/>
        </p:nvPicPr>
        <p:blipFill>
          <a:blip r:embed="rId2"/>
          <a:srcRect t="68549"/>
          <a:stretch>
            <a:fillRect/>
          </a:stretch>
        </p:blipFill>
        <p:spPr>
          <a:xfrm>
            <a:off x="3196397" y="5158409"/>
            <a:ext cx="5799206" cy="121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78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19586-8496-8F96-44C9-467F40CA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9730" cy="1325563"/>
          </a:xfrm>
        </p:spPr>
        <p:txBody>
          <a:bodyPr/>
          <a:lstStyle/>
          <a:p>
            <a:r>
              <a:rPr lang="en-US" altLang="zh-CN" dirty="0"/>
              <a:t>LLM: simulate retrieval through computation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5E698-E709-4055-A453-27B3D6FCB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3472"/>
          </a:xfrm>
        </p:spPr>
        <p:txBody>
          <a:bodyPr/>
          <a:lstStyle/>
          <a:p>
            <a:r>
              <a:rPr lang="en-US" altLang="zh-CN" dirty="0"/>
              <a:t>LLM</a:t>
            </a:r>
            <a:r>
              <a:rPr lang="zh-CN" altLang="en-US" dirty="0"/>
              <a:t>通过多层的注意力和前馈网络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才成功解析了一个多</a:t>
            </a:r>
            <a:r>
              <a:rPr lang="en-US" altLang="zh-CN" dirty="0"/>
              <a:t>token</a:t>
            </a:r>
            <a:r>
              <a:rPr lang="zh-CN" altLang="en-US" dirty="0"/>
              <a:t>的词</a:t>
            </a:r>
            <a:endParaRPr lang="en-US" altLang="zh-CN" dirty="0"/>
          </a:p>
          <a:p>
            <a:r>
              <a:rPr lang="zh-CN" altLang="en-US" dirty="0"/>
              <a:t>本质上是用计算来模拟检索</a:t>
            </a:r>
            <a:endParaRPr lang="en-US" altLang="zh-CN" dirty="0"/>
          </a:p>
          <a:p>
            <a:r>
              <a:rPr lang="en-US" altLang="zh-CN" dirty="0"/>
              <a:t>Diana, Princess of Wales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是一个常见的静态知识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我们却用了六层网络来识别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宝贵的序列深度被浪费在了这种无意义的计算上</a:t>
            </a:r>
            <a:endParaRPr lang="en-US" altLang="zh-CN" dirty="0"/>
          </a:p>
          <a:p>
            <a:r>
              <a:rPr lang="zh-CN" altLang="en-US" dirty="0"/>
              <a:t>明明可以静态查表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大模型却进行了昂贵的运行时重建</a:t>
            </a:r>
          </a:p>
        </p:txBody>
      </p:sp>
    </p:spTree>
    <p:extLst>
      <p:ext uri="{BB962C8B-B14F-4D97-AF65-F5344CB8AC3E}">
        <p14:creationId xmlns:p14="http://schemas.microsoft.com/office/powerpoint/2010/main" val="3817055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BF84D1-10D5-1CAE-B5EB-38BDA6E2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73" y="2782957"/>
            <a:ext cx="11257722" cy="4075043"/>
          </a:xfrm>
        </p:spPr>
        <p:txBody>
          <a:bodyPr/>
          <a:lstStyle/>
          <a:p>
            <a:r>
              <a:rPr lang="zh-CN" altLang="en-US" dirty="0"/>
              <a:t>𝑁</a:t>
            </a:r>
            <a:r>
              <a:rPr lang="en-US" altLang="zh-CN" dirty="0"/>
              <a:t>-gram 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文本中由𝑁个连续单词（或</a:t>
            </a:r>
            <a:r>
              <a:rPr lang="en-US" altLang="zh-CN" dirty="0"/>
              <a:t>Token</a:t>
            </a:r>
            <a:r>
              <a:rPr lang="zh-CN" altLang="en-US" dirty="0"/>
              <a:t>）组成的序列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Unigram Bigram Trigram</a:t>
            </a:r>
          </a:p>
          <a:p>
            <a:r>
              <a:rPr lang="zh-CN" altLang="en-US" dirty="0"/>
              <a:t>早期：基于</a:t>
            </a:r>
            <a:r>
              <a:rPr lang="en-US" altLang="zh-CN" dirty="0"/>
              <a:t>n-gram</a:t>
            </a:r>
            <a:r>
              <a:rPr lang="zh-CN" altLang="en-US" dirty="0"/>
              <a:t>的语言模型</a:t>
            </a:r>
            <a:endParaRPr lang="en-US" altLang="zh-CN" dirty="0"/>
          </a:p>
          <a:p>
            <a:r>
              <a:rPr lang="zh-CN" altLang="en-US" dirty="0"/>
              <a:t>本文：𝑁</a:t>
            </a:r>
            <a:r>
              <a:rPr lang="en-US" altLang="zh-CN" dirty="0"/>
              <a:t>-gram embedding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把像</a:t>
            </a:r>
            <a:r>
              <a:rPr lang="en-US" altLang="zh-CN" dirty="0"/>
              <a:t>“Diana, Princess of Wales”</a:t>
            </a:r>
            <a:r>
              <a:rPr lang="zh-CN" altLang="en-US" dirty="0"/>
              <a:t>这样的𝑁</a:t>
            </a:r>
            <a:r>
              <a:rPr lang="en-US" altLang="zh-CN" dirty="0"/>
              <a:t>-gram </a:t>
            </a:r>
            <a:r>
              <a:rPr lang="zh-CN" altLang="en-US" dirty="0"/>
              <a:t>存储起来以供查找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 descr="文本, 表格&#10;&#10;AI 生成的内容可能不正确。">
            <a:extLst>
              <a:ext uri="{FF2B5EF4-FFF2-40B4-BE49-F238E27FC236}">
                <a16:creationId xmlns:a16="http://schemas.microsoft.com/office/drawing/2014/main" id="{837286EE-245C-C178-EB5D-23C8F850D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238540"/>
            <a:ext cx="11834191" cy="221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92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27F1F-E3A5-698A-4E27-CDFE8314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为什么重提𝑁</a:t>
            </a:r>
            <a:r>
              <a:rPr lang="en-US" altLang="zh-CN" dirty="0"/>
              <a:t>-gram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1C9749-ACF5-C6C8-D899-FD6DF3D72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3592"/>
          </a:xfrm>
        </p:spPr>
        <p:txBody>
          <a:bodyPr/>
          <a:lstStyle/>
          <a:p>
            <a:r>
              <a:rPr lang="en-US" altLang="zh-CN" dirty="0"/>
              <a:t>MoE</a:t>
            </a:r>
            <a:r>
              <a:rPr lang="zh-CN" altLang="en-US" dirty="0"/>
              <a:t>的成功在于稀疏性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条件计算</a:t>
            </a:r>
            <a:endParaRPr lang="en-US" altLang="zh-CN" dirty="0"/>
          </a:p>
          <a:p>
            <a:r>
              <a:rPr lang="zh-CN" altLang="en-US" dirty="0"/>
              <a:t>语言建模包含两个性质截然不同的子任务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组合推理和知识检索</a:t>
            </a:r>
            <a:endParaRPr lang="en-US" altLang="zh-CN" dirty="0"/>
          </a:p>
          <a:p>
            <a:r>
              <a:rPr lang="zh-CN" altLang="en-US" dirty="0"/>
              <a:t>推理任务需要计算</a:t>
            </a:r>
            <a:endParaRPr lang="en-US" altLang="zh-CN" dirty="0"/>
          </a:p>
          <a:p>
            <a:r>
              <a:rPr lang="zh-CN" altLang="en-US" dirty="0"/>
              <a:t>知识检索需要记忆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命名实体、固定搭配、公式化词组是静态的</a:t>
            </a:r>
            <a:endParaRPr lang="en-US" altLang="zh-CN" dirty="0"/>
          </a:p>
          <a:p>
            <a:r>
              <a:rPr lang="en-US" altLang="zh-CN" dirty="0"/>
              <a:t>Engram </a:t>
            </a:r>
            <a:r>
              <a:rPr lang="zh-CN" altLang="en-US" dirty="0"/>
              <a:t>条件记忆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𝑁</a:t>
            </a:r>
            <a:r>
              <a:rPr lang="en-US" altLang="zh-CN" dirty="0"/>
              <a:t>-gram</a:t>
            </a:r>
            <a:r>
              <a:rPr lang="zh-CN" altLang="en-US" dirty="0"/>
              <a:t>的升级版</a:t>
            </a: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652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8C732-A30C-E685-5859-A474C060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Engram</a:t>
            </a:r>
            <a:r>
              <a:rPr lang="zh-CN" altLang="en-US" dirty="0"/>
              <a:t>究竟是怎么做的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21367FAD-6895-3385-3953-858A5237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09" y="1554113"/>
            <a:ext cx="9859618" cy="530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73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5D918-53EA-589C-F3A5-800AA93F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传统的无损重建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231CA-6F68-85FF-21A5-99E3D9F7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2923"/>
          </a:xfrm>
        </p:spPr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词嵌入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把词语嵌入为高维向量</a:t>
            </a:r>
            <a:endParaRPr lang="en-US" altLang="zh-CN" dirty="0"/>
          </a:p>
          <a:p>
            <a:r>
              <a:rPr lang="en-US" altLang="zh-CN" dirty="0"/>
              <a:t>lossless reconstruction </a:t>
            </a:r>
            <a:r>
              <a:rPr lang="zh-CN" altLang="en-US" dirty="0"/>
              <a:t>无损重建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Apple</a:t>
            </a:r>
          </a:p>
          <a:p>
            <a:pPr marL="0" indent="0">
              <a:buNone/>
            </a:pPr>
            <a:r>
              <a:rPr lang="en-US" altLang="zh-CN" dirty="0"/>
              <a:t>	apple</a:t>
            </a:r>
          </a:p>
          <a:p>
            <a:pPr marL="0" indent="0">
              <a:buNone/>
            </a:pPr>
            <a:r>
              <a:rPr lang="en-US" altLang="zh-CN" dirty="0"/>
              <a:t>	␣apple</a:t>
            </a:r>
          </a:p>
          <a:p>
            <a:r>
              <a:rPr lang="zh-CN" altLang="en-US" dirty="0"/>
              <a:t>这样的分词算法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对大小写、空格、特殊字符非常敏感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造成了词表浪费</a:t>
            </a:r>
          </a:p>
        </p:txBody>
      </p:sp>
    </p:spTree>
    <p:extLst>
      <p:ext uri="{BB962C8B-B14F-4D97-AF65-F5344CB8AC3E}">
        <p14:creationId xmlns:p14="http://schemas.microsoft.com/office/powerpoint/2010/main" val="3161515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F72BC-8012-487D-EB5A-03079B0A3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186"/>
            <a:ext cx="10515600" cy="1325563"/>
          </a:xfrm>
        </p:spPr>
        <p:txBody>
          <a:bodyPr/>
          <a:lstStyle/>
          <a:p>
            <a:r>
              <a:rPr lang="en-US" altLang="zh-CN" dirty="0"/>
              <a:t>Tokenizer Compression </a:t>
            </a:r>
            <a:r>
              <a:rPr lang="zh-CN" altLang="en-US" dirty="0"/>
              <a:t>分词器压缩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C3D36D-942E-E3E1-8A92-12DDB1F79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23045"/>
              </a:xfrm>
            </p:spPr>
            <p:txBody>
              <a:bodyPr/>
              <a:lstStyle/>
              <a:p>
                <a:r>
                  <a:rPr lang="en-US" altLang="zh-CN" dirty="0"/>
                  <a:t>Engram</a:t>
                </a:r>
                <a:r>
                  <a:rPr lang="zh-CN" altLang="en-US" dirty="0"/>
                  <a:t>引入了一个词表投影层</a:t>
                </a:r>
                <a:endParaRPr lang="en-US" altLang="zh-CN" dirty="0"/>
              </a:p>
              <a:p>
                <a:r>
                  <a:rPr lang="zh-CN" altLang="en-US" dirty="0"/>
                  <a:t>用一个满射函数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把所有</a:t>
                </a:r>
                <a:r>
                  <a:rPr lang="en-US" altLang="zh-CN" dirty="0"/>
                  <a:t>tokenID</a:t>
                </a:r>
                <a:r>
                  <a:rPr lang="zh-CN" altLang="en-US" dirty="0"/>
                  <a:t>折叠为规范标识符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有效的词表大小减少了</a:t>
                </a:r>
                <a:r>
                  <a:rPr lang="en-US" altLang="zh-CN" dirty="0"/>
                  <a:t>23%</a:t>
                </a:r>
              </a:p>
              <a:p>
                <a:r>
                  <a:rPr lang="zh-CN" altLang="en-US" dirty="0"/>
                  <a:t>构建𝑁</a:t>
                </a:r>
                <a:r>
                  <a:rPr lang="en-US" altLang="zh-CN" dirty="0"/>
                  <a:t>-gram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对于当前位置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Engram </a:t>
                </a:r>
                <a:r>
                  <a:rPr lang="zh-CN" altLang="en-US" dirty="0"/>
                  <a:t>会取过去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个位置的</a:t>
                </a:r>
                <a:r>
                  <a:rPr lang="zh-CN" altLang="en-US" b="1" dirty="0"/>
                  <a:t>压缩后</a:t>
                </a:r>
                <a:r>
                  <a:rPr lang="en-US" altLang="zh-CN" dirty="0"/>
                  <a:t>Token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就是我们后续用来检索的</a:t>
                </a:r>
                <a:r>
                  <a:rPr lang="en-US" altLang="zh-CN" dirty="0"/>
                  <a:t>key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C3D36D-942E-E3E1-8A92-12DDB1F79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23045"/>
              </a:xfrm>
              <a:blipFill>
                <a:blip r:embed="rId2"/>
                <a:stretch>
                  <a:fillRect l="-1043" t="-2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455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04608-E47C-7478-0ED0-F6EF7E51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Hashing </a:t>
            </a:r>
            <a:r>
              <a:rPr lang="zh-CN" altLang="en-US" dirty="0"/>
              <a:t>多头哈希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8A300F-279D-D464-58D0-136FE8693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3410"/>
          </a:xfrm>
        </p:spPr>
        <p:txBody>
          <a:bodyPr/>
          <a:lstStyle/>
          <a:p>
            <a:r>
              <a:rPr lang="zh-CN" altLang="en-US" dirty="0"/>
              <a:t>出现问题：直接参数化所有可能的 </a:t>
            </a:r>
            <a:r>
              <a:rPr lang="en-US" altLang="zh-CN" dirty="0"/>
              <a:t>N-gram </a:t>
            </a:r>
            <a:r>
              <a:rPr lang="zh-CN" altLang="en-US" dirty="0"/>
              <a:t>组合空间是不可行的</a:t>
            </a:r>
            <a:endParaRPr lang="en-US" altLang="zh-CN" dirty="0"/>
          </a:p>
          <a:p>
            <a:r>
              <a:rPr lang="zh-CN" altLang="en-US" dirty="0"/>
              <a:t>解决方法：哈希映射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我们买不起一亿个槽位，就买一百万个槽位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无论有多少词组，都塞进这仅有的一百万个槽位里</a:t>
            </a:r>
            <a:endParaRPr lang="en-US" altLang="zh-CN" dirty="0"/>
          </a:p>
          <a:p>
            <a:r>
              <a:rPr lang="zh-CN" altLang="en-US" dirty="0"/>
              <a:t>出现问题：哈希冲突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由于记忆槽位有限，不同语义的词组会被分入同一个槽位</a:t>
            </a:r>
            <a:endParaRPr lang="en-US" altLang="zh-CN" dirty="0"/>
          </a:p>
          <a:p>
            <a:r>
              <a:rPr lang="zh-CN" altLang="en-US" dirty="0"/>
              <a:t>解决方法：多头哈希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为每个 </a:t>
            </a:r>
            <a:r>
              <a:rPr lang="en-US" altLang="zh-CN" dirty="0"/>
              <a:t>N-gram </a:t>
            </a:r>
            <a:r>
              <a:rPr lang="zh-CN" altLang="en-US" dirty="0"/>
              <a:t>阶数</a:t>
            </a:r>
            <a:r>
              <a:rPr lang="en-US" altLang="zh-CN" dirty="0"/>
              <a:t>n</a:t>
            </a:r>
            <a:r>
              <a:rPr lang="zh-CN" altLang="en-US" dirty="0"/>
              <a:t>使用</a:t>
            </a:r>
            <a:r>
              <a:rPr lang="en-US" altLang="zh-CN" dirty="0"/>
              <a:t>K</a:t>
            </a:r>
            <a:r>
              <a:rPr lang="zh-CN" altLang="en-US" dirty="0"/>
              <a:t>个不同的哈希头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单点可能出错，但多点难以同时出错</a:t>
            </a:r>
          </a:p>
        </p:txBody>
      </p:sp>
    </p:spTree>
    <p:extLst>
      <p:ext uri="{BB962C8B-B14F-4D97-AF65-F5344CB8AC3E}">
        <p14:creationId xmlns:p14="http://schemas.microsoft.com/office/powerpoint/2010/main" val="3551786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23DB2-86DA-9580-B1B8-3B8385CE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Hashing </a:t>
            </a:r>
            <a:r>
              <a:rPr lang="zh-CN" altLang="en-US" dirty="0"/>
              <a:t>多头哈希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B898CF-9950-AA81-88BF-0887ABD4C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5930"/>
                <a:ext cx="10515600" cy="265692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用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个不同的哈希函数并行算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, 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:r>
                  <a:rPr lang="en-US" altLang="zh-CN" dirty="0"/>
                  <a:t>Multiplicative-XOR Hash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每个嵌入表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的大小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被设定为素数 </a:t>
                </a:r>
                <a14:m/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全拼接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B898CF-9950-AA81-88BF-0887ABD4C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5930"/>
                <a:ext cx="10515600" cy="2656922"/>
              </a:xfrm>
              <a:blipFill>
                <a:blip r:embed="rId2"/>
                <a:stretch>
                  <a:fillRect l="-1043" t="-4128" b="-4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FF653B93-68F9-8CE1-53FB-4591648F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112" y="4389877"/>
            <a:ext cx="2436614" cy="7021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95410C-F469-B13E-4AB9-6F4A27CF6247}"/>
                  </a:ext>
                </a:extLst>
              </p:cNvPr>
              <p:cNvSpPr txBox="1"/>
              <p:nvPr/>
            </p:nvSpPr>
            <p:spPr>
              <a:xfrm>
                <a:off x="1832112" y="5171567"/>
                <a:ext cx="99159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就得到了</a:t>
                </a:r>
                <a:r>
                  <a:rPr lang="en-US" altLang="zh-CN" sz="2800" dirty="0"/>
                  <a:t>t</a:t>
                </a:r>
                <a:r>
                  <a:rPr lang="zh-CN" altLang="en-US" sz="2800" dirty="0"/>
                  <a:t>时刻的信息丰富的记忆向量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2800" b="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095410C-F469-B13E-4AB9-6F4A27CF6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112" y="5171567"/>
                <a:ext cx="9915939" cy="523220"/>
              </a:xfrm>
              <a:prstGeom prst="rect">
                <a:avLst/>
              </a:prstGeom>
              <a:blipFill>
                <a:blip r:embed="rId4"/>
                <a:stretch>
                  <a:fillRect l="-1292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12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41A04-0053-AEB3-700F-99255B4E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Hashing </a:t>
            </a:r>
            <a:r>
              <a:rPr lang="zh-CN" altLang="en-US" dirty="0"/>
              <a:t>多头哈希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76BBDF-4FEE-E27A-F43A-2D29110B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240"/>
            <a:ext cx="8966730" cy="5008760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F8C051BD-C778-610D-5C46-A059A7D6A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191" y="3038000"/>
            <a:ext cx="3396809" cy="781999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A9BCF7C-BB4B-CE66-6E43-17E2356C3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730" y="3999826"/>
            <a:ext cx="3156929" cy="707588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416621D3-FB82-BA1E-C082-500D76615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785" y="4538008"/>
            <a:ext cx="2968487" cy="119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98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C3127-DB74-AE12-39F1-BC4C6CC6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Context-aware Gating </a:t>
            </a:r>
            <a:r>
              <a:rPr lang="zh-CN" altLang="en-US" dirty="0"/>
              <a:t>上下文感知门控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004850-9886-AA4E-3602-4EC59E9AD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</p:spPr>
            <p:txBody>
              <a:bodyPr/>
              <a:lstStyle/>
              <a:p>
                <a:r>
                  <a:rPr lang="zh-CN" altLang="en-US" dirty="0"/>
                  <a:t>现在我们得到了拼接好的记忆向量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是从静态知识库里查表得到的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由于哈希冲突或者多义词的存在，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0" dirty="0"/>
                  <a:t>可能含有错误的含义</a:t>
                </a:r>
                <a:endParaRPr lang="en-US" altLang="zh-CN" b="0" dirty="0"/>
              </a:p>
              <a:p>
                <a:r>
                  <a:rPr lang="en-US" altLang="zh-CN" dirty="0"/>
                  <a:t>e.g. Apple released a new phone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 “水果苹果” “科技公司苹果” “？？？”</a:t>
                </a:r>
                <a:endParaRPr lang="en-US" altLang="zh-CN" dirty="0"/>
              </a:p>
              <a:p>
                <a:r>
                  <a:rPr lang="zh-CN" altLang="en-US" dirty="0"/>
                  <a:t>解决办法：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用主干网络的当前状态动态筛选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0" dirty="0"/>
                  <a:t>里的信息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只允许合适的信息流入主干网络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004850-9886-AA4E-3602-4EC59E9AD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  <a:blipFill>
                <a:blip r:embed="rId2"/>
                <a:stretch>
                  <a:fillRect l="-1043" t="-2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007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5EBE75A-82C1-8DDF-E081-55BF35FA40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46050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不含上下文的记忆向量</a:t>
                </a:r>
                <a:br>
                  <a:rPr lang="en-US" altLang="zh-CN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聚合了上下文的当前隐藏状态</a:t>
                </a:r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5EBE75A-82C1-8DDF-E081-55BF35FA4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460500"/>
              </a:xfrm>
              <a:blipFill>
                <a:blip r:embed="rId2"/>
                <a:stretch>
                  <a:fillRect t="-7531" b="-14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526FF7-4922-02AE-875F-1C6C7CB96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作为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Query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，用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得到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Key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和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Value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, 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计算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Query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和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Key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的相似度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altLang="zh-CN" i="0" dirty="0" err="1">
                                <a:latin typeface="Cambria Math" panose="02040503050406030204" pitchFamily="18" charset="0"/>
                              </a:rPr>
                              <m:t>RMSNorm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zh-CN" i="0" dirty="0" err="1">
                                <a:latin typeface="Cambria Math" panose="02040503050406030204" pitchFamily="18" charset="0"/>
                              </a:rPr>
                              <m:t>RMSNorm</m:t>
                            </m:r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说明</a:t>
                </a:r>
                <a:r>
                  <a:rPr lang="zh-CN" altLang="en-US" dirty="0"/>
                  <a:t>记忆向量和当前上下文语境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吻合</a:t>
                </a:r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 说明</a:t>
                </a:r>
                <a:r>
                  <a:rPr lang="zh-CN" altLang="en-US" dirty="0"/>
                  <a:t>记忆向量和当前上下文语境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冲突</a:t>
                </a:r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用分数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对记忆的</a:t>
                </a:r>
                <a:r>
                  <a:rPr lang="en-US" altLang="zh-CN" dirty="0"/>
                  <a:t>Value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进行过滤得到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𝑆𝑖𝐿𝑈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𝐶𝑜𝑛𝑣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 err="1">
                                <a:latin typeface="Cambria Math" panose="02040503050406030204" pitchFamily="18" charset="0"/>
                              </a:rPr>
                              <m:t>𝑅𝑀𝑆𝑁𝑜𝑟𝑚</m:t>
                            </m:r>
                            <m:d>
                              <m:d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526FF7-4922-02AE-875F-1C6C7CB96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043" t="-2300" b="-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503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2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charRg st="212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1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charRg st="281" end="3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7582D-D3BC-A5BD-2FB2-9427AF9B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Engram</a:t>
            </a:r>
            <a:r>
              <a:rPr lang="zh-CN" altLang="en-US" dirty="0"/>
              <a:t>与</a:t>
            </a:r>
            <a:r>
              <a:rPr lang="en-US" altLang="zh-CN" dirty="0" err="1"/>
              <a:t>mHC</a:t>
            </a:r>
            <a:r>
              <a:rPr lang="zh-CN" altLang="en-US" dirty="0"/>
              <a:t>的适配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55412D-31CC-2F1C-9DBC-3BC8B569A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en-US" altLang="zh-CN" dirty="0"/>
                  <a:t>Manifold-Constrained Hyper-Connections, </a:t>
                </a:r>
                <a:r>
                  <a:rPr lang="en-US" altLang="zh-CN" dirty="0" err="1"/>
                  <a:t>mHC</a:t>
                </a:r>
                <a:endParaRPr lang="en-US" altLang="zh-CN" dirty="0"/>
              </a:p>
              <a:p>
                <a:r>
                  <a:rPr lang="zh-CN" altLang="en-US" dirty="0"/>
                  <a:t>如果每个残差流之间 </a:t>
                </a:r>
                <a:r>
                  <a:rPr lang="en-US" altLang="zh-CN" dirty="0"/>
                  <a:t>Engram</a:t>
                </a:r>
                <a:r>
                  <a:rPr lang="zh-CN" altLang="en-US" dirty="0"/>
                  <a:t>完全各自独立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参数量和计算量过大</a:t>
                </a:r>
                <a:endParaRPr lang="en-US" altLang="zh-CN" dirty="0"/>
              </a:p>
              <a:p>
                <a:r>
                  <a:rPr lang="zh-CN" altLang="en-US" dirty="0"/>
                  <a:t>共享部分：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稀疏嵌入表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Value </a:t>
                </a:r>
                <a:r>
                  <a:rPr lang="zh-CN" altLang="en-US" dirty="0"/>
                  <a:t>投影矩阵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独立部分：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Key </a:t>
                </a:r>
                <a:r>
                  <a:rPr lang="zh-CN" altLang="en-US" dirty="0"/>
                  <a:t>投影矩阵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55412D-31CC-2F1C-9DBC-3BC8B569A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082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C992C-E5BA-B86D-026E-465A91CEE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时间管理大师：</a:t>
            </a:r>
            <a:r>
              <a:rPr lang="en-US" altLang="zh-CN" dirty="0"/>
              <a:t>Engram</a:t>
            </a:r>
            <a:r>
              <a:rPr lang="zh-CN" altLang="en-US" dirty="0"/>
              <a:t>解耦计算与记忆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7C55FB-527B-3177-AF1E-4AF3D4C14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</p:spPr>
        <p:txBody>
          <a:bodyPr/>
          <a:lstStyle/>
          <a:p>
            <a:r>
              <a:rPr lang="en-US" altLang="zh-CN" dirty="0"/>
              <a:t>MoE</a:t>
            </a:r>
            <a:r>
              <a:rPr lang="zh-CN" altLang="en-US" dirty="0"/>
              <a:t>的路由依赖于上一层的计算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不能预先加载专家，因为不知道会用到谁</a:t>
            </a:r>
            <a:endParaRPr lang="en-US" altLang="zh-CN" dirty="0"/>
          </a:p>
          <a:p>
            <a:r>
              <a:rPr lang="en-US" altLang="zh-CN" dirty="0"/>
              <a:t>Engram</a:t>
            </a:r>
            <a:r>
              <a:rPr lang="zh-CN" altLang="en-US" dirty="0"/>
              <a:t>的查表索引仅仅取决于输入</a:t>
            </a:r>
            <a:r>
              <a:rPr lang="en-US" altLang="zh-CN" dirty="0"/>
              <a:t>Token</a:t>
            </a:r>
            <a:r>
              <a:rPr lang="zh-CN" altLang="en-US" dirty="0"/>
              <a:t>序列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这种确定性与</a:t>
            </a:r>
            <a:r>
              <a:rPr lang="en-US" altLang="zh-CN" dirty="0"/>
              <a:t>MoE</a:t>
            </a:r>
            <a:r>
              <a:rPr lang="zh-CN" altLang="en-US" dirty="0"/>
              <a:t>不同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索引在计算开始前就是已知的</a:t>
            </a:r>
            <a:endParaRPr lang="en-US" altLang="zh-CN" dirty="0"/>
          </a:p>
          <a:p>
            <a:r>
              <a:rPr lang="zh-CN" altLang="en-US" dirty="0"/>
              <a:t>异步预取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GPU</a:t>
            </a:r>
            <a:r>
              <a:rPr lang="zh-CN" altLang="en-US" dirty="0"/>
              <a:t>计算前面层的时候，</a:t>
            </a:r>
            <a:r>
              <a:rPr lang="en-US" altLang="zh-CN" dirty="0"/>
              <a:t>CPU</a:t>
            </a:r>
            <a:r>
              <a:rPr lang="zh-CN" altLang="en-US" dirty="0"/>
              <a:t>就可以传输</a:t>
            </a:r>
            <a:r>
              <a:rPr lang="en-US" altLang="zh-CN" dirty="0"/>
              <a:t>Engram</a:t>
            </a:r>
            <a:r>
              <a:rPr lang="zh-CN" altLang="en-US" dirty="0"/>
              <a:t>所需数据</a:t>
            </a:r>
            <a:endParaRPr lang="en-US" altLang="zh-CN" dirty="0"/>
          </a:p>
          <a:p>
            <a:r>
              <a:rPr lang="zh-CN" altLang="en-US" dirty="0"/>
              <a:t>掩盖延迟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前面层的计算作为缓冲区，防止</a:t>
            </a:r>
            <a:r>
              <a:rPr lang="en-US" altLang="zh-CN" dirty="0"/>
              <a:t>GPU</a:t>
            </a:r>
            <a:r>
              <a:rPr lang="zh-CN" altLang="en-US" dirty="0"/>
              <a:t>停顿</a:t>
            </a:r>
          </a:p>
        </p:txBody>
      </p:sp>
    </p:spTree>
    <p:extLst>
      <p:ext uri="{BB962C8B-B14F-4D97-AF65-F5344CB8AC3E}">
        <p14:creationId xmlns:p14="http://schemas.microsoft.com/office/powerpoint/2010/main" val="137411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1B0A4-FE32-D06F-A45D-43FAC175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放置位置的</a:t>
            </a:r>
            <a:r>
              <a:rPr lang="en-US" altLang="zh-CN" dirty="0"/>
              <a:t>Trade-off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7FA1A-B7BA-0894-A64B-BE6511585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686"/>
          </a:xfrm>
        </p:spPr>
        <p:txBody>
          <a:bodyPr/>
          <a:lstStyle/>
          <a:p>
            <a:r>
              <a:rPr lang="zh-CN" altLang="en-US" dirty="0"/>
              <a:t>系统角度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希望把 </a:t>
            </a:r>
            <a:r>
              <a:rPr lang="en-US" altLang="zh-CN" dirty="0"/>
              <a:t>Engram </a:t>
            </a:r>
            <a:r>
              <a:rPr lang="zh-CN" altLang="en-US" dirty="0"/>
              <a:t>放得</a:t>
            </a:r>
            <a:r>
              <a:rPr lang="zh-CN" altLang="en-US" b="1" dirty="0"/>
              <a:t>深一点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zh-CN" altLang="en-US" dirty="0"/>
              <a:t>前面的层越多，</a:t>
            </a:r>
            <a:r>
              <a:rPr lang="en-US" altLang="zh-CN" dirty="0"/>
              <a:t>GPU </a:t>
            </a:r>
            <a:r>
              <a:rPr lang="zh-CN" altLang="en-US" dirty="0"/>
              <a:t>计算的时间就越长，留给 </a:t>
            </a:r>
            <a:r>
              <a:rPr lang="en-US" altLang="zh-CN" dirty="0"/>
              <a:t>CPU </a:t>
            </a:r>
            <a:r>
              <a:rPr lang="zh-CN" altLang="en-US" dirty="0"/>
              <a:t>搬运数据的时间窗口就越充裕</a:t>
            </a:r>
            <a:endParaRPr lang="en-US" altLang="zh-CN" dirty="0"/>
          </a:p>
          <a:p>
            <a:r>
              <a:rPr lang="zh-CN" altLang="en-US" dirty="0"/>
              <a:t>模型角度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希望把 </a:t>
            </a:r>
            <a:r>
              <a:rPr lang="en-US" altLang="zh-CN" dirty="0"/>
              <a:t>Engram </a:t>
            </a:r>
            <a:r>
              <a:rPr lang="zh-CN" altLang="en-US" dirty="0"/>
              <a:t>放得</a:t>
            </a:r>
            <a:r>
              <a:rPr lang="zh-CN" altLang="en-US" b="1" dirty="0"/>
              <a:t>浅一点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zh-CN" altLang="en-US" dirty="0"/>
              <a:t>越早注入知识，越能替模型省下死记硬背的力气，效果越好</a:t>
            </a:r>
            <a:endParaRPr lang="en-US" altLang="zh-CN" dirty="0"/>
          </a:p>
          <a:p>
            <a:r>
              <a:rPr lang="zh-CN" altLang="en-US" dirty="0"/>
              <a:t>模型性能和系统延迟的权衡下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确定最合适的放置位置</a:t>
            </a:r>
          </a:p>
        </p:txBody>
      </p:sp>
    </p:spTree>
    <p:extLst>
      <p:ext uri="{BB962C8B-B14F-4D97-AF65-F5344CB8AC3E}">
        <p14:creationId xmlns:p14="http://schemas.microsoft.com/office/powerpoint/2010/main" val="797507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7DD41-EEB7-05EA-B95E-E42B727E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多级缓存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81BCB1-D5C6-957D-0312-1F4351916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zh-CN" altLang="en-US" dirty="0"/>
              <a:t>自然语言</a:t>
            </a:r>
            <a:r>
              <a:rPr lang="en-US" altLang="zh-CN" dirty="0"/>
              <a:t>N-grams</a:t>
            </a:r>
            <a:r>
              <a:rPr lang="zh-CN" altLang="en-US" dirty="0"/>
              <a:t>本质上遵循</a:t>
            </a:r>
            <a:r>
              <a:rPr lang="en-US" altLang="zh-CN" dirty="0"/>
              <a:t>Zipfian</a:t>
            </a:r>
            <a:r>
              <a:rPr lang="zh-CN" altLang="en-US" dirty="0"/>
              <a:t>分布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 </a:t>
            </a:r>
            <a:r>
              <a:rPr lang="en-US" altLang="zh-CN" dirty="0"/>
              <a:t>20%</a:t>
            </a:r>
            <a:r>
              <a:rPr lang="zh-CN" altLang="en-US" dirty="0"/>
              <a:t>的词汇出现了</a:t>
            </a:r>
            <a:r>
              <a:rPr lang="en-US" altLang="zh-CN" dirty="0"/>
              <a:t>80%</a:t>
            </a:r>
            <a:r>
              <a:rPr lang="zh-CN" altLang="en-US" dirty="0"/>
              <a:t>的次数</a:t>
            </a:r>
            <a:endParaRPr lang="en-US" altLang="zh-CN" dirty="0"/>
          </a:p>
          <a:p>
            <a:r>
              <a:rPr lang="zh-CN" altLang="en-US" dirty="0"/>
              <a:t>更快的存储层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sv-SE" altLang="zh-CN" dirty="0"/>
              <a:t> GPU HBM </a:t>
            </a:r>
            <a:r>
              <a:rPr lang="zh-CN" altLang="sv-SE" dirty="0"/>
              <a:t>或 </a:t>
            </a:r>
            <a:r>
              <a:rPr lang="sv-SE" altLang="zh-CN" dirty="0"/>
              <a:t>Host DRAM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放置使用最频繁的词</a:t>
            </a:r>
            <a:endParaRPr lang="en-US" altLang="zh-CN" dirty="0"/>
          </a:p>
          <a:p>
            <a:r>
              <a:rPr lang="zh-CN" altLang="en-US" dirty="0"/>
              <a:t>较慢的高容量介质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</a:t>
            </a:r>
            <a:r>
              <a:rPr lang="en-US" altLang="zh-CN" dirty="0" err="1"/>
              <a:t>NVMe</a:t>
            </a:r>
            <a:r>
              <a:rPr lang="en-US" altLang="zh-CN" dirty="0"/>
              <a:t> SSD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放长尾的罕见词</a:t>
            </a:r>
            <a:r>
              <a:rPr lang="en-US" altLang="zh-CN" dirty="0"/>
              <a:t>	</a:t>
            </a:r>
          </a:p>
          <a:p>
            <a:r>
              <a:rPr lang="en-US" altLang="zh-CN" dirty="0"/>
              <a:t>Engram</a:t>
            </a:r>
            <a:r>
              <a:rPr lang="zh-CN" altLang="en-US" dirty="0"/>
              <a:t>扩展到巨大的内存容量，而对有效延迟的影响最小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111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27CC8-73F3-9FFE-F31D-6A702860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模型参数该如何在</a:t>
            </a:r>
            <a:r>
              <a:rPr lang="en-US" altLang="zh-CN" dirty="0"/>
              <a:t>MoE</a:t>
            </a:r>
            <a:r>
              <a:rPr lang="zh-CN" altLang="en-US" dirty="0"/>
              <a:t>和</a:t>
            </a:r>
            <a:r>
              <a:rPr lang="en-US" altLang="zh-CN" dirty="0"/>
              <a:t>Engram</a:t>
            </a:r>
            <a:r>
              <a:rPr lang="zh-CN" altLang="en-US" dirty="0"/>
              <a:t>之间分配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810DBE-F0C7-1183-A2D9-1C37C5660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：所有的可训练参数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：激活的参数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𝑠𝑝𝑎𝑟𝑠𝑒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未激活的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参数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免费午餐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增加模型容量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但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并不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增加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计算成本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𝑠𝑝𝑎𝑟𝑠𝑒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该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如何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分配给</m:t>
                    </m:r>
                    <m:r>
                      <m:rPr>
                        <m:nor/>
                      </m:rPr>
                      <a:rPr lang="en-US" altLang="zh-CN" dirty="0"/>
                      <m:t>MoE</m:t>
                    </m:r>
                    <m:r>
                      <m:rPr>
                        <m:nor/>
                      </m:rPr>
                      <a:rPr lang="zh-CN" altLang="en-US" dirty="0"/>
                      <m:t>和</m:t>
                    </m:r>
                    <m:r>
                      <m:rPr>
                        <m:nor/>
                      </m:rPr>
                      <a:rPr lang="en-US" altLang="zh-CN" dirty="0"/>
                      <m:t>Engram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𝑠𝑝𝑎𝑟𝑠𝑒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MoE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𝑠𝑝𝑎𝑟𝑠𝑒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810DBE-F0C7-1183-A2D9-1C37C5660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t="-2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636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744B-000F-EA51-E907-BDD1879D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最优分配比率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2B083F8A-A056-BF53-1CB0-E87E236FFA3D}"/>
              </a:ext>
            </a:extLst>
          </p:cNvPr>
          <p:cNvPicPr>
            <a:picLocks/>
          </p:cNvPicPr>
          <p:nvPr/>
        </p:nvPicPr>
        <p:blipFill>
          <a:blip r:embed="rId2"/>
          <a:srcRect r="47887"/>
          <a:stretch>
            <a:fillRect/>
          </a:stretch>
        </p:blipFill>
        <p:spPr>
          <a:xfrm>
            <a:off x="2303817" y="1406833"/>
            <a:ext cx="7584365" cy="53250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735C81C-EF6E-3FA7-4528-24389DE15C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42034" y="784464"/>
                <a:ext cx="4268119" cy="48688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约为</m:t>
                    </m:r>
                  </m:oMath>
                </a14:m>
                <a:r>
                  <a:rPr lang="en-US" altLang="zh-CN" dirty="0"/>
                  <a:t>75%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80%</a:t>
                </a:r>
                <a:r>
                  <a:rPr lang="zh-CN" altLang="en-US" dirty="0"/>
                  <a:t>时为最优</a:t>
                </a:r>
              </a:p>
            </p:txBody>
          </p:sp>
        </mc:Choice>
        <mc:Fallback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735C81C-EF6E-3FA7-4528-24389DE15C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42034" y="784464"/>
                <a:ext cx="4268119" cy="486884"/>
              </a:xfrm>
              <a:blipFill>
                <a:blip r:embed="rId3"/>
                <a:stretch>
                  <a:fillRect t="-22500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200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61066-00ED-BA14-87CD-862EA882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无限内存机制下的 </a:t>
            </a:r>
            <a:r>
              <a:rPr lang="en-US" altLang="zh-CN" dirty="0"/>
              <a:t>Engram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DE6F0-DB8E-981D-6EF1-D674FE5C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603375"/>
          </a:xfrm>
        </p:spPr>
        <p:txBody>
          <a:bodyPr/>
          <a:lstStyle/>
          <a:p>
            <a:r>
              <a:rPr lang="zh-CN" altLang="en-US" dirty="0"/>
              <a:t>计算量不变，模型结构不变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增加</a:t>
            </a:r>
            <a:r>
              <a:rPr lang="en-US" altLang="zh-CN" dirty="0"/>
              <a:t>Engram</a:t>
            </a:r>
            <a:r>
              <a:rPr lang="zh-CN" altLang="en-US" dirty="0"/>
              <a:t>的记忆槽位，效果会怎么变？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实验范围：从 </a:t>
            </a:r>
            <a:r>
              <a:rPr lang="en-US" altLang="zh-CN" dirty="0"/>
              <a:t>25.8 </a:t>
            </a:r>
            <a:r>
              <a:rPr lang="zh-CN" altLang="en-US" dirty="0"/>
              <a:t>万个槽位一直加到 </a:t>
            </a:r>
            <a:r>
              <a:rPr lang="en-US" altLang="zh-CN" dirty="0"/>
              <a:t>1000 </a:t>
            </a:r>
            <a:r>
              <a:rPr lang="zh-CN" altLang="en-US" dirty="0"/>
              <a:t>万个槽位</a:t>
            </a:r>
            <a:endParaRPr lang="en-US" altLang="zh-CN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D710EE9-70E5-5F93-FC35-EBAB532AF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865" y="3263707"/>
            <a:ext cx="4488269" cy="344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8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8EB0AE87-4770-2B19-B4A3-AAA099697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455"/>
            <a:ext cx="12192000" cy="406658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079CA46-62A0-D0EB-7782-B74BF1A90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42159"/>
            <a:ext cx="10515600" cy="2620651"/>
          </a:xfrm>
        </p:spPr>
        <p:txBody>
          <a:bodyPr>
            <a:normAutofit/>
          </a:bodyPr>
          <a:lstStyle/>
          <a:p>
            <a:r>
              <a:rPr lang="en-US" altLang="zh-CN" dirty="0"/>
              <a:t>Engram</a:t>
            </a:r>
            <a:r>
              <a:rPr lang="zh-CN" altLang="en-US" dirty="0"/>
              <a:t>模型的</a:t>
            </a:r>
            <a:r>
              <a:rPr lang="en-US" altLang="zh-CN" dirty="0"/>
              <a:t>KL</a:t>
            </a:r>
            <a:r>
              <a:rPr lang="zh-CN" altLang="en-US" dirty="0"/>
              <a:t>散度下降得比</a:t>
            </a:r>
            <a:r>
              <a:rPr lang="en-US" altLang="zh-CN" dirty="0"/>
              <a:t>MoE</a:t>
            </a:r>
            <a:r>
              <a:rPr lang="zh-CN" altLang="en-US" dirty="0"/>
              <a:t>快得多，特别是在前几层</a:t>
            </a:r>
            <a:endParaRPr lang="en-US" altLang="zh-CN" dirty="0"/>
          </a:p>
          <a:p>
            <a:r>
              <a:rPr lang="en-US" altLang="zh-CN" dirty="0"/>
              <a:t>Centered Kernel Alignment</a:t>
            </a:r>
            <a:r>
              <a:rPr lang="zh-CN" altLang="en-US" dirty="0"/>
              <a:t>衡量两个神经网络层的表示有多像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原本</a:t>
            </a:r>
            <a:r>
              <a:rPr lang="en-US" altLang="zh-CN" dirty="0"/>
              <a:t>MoE</a:t>
            </a:r>
            <a:r>
              <a:rPr lang="zh-CN" altLang="en-US" dirty="0"/>
              <a:t>模型需要很多层计算得到的知识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Engram</a:t>
            </a:r>
            <a:r>
              <a:rPr lang="zh-CN" altLang="en-US" dirty="0"/>
              <a:t>模型在浅层就已得到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5879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8FAC122F-4662-1C44-8D90-D3F7AF666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849" y="1258584"/>
            <a:ext cx="8990301" cy="55994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7979345-2F40-7FA6-8EFB-2F1A5206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Engram</a:t>
            </a:r>
            <a:r>
              <a:rPr lang="zh-CN" altLang="en-US" dirty="0"/>
              <a:t>放在哪一层</a:t>
            </a:r>
          </a:p>
        </p:txBody>
      </p:sp>
    </p:spTree>
    <p:extLst>
      <p:ext uri="{BB962C8B-B14F-4D97-AF65-F5344CB8AC3E}">
        <p14:creationId xmlns:p14="http://schemas.microsoft.com/office/powerpoint/2010/main" val="967848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0FB1F8B3-CB21-84AD-1C53-CD916E728387}"/>
              </a:ext>
            </a:extLst>
          </p:cNvPr>
          <p:cNvPicPr>
            <a:picLocks/>
          </p:cNvPicPr>
          <p:nvPr/>
        </p:nvPicPr>
        <p:blipFill>
          <a:blip r:embed="rId2"/>
          <a:srcRect l="10206" t="878"/>
          <a:stretch>
            <a:fillRect/>
          </a:stretch>
        </p:blipFill>
        <p:spPr>
          <a:xfrm>
            <a:off x="622390" y="178612"/>
            <a:ext cx="10947219" cy="65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5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isContent="1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1250</Words>
  <Application>Microsoft Office PowerPoint</Application>
  <PresentationFormat>宽屏</PresentationFormat>
  <Paragraphs>156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等线</vt:lpstr>
      <vt:lpstr>等线 Light</vt:lpstr>
      <vt:lpstr>Arial</vt:lpstr>
      <vt:lpstr>Cambria Math</vt:lpstr>
      <vt:lpstr>Office 主题​​</vt:lpstr>
      <vt:lpstr>Engram 论文解读</vt:lpstr>
      <vt:lpstr>主要内容</vt:lpstr>
      <vt:lpstr>MOE: 条件计算</vt:lpstr>
      <vt:lpstr>LLM如何理解“Diana, Princess of Wales”</vt:lpstr>
      <vt:lpstr>LLM: simulate retrieval through computation</vt:lpstr>
      <vt:lpstr>PowerPoint 演示文稿</vt:lpstr>
      <vt:lpstr>为什么重提𝑁-gram </vt:lpstr>
      <vt:lpstr>Engram究竟是怎么做的</vt:lpstr>
      <vt:lpstr>传统的无损重建</vt:lpstr>
      <vt:lpstr>Tokenizer Compression 分词器压缩</vt:lpstr>
      <vt:lpstr>Multi-Head Hashing 多头哈希</vt:lpstr>
      <vt:lpstr>Multi-Head Hashing 多头哈希</vt:lpstr>
      <vt:lpstr>Multi-Head Hashing 多头哈希</vt:lpstr>
      <vt:lpstr>Context-aware Gating 上下文感知门控</vt:lpstr>
      <vt:lpstr>e_t:不含上下文的记忆向量 h_t:聚合了上下文的当前隐藏状态</vt:lpstr>
      <vt:lpstr>Engram与mHC的适配</vt:lpstr>
      <vt:lpstr>时间管理大师：Engram解耦计算与记忆</vt:lpstr>
      <vt:lpstr>放置位置的Trade-off</vt:lpstr>
      <vt:lpstr>多级缓存</vt:lpstr>
      <vt:lpstr>模型参数该如何在MoE和Engram之间分配</vt:lpstr>
      <vt:lpstr>最优分配比率</vt:lpstr>
      <vt:lpstr>无限内存机制下的 Engram</vt:lpstr>
      <vt:lpstr>PowerPoint 演示文稿</vt:lpstr>
      <vt:lpstr>Engram放在哪一层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5</cp:revision>
  <dcterms:created xsi:type="dcterms:W3CDTF">2026-01-22T12:42:48Z</dcterms:created>
  <dcterms:modified xsi:type="dcterms:W3CDTF">2026-01-23T15:41:24Z</dcterms:modified>
</cp:coreProperties>
</file>