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2CA873-6745-BB8E-1A97-97527B509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85B2E34-8DDD-F2EA-2CBD-98BD1C049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10AB3D-3F16-0B40-F3BD-6E51FBE6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EEC473-64C0-B1EB-8236-3BBD1604E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450FE7-46FD-9E00-EF31-4877CB29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26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022CF-5DE5-650F-81ED-562FBD16E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67F1E8-08AF-D20D-45BC-130E36210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41027-B1F4-D338-F8FC-B0B4561F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DF0E1-E12E-E91A-2F5F-BD606C18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12C00-585A-D15C-894B-26DC6F24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32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4CE2B-69D1-E05B-AE56-CBF54793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DC4B76-87D4-ECD1-B129-F29F96030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85E6EB-86F2-913F-5963-4FC0CBF5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8FA5D-A189-6FB0-47AE-B46CD57B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ADB51-7810-4D8E-DA19-38132D90E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39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7B7F4-8027-4DD0-8E93-9CBC3586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691897-0DAE-4B11-B1A5-B6B342B06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7BBFAC-92F5-60F0-3B2E-937B3D0BA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18ABB9-ABA8-B771-2CD4-405DAEEA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71484C-8A47-AB4C-8154-8578D1614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792CC5-8E32-8376-68D7-0F1AFFB49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62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FF50A-E947-C6B1-8D4F-87CF5E0E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BD1B7C-09B9-A760-A20F-0A3E8F1C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B31065-2CB3-03CF-BDB9-8D44BC5BA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D00E88-A8E7-11CB-83FA-E62BA6A6EA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79F5DE3-BFA0-3E9B-8BBD-25807C911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869516F-0EEC-73FD-43E2-D5239940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C735D7-7859-694D-10BF-E267A88E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2EBAAC-222F-A4AA-C396-AFD88445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65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A580D-55C5-6454-E9C3-25753F824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A5C7DF-74D0-9B08-01B8-5E6258027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5AC0F6-EFB1-F7CC-34BE-DFC6986DC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3F9F0E-97E6-7370-F062-B5C006FE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8818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AE6F73-3D31-3C1E-E6C8-9B86BA30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BA8F7F-ED0C-D956-E372-792AD19D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1A0B1-64C3-5BE9-0098-05A15C2D6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206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522AE9-1EB7-04BB-A732-40D2BE96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177063-A669-451A-7DF1-62963672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ABF9BF-8BC3-10BF-4FAF-CA235E971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DFA03B-2168-03D9-13FB-AF537E4E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210829-95D0-B977-97C5-516D19B72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F08571-66F0-55E6-E63A-454E73177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97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BB9E7-7689-E83B-EAA4-87E1F10DC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919D3B-352B-3D9E-66ED-4CB2EF2DB4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C9D0DA-89A2-3F9F-A205-9B5297288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3D1FC4-C926-959D-86C7-C98A76C26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03B918-AF2C-8FA0-53A1-CDB56E7F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0BB9D8-9D4E-B08D-85E2-7AFD3B67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38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D63D2-B1C2-88CC-20DF-D08E7CD3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D40AB6-4E5E-B55F-6B26-4D7FB9910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C0A1A4-3343-A43B-F1FE-8DABD853D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6BBBFB-8FF9-54F3-A930-3B9C8BC5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7B1BD8-3297-25C6-32C8-E6530086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57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0DF50A-6E1E-5C7A-61F8-A128557605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2E3934-8844-31E0-B0D0-263CD0856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9D679-7A1A-6F0A-81B5-098D792A9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4D55A0-6196-A63D-A43D-B87C2B7D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C99E6-A999-184A-186C-982F23903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736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8EBF012-AD7B-8329-24A9-78217ADD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46FEA3-CF49-5E60-2880-31F4B111C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F4935-3F93-9BD8-D0CC-8A59DEB9A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BCE08-523A-4CD4-8882-B50E428EF1C3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005357-2F91-D643-C3B1-5F7350A6B3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80DFF2-DDFD-7667-BAF7-A6AA33E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58AF1-C52B-4B87-8203-F5E9DDA8B5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592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5B2C6-39A0-FC61-38A6-8864A8891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316" y="2332808"/>
            <a:ext cx="9923283" cy="1047733"/>
          </a:xfrm>
        </p:spPr>
        <p:txBody>
          <a:bodyPr>
            <a:noAutofit/>
          </a:bodyPr>
          <a:lstStyle/>
          <a:p>
            <a:r>
              <a:rPr lang="en-US" altLang="zh-CN" sz="9600" b="1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MLA</a:t>
            </a:r>
            <a:br>
              <a:rPr lang="en-US" altLang="zh-CN" sz="8000" b="1" dirty="0"/>
            </a:br>
            <a:r>
              <a:rPr lang="en-US" altLang="zh-CN" sz="8000" dirty="0" err="1"/>
              <a:t>KVCache</a:t>
            </a:r>
            <a:r>
              <a:rPr lang="zh-CN" altLang="en-US" sz="8000" dirty="0"/>
              <a:t>进阶优化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E801C2A-010D-6083-709B-8C3E0A031E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426941-BF0A-85BC-0286-CDCF6A6A3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599" y="4240777"/>
            <a:ext cx="2726801" cy="20340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2D6F43-AA01-1F59-BB54-AB94C48748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442" y="909154"/>
            <a:ext cx="1202157" cy="120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4CE5E8-BADA-989D-437F-F36C28AC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Multi-head Latent Attention</a:t>
            </a:r>
            <a:r>
              <a:rPr lang="zh-CN" altLang="en-US" dirty="0"/>
              <a:t>有多好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2C4C59D-9A0C-B2B8-6776-8D75034B7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787" b="11431"/>
          <a:stretch>
            <a:fillRect/>
          </a:stretch>
        </p:blipFill>
        <p:spPr>
          <a:xfrm>
            <a:off x="838200" y="1388703"/>
            <a:ext cx="10515600" cy="19393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78BEFF-FE91-E1AB-5663-6B60165FC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81971"/>
            <a:ext cx="10515600" cy="19393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F4AEBE-A782-5F92-08E1-5DC8F0755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410379"/>
            <a:ext cx="10515600" cy="12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2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29D20-AD7E-0F36-D7BB-B375AF5F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1F9169-3CA7-4D29-8AD9-BABB4BDE2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GQA</a:t>
            </a:r>
            <a:r>
              <a:rPr lang="zh-CN" altLang="en-US" dirty="0"/>
              <a:t>到</a:t>
            </a:r>
            <a:r>
              <a:rPr lang="en-US" altLang="zh-CN" dirty="0"/>
              <a:t>MLA</a:t>
            </a:r>
            <a:r>
              <a:rPr lang="zh-CN" altLang="en-US" dirty="0"/>
              <a:t>的低秩投影</a:t>
            </a:r>
            <a:endParaRPr lang="en-US" altLang="zh-CN" dirty="0"/>
          </a:p>
          <a:p>
            <a:r>
              <a:rPr lang="en-US" altLang="zh-CN" dirty="0"/>
              <a:t>MLA</a:t>
            </a:r>
            <a:r>
              <a:rPr lang="zh-CN" altLang="en-US" dirty="0"/>
              <a:t>做的改进：结合</a:t>
            </a:r>
            <a:r>
              <a:rPr lang="en-US" altLang="zh-CN" dirty="0"/>
              <a:t>dot-attention</a:t>
            </a:r>
            <a:r>
              <a:rPr lang="zh-CN" altLang="en-US" dirty="0"/>
              <a:t>的恒等变换</a:t>
            </a:r>
            <a:endParaRPr lang="en-US" altLang="zh-CN" dirty="0"/>
          </a:p>
          <a:p>
            <a:r>
              <a:rPr lang="en-US" altLang="zh-CN" dirty="0"/>
              <a:t>MLA</a:t>
            </a:r>
            <a:r>
              <a:rPr lang="zh-CN" altLang="en-US" dirty="0"/>
              <a:t>遇到的困扰及解决：如何兼容位置编码</a:t>
            </a:r>
            <a:r>
              <a:rPr lang="en-US" altLang="zh-CN" dirty="0" err="1"/>
              <a:t>RoPE</a:t>
            </a:r>
            <a:endParaRPr lang="en-US" altLang="zh-CN" dirty="0"/>
          </a:p>
          <a:p>
            <a:r>
              <a:rPr lang="en-US" altLang="zh-CN" dirty="0"/>
              <a:t>MLA</a:t>
            </a:r>
            <a:r>
              <a:rPr lang="zh-CN" altLang="en-US" dirty="0"/>
              <a:t>的小细节：对</a:t>
            </a:r>
            <a:r>
              <a:rPr lang="en-US" altLang="zh-CN" dirty="0"/>
              <a:t>Q</a:t>
            </a:r>
            <a:r>
              <a:rPr lang="zh-CN" altLang="en-US" dirty="0"/>
              <a:t>的低秩投影与显存优化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44CE45-C9F4-5B27-BB42-95565C7DD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377" y="3594847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3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445904-A8BD-1C7B-F08F-732D31408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GQA</a:t>
            </a:r>
            <a:r>
              <a:rPr lang="zh-CN" altLang="en-US" dirty="0"/>
              <a:t>可以看作低秩投影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8235F1-5D5B-FBBA-4F06-4C0671D02F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14078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设输入向量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，分组</m:t>
                    </m:r>
                  </m:oMath>
                </a14:m>
                <a:r>
                  <a:rPr lang="zh-CN" altLang="en-US" b="0" dirty="0"/>
                  <a:t>为</a:t>
                </a:r>
                <a:r>
                  <a:rPr lang="en-US" altLang="zh-CN" b="0" dirty="0"/>
                  <a:t>g</a:t>
                </a:r>
                <a:r>
                  <a:rPr lang="zh-CN" altLang="en-US" b="0" dirty="0"/>
                  <a:t>，每个组里有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b="0" dirty="0"/>
                  <a:t>头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,  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,  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如果把所有组的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堆叠起来，有：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它实际上等于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b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隐藏层维度</a:t>
                </a:r>
                <a:r>
                  <a:rPr lang="en-US" altLang="zh-CN" b="0" dirty="0"/>
                  <a:t>d</a:t>
                </a:r>
                <a:r>
                  <a:rPr lang="zh-CN" altLang="en-US" b="0" dirty="0"/>
                  <a:t>很大，如</a:t>
                </a:r>
                <a:r>
                  <a:rPr lang="en-US" altLang="zh-CN" b="0" dirty="0"/>
                  <a:t>5120</a:t>
                </a:r>
                <a:r>
                  <a:rPr lang="zh-CN" altLang="en-US" b="0" dirty="0"/>
                  <a:t>，而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的维度</m:t>
                    </m:r>
                  </m:oMath>
                </a14:m>
                <a:r>
                  <a:rPr lang="en-US" altLang="zh-CN" b="0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48235F1-5D5B-FBBA-4F06-4C0671D02F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140783"/>
              </a:xfrm>
              <a:blipFill>
                <a:blip r:embed="rId2"/>
                <a:stretch>
                  <a:fillRect l="-1043" t="-2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19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A6F8CD-2D8C-6919-77E9-4EA5814A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MLA</a:t>
            </a:r>
            <a:r>
              <a:rPr lang="zh-CN" altLang="en-US" dirty="0"/>
              <a:t>的优化初尝试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040F0C-404B-A87E-D3A4-99E5D6C851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096134" cy="527275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投影后的</a:t>
                </a:r>
                <a:r>
                  <a:rPr lang="en-US" altLang="zh-CN" dirty="0"/>
                  <a:t>GQA</a:t>
                </a:r>
              </a:p>
              <a:p>
                <a:r>
                  <a:rPr lang="en-US" altLang="zh-CN" dirty="0"/>
                  <a:t>MLA</a:t>
                </a:r>
                <a:r>
                  <a:rPr lang="zh-CN" altLang="en-US" dirty="0"/>
                  <a:t>把简单的线性变换换成一般的线性变换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GQA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KV</a:t>
                </a:r>
                <a:r>
                  <a:rPr lang="zh-CN" altLang="en-US" dirty="0"/>
                  <a:t>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直接投影再复制、分割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MLA</a:t>
                </a:r>
                <a:r>
                  <a:rPr lang="zh-CN" altLang="en-US" dirty="0"/>
                  <a:t>的</a:t>
                </a:r>
                <a:r>
                  <a:rPr lang="en-US" altLang="zh-CN" dirty="0"/>
                  <a:t>KV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都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基于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生成</a:t>
                </a:r>
                <a:endParaRPr lang="en-US" altLang="zh-CN" dirty="0"/>
              </a:p>
              <a:p>
                <a:r>
                  <a:rPr lang="zh-CN" altLang="en-US" dirty="0"/>
                  <a:t>好处：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增加模型的能力</a:t>
                </a:r>
                <a:endParaRPr lang="en-US" altLang="zh-CN" dirty="0"/>
              </a:p>
              <a:p>
                <a:r>
                  <a:rPr lang="zh-CN" altLang="en-US" dirty="0"/>
                  <a:t>背离主题：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每个头的</a:t>
                </a:r>
                <a:r>
                  <a:rPr lang="en-US" altLang="zh-CN" dirty="0"/>
                  <a:t>KV</a:t>
                </a:r>
                <a:r>
                  <a:rPr lang="zh-CN" altLang="en-US" dirty="0"/>
                  <a:t>又不一样了，违背了</a:t>
                </a:r>
                <a:r>
                  <a:rPr lang="en-US" altLang="zh-CN" dirty="0"/>
                  <a:t>GQA</a:t>
                </a:r>
                <a:r>
                  <a:rPr lang="zh-CN" altLang="en-US" dirty="0"/>
                  <a:t>的初衷，增大了</a:t>
                </a:r>
                <a:r>
                  <a:rPr lang="en-US" altLang="zh-CN" dirty="0"/>
                  <a:t>KV Cache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3040F0C-404B-A87E-D3A4-99E5D6C851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096134" cy="5272759"/>
              </a:xfrm>
              <a:blipFill>
                <a:blip r:embed="rId2"/>
                <a:stretch>
                  <a:fillRect l="-989" t="-2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39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0E7B0-A89B-46F3-F394-254B43BC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dot-attention</a:t>
            </a:r>
            <a:r>
              <a:rPr lang="zh-CN" altLang="en-US" dirty="0"/>
              <a:t>的恒等变换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DFC9C9-2651-07DB-F5EF-5B57DBA7F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50842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训练阶段照常</a:t>
                </a:r>
                <a:endParaRPr lang="en-US" altLang="zh-CN" dirty="0"/>
              </a:p>
              <a:p>
                <a:r>
                  <a:rPr lang="zh-CN" altLang="en-US" dirty="0"/>
                  <a:t>推理阶段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MLA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把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zh-CN" altLang="en-US" b="0" dirty="0"/>
                  <a:t>合并，作为新的</a:t>
                </a:r>
                <a:r>
                  <a:rPr lang="en-US" altLang="zh-CN" b="0" dirty="0"/>
                  <a:t>Query</a:t>
                </a:r>
                <a:r>
                  <a:rPr lang="zh-CN" altLang="en-US" b="0" dirty="0"/>
                  <a:t>投影阵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	ki</a:t>
                </a:r>
                <a:r>
                  <a:rPr lang="zh-CN" altLang="en-US" dirty="0"/>
                  <a:t>可被</a:t>
                </a:r>
                <a:r>
                  <a:rPr lang="en-US" altLang="zh-CN" dirty="0"/>
                  <a:t>ci</a:t>
                </a:r>
                <a:r>
                  <a:rPr lang="zh-CN" altLang="en-US" dirty="0"/>
                  <a:t>替代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V</a:t>
                </a:r>
                <a:r>
                  <a:rPr lang="zh-CN" altLang="en-US" dirty="0"/>
                  <a:t>的投影阵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b="0" dirty="0"/>
                  <a:t>同理可以吸收到输出层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	vi</a:t>
                </a:r>
                <a:r>
                  <a:rPr lang="zh-CN" altLang="en-US" dirty="0"/>
                  <a:t>也可被</a:t>
                </a:r>
                <a:r>
                  <a:rPr lang="en-US" altLang="zh-CN" dirty="0"/>
                  <a:t>ci</a:t>
                </a:r>
                <a:r>
                  <a:rPr lang="zh-CN" altLang="en-US" dirty="0"/>
                  <a:t>替代</a:t>
                </a:r>
                <a:endParaRPr lang="en-US" altLang="zh-CN" dirty="0"/>
              </a:p>
              <a:p>
                <a:r>
                  <a:rPr lang="en-US" altLang="zh-CN" dirty="0"/>
                  <a:t>KV Cache </a:t>
                </a:r>
                <a:r>
                  <a:rPr lang="zh-CN" altLang="en-US" dirty="0"/>
                  <a:t>仅需储存共享的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1DFC9C9-2651-07DB-F5EF-5B57DBA7F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508429"/>
              </a:xfrm>
              <a:blipFill>
                <a:blip r:embed="rId2"/>
                <a:stretch>
                  <a:fillRect l="-1043" t="-1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070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2AE81-7CFF-2400-9D25-DEB8EB529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MLA</a:t>
            </a:r>
            <a:r>
              <a:rPr lang="zh-CN" altLang="en-US" dirty="0"/>
              <a:t>遇到了困扰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15112D-6F97-14A8-AD72-7E2ED1287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如果加入</a:t>
                </a:r>
                <a:r>
                  <a:rPr lang="en-US" altLang="zh-CN" dirty="0" err="1"/>
                  <a:t>RoPE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而我们需要一个固定不变的融合投影矩阵</a:t>
                </a:r>
                <a:endParaRPr lang="en-US" altLang="zh-CN" dirty="0"/>
              </a:p>
              <a:p>
                <a:r>
                  <a:rPr lang="zh-CN" altLang="en-US" dirty="0"/>
                  <a:t>解决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新增维度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Q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新增一些维度用于</a:t>
                </a:r>
                <a:r>
                  <a:rPr lang="en-US" altLang="zh-CN" dirty="0" err="1"/>
                  <a:t>RoPE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</a:t>
                </a:r>
                <a:r>
                  <a:rPr lang="en-US" altLang="zh-CN" dirty="0" err="1"/>
                  <a:t>RoPE</a:t>
                </a:r>
                <a:r>
                  <a:rPr lang="zh-CN" altLang="en-US" dirty="0"/>
                  <a:t>的维度就可以沿用刚才的恒等变换和投影矩阵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A15112D-6F97-14A8-AD72-7E2ED1287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2247"/>
              </a:xfrm>
              <a:blipFill>
                <a:blip r:embed="rId2"/>
                <a:stretch>
                  <a:fillRect l="-1043" t="-2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996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BE90F8-89DA-8D15-8E69-692B713A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16C8930-FC28-102E-D117-689781947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5033" y="647928"/>
            <a:ext cx="11181933" cy="495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72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6306B-DA2E-3716-8E8C-5558CC3AF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一个小细节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1A0797-9477-1A8A-8EF9-014B1018B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模型训练时的显存占用主要来自两部分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模型参数（静态）和激活值（动态）</a:t>
            </a:r>
            <a:endParaRPr lang="en-US" altLang="zh-CN" dirty="0"/>
          </a:p>
          <a:p>
            <a:r>
              <a:rPr lang="zh-CN" altLang="en-US" dirty="0"/>
              <a:t>激活值的占用是长序列训练的一个重要显存瓶颈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为了减小激活值显存，对</a:t>
            </a:r>
            <a:r>
              <a:rPr lang="en-US" altLang="zh-CN" dirty="0"/>
              <a:t>Q</a:t>
            </a:r>
            <a:r>
              <a:rPr lang="zh-CN" altLang="en-US" dirty="0"/>
              <a:t>做低秩投影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“哪怕这并不能减小</a:t>
            </a:r>
            <a:r>
              <a:rPr lang="en-US" altLang="zh-CN" dirty="0"/>
              <a:t>KV Cache</a:t>
            </a:r>
            <a:r>
              <a:rPr lang="zh-CN" altLang="en-US" dirty="0"/>
              <a:t>”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552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6221E-53FE-9B8F-AA32-BDBE4F4F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举个例子看看效果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D3600-7A4C-87B4-C0B2-3D9111777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3912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结合 </a:t>
                </a:r>
                <a:r>
                  <a:rPr lang="en-US" altLang="zh-CN" dirty="0"/>
                  <a:t>DeepSeek-V2 </a:t>
                </a:r>
                <a:r>
                  <a:rPr lang="zh-CN" altLang="en-US" dirty="0"/>
                  <a:t>的具体参数（隐藏维度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=5120</m:t>
                    </m:r>
                  </m:oMath>
                </a14:m>
                <a:r>
                  <a:rPr lang="zh-CN" altLang="en-US" dirty="0"/>
                  <a:t>、注意力头数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zh-CN" altLang="en-US" dirty="0"/>
                  <a:t>、单头维度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zh-CN" altLang="en-US" dirty="0"/>
                  <a:t>、</a:t>
                </a:r>
                <a:r>
                  <a:rPr lang="en-US" altLang="zh-CN" dirty="0"/>
                  <a:t>Q </a:t>
                </a:r>
                <a:r>
                  <a:rPr lang="zh-CN" altLang="en-US" dirty="0"/>
                  <a:t>压缩维度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=1536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r>
                  <a:rPr lang="zh-CN" altLang="en-US" dirty="0"/>
                  <a:t>通过下投影矩阵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𝐷𝑄</m:t>
                        </m:r>
                      </m:sup>
                    </m:sSup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将高维的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压缩为低秩的 </a:t>
                </a:r>
                <a:r>
                  <a:rPr lang="en-US" altLang="zh-CN" dirty="0"/>
                  <a:t>latent </a:t>
                </a:r>
                <a:r>
                  <a:rPr lang="zh-CN" altLang="en-US" dirty="0"/>
                  <a:t>向量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单个 </a:t>
                </a:r>
                <a:r>
                  <a:rPr lang="en-US" altLang="zh-CN" dirty="0"/>
                  <a:t>Token </a:t>
                </a:r>
                <a:r>
                  <a:rPr lang="zh-CN" altLang="en-US" dirty="0"/>
                  <a:t>的低秩 </a:t>
                </a:r>
                <a:r>
                  <a:rPr lang="en-US" altLang="zh-CN" dirty="0"/>
                  <a:t>latent </a:t>
                </a:r>
                <a:r>
                  <a:rPr lang="zh-CN" altLang="en-US" dirty="0"/>
                  <a:t>向量维度为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=1536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这样就把输入维度</a:t>
                </a:r>
                <a:r>
                  <a:rPr lang="en-US" altLang="zh-CN" dirty="0"/>
                  <a:t>5120</a:t>
                </a:r>
                <a:r>
                  <a:rPr lang="zh-CN" altLang="en-US" dirty="0"/>
                  <a:t>压缩到了</a:t>
                </a:r>
                <a:r>
                  <a:rPr lang="en-US" altLang="zh-CN" dirty="0"/>
                  <a:t>1536</a:t>
                </a:r>
              </a:p>
              <a:p>
                <a:r>
                  <a:rPr lang="en-US" altLang="zh-CN" dirty="0"/>
                  <a:t>MLA </a:t>
                </a:r>
                <a:r>
                  <a:rPr lang="zh-CN" altLang="en-US" dirty="0"/>
                  <a:t>通过上投影矩阵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𝑈𝑄</m:t>
                        </m:r>
                      </m:sup>
                    </m:sSup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将低秩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zh-CN" altLang="en-US" dirty="0"/>
                  <a:t>恢复为高维的 </a:t>
                </a:r>
                <a:r>
                  <a:rPr lang="en-US" altLang="zh-CN" dirty="0"/>
                  <a:t>Q </a:t>
                </a:r>
                <a:r>
                  <a:rPr lang="zh-CN" altLang="en-US" dirty="0"/>
                  <a:t>向量拼接结果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r>
                  <a:rPr lang="zh-CN" altLang="en-US" dirty="0"/>
                  <a:t>，维度为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=16384</m:t>
                    </m:r>
                  </m:oMath>
                </a14:m>
                <a:endParaRPr lang="zh-CN" altLang="en-US" dirty="0"/>
              </a:p>
              <a:p>
                <a:r>
                  <a:rPr lang="en-US" altLang="zh-CN" dirty="0"/>
                  <a:t>MLA </a:t>
                </a:r>
                <a:r>
                  <a:rPr lang="zh-CN" altLang="en-US" dirty="0"/>
                  <a:t>在训练时，前向传播仅需存储下投影后的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</m:sSubSup>
                  </m:oMath>
                </a14:m>
                <a:r>
                  <a:rPr lang="zh-CN" altLang="en-US" dirty="0"/>
                  <a:t>，无需存储上投影后的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7DD3600-7A4C-87B4-C0B2-3D9111777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39126"/>
              </a:xfrm>
              <a:blipFill>
                <a:blip r:embed="rId2"/>
                <a:stretch>
                  <a:fillRect l="-1043" t="-2141" r="-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13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83A5B-FBE8-0B57-E4B8-E5565FC5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回到原论文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B0A46C-39C8-C691-2496-E06E7808D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B2C284-18D0-EE7F-0F04-659F87F3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899411"/>
            <a:ext cx="11353800" cy="23462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59C9C67-36F8-67E1-0DBF-E3AE204F5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4245683"/>
            <a:ext cx="11353800" cy="182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25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70229-DA90-1663-67A8-A1D5A796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回到原论文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B039FF7-DDDF-50F6-FA16-69FDF52D7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6727" y="1690688"/>
            <a:ext cx="6898545" cy="467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16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565</Words>
  <Application>Microsoft Office PowerPoint</Application>
  <PresentationFormat>宽屏</PresentationFormat>
  <Paragraphs>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Noto Sans SC Black</vt:lpstr>
      <vt:lpstr>等线</vt:lpstr>
      <vt:lpstr>等线 Light</vt:lpstr>
      <vt:lpstr>Arial</vt:lpstr>
      <vt:lpstr>Cambria Math</vt:lpstr>
      <vt:lpstr>Office 主题​​</vt:lpstr>
      <vt:lpstr>MLA KVCache进阶优化</vt:lpstr>
      <vt:lpstr>Multi-head Latent Attention有多好</vt:lpstr>
      <vt:lpstr>主要内容</vt:lpstr>
      <vt:lpstr>GQA可以看作低秩投影</vt:lpstr>
      <vt:lpstr>MLA的优化初尝试</vt:lpstr>
      <vt:lpstr>结合dot-attention的恒等变换</vt:lpstr>
      <vt:lpstr>MLA遇到了困扰</vt:lpstr>
      <vt:lpstr>PowerPoint 演示文稿</vt:lpstr>
      <vt:lpstr>一个小细节</vt:lpstr>
      <vt:lpstr>举个例子看看效果</vt:lpstr>
      <vt:lpstr>回到原论文</vt:lpstr>
      <vt:lpstr>回到原论文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3</cp:revision>
  <dcterms:created xsi:type="dcterms:W3CDTF">2025-09-20T08:36:15Z</dcterms:created>
  <dcterms:modified xsi:type="dcterms:W3CDTF">2025-09-21T11:18:34Z</dcterms:modified>
</cp:coreProperties>
</file>