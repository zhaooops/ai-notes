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5FD90-3653-DA58-6CD0-34F383EA8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FCF878-EF4D-4619-77DA-0667E0404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5A6F5C-9420-BFB7-AC80-A38FBABC3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AFC021-4ECF-4EAB-18F8-C053D8493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75779B-5C1A-5730-F959-89723BB7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64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E879F-DD81-D4C2-33F2-359B12FB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214B53-398A-BA72-C61A-1A3706B97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761B-8676-2869-DA91-28294A36A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7A8ED-1979-5ED5-CAF4-40454E319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E1FE93-952E-67F1-3901-C590EFAE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0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B5A8E-3A82-87FE-A25D-9CFCDC92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39F14C-85CD-FA76-8783-E4BBD5552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009EF0-8460-2CA4-94A0-C9161729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FA2303-D137-D3AB-6DF9-45B75078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1E6AE7-365D-59E7-D371-59ED42A3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0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CD6D9-DFC0-CCF9-61CD-8AFAC0560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8C80C2-7FD1-0C9D-9B72-E1689E7B1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377178-3D76-3176-13C1-DC90251D1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D96C46-6524-1578-B691-0645E81B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D2C057-030C-D628-2103-7F3C2E20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64E038-6F68-55C1-DC19-ECD5B84E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019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42E2F-6824-5EDF-58FA-BFDEE623D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6B4E6B-9721-7FCC-F50A-4A4EC5BF0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3944CE-C837-BB0C-5ADF-0E7BE56D6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80B4A2-8B9D-CBED-B0D4-3E46FC795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C8AC94-B64E-A8B5-2884-6606C6635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AAA416-85F0-9F53-0769-852F22B0B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2FAD8C-52DA-DCC3-0BA0-C7FDC2F83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E46318-ADB4-AF54-218A-362AADD8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889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6E2E7-CA15-B6CB-5493-09F0FDBF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959C9FB-CDC9-B556-C8DD-53CCD876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936633-D1E7-FE95-281B-E14FB45C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DF13A7-F1CE-C40D-11B7-A43D4D344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30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97202F-B205-73AD-0608-D616099E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1616FB-4307-001E-643E-6830838D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12E93-E1A9-29B5-99E3-07303486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6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46BE2-91FC-986D-5AE3-836B3FB2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2E9353-801F-5F7E-B2F8-16D92A22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0D9BB8-0A7F-1400-B0CA-2FEA2EE83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367036-70BE-A878-29AE-A32661318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125814-1343-803A-EFD2-07BC5437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DB1D8A-9A63-A117-DA15-AE7012AC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8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DA02C-681F-4663-E603-C04211CD4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C440BF-8733-C9E2-0BB5-1121260B3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7EBA6C-955F-9094-EB02-4B108F687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E0D20-C475-7B5C-271D-B2E64760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F65DEE-9C91-47CA-8F2B-E993A050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1F21CE-CC16-19E3-5376-E129844B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92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79438-9549-3F29-FEFB-8A980286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F19D09-F520-0E7B-E2ED-A1EBF0B1E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CB13D-0204-1D8F-1051-E1738B3A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4FAB9-19C1-6E8C-4FF0-8E775AB9B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6AA7AB-FFA6-A0D4-26C4-E8705C3B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7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74AE6D-7481-BD47-E364-E21267F8C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357435-1010-CEB5-F957-492BF1A9B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495939-6FEA-AE41-03E0-5BEA5574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6E117-35E5-9CCF-856C-67FD6789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FC8EF-FFA8-F3FE-7CE0-DE50EF69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174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650E65-3289-A665-EFE4-BFB1077A4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C08CEC-1AAC-5816-8E9D-CB9B7C419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F1B41A-C2E9-756A-72DF-0C957345E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8373-A48E-4098-85D1-051D124F6A33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F7B09-5F77-B031-3F83-A62A0581F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CC2A2-C548-FAA6-C817-F4FB37860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3F497-DDF7-406C-9E01-2C225C007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37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62EFD-ED60-F64D-7942-081F057A28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KV Cache</a:t>
            </a:r>
            <a:r>
              <a:rPr lang="zh-CN" altLang="en-US" dirty="0"/>
              <a:t>初探</a:t>
            </a:r>
            <a:br>
              <a:rPr lang="en-US" altLang="zh-CN" dirty="0"/>
            </a:br>
            <a:r>
              <a:rPr lang="zh-CN" altLang="en-US" dirty="0"/>
              <a:t>从</a:t>
            </a:r>
            <a:r>
              <a:rPr lang="en-US" altLang="zh-CN" dirty="0"/>
              <a:t>MHA</a:t>
            </a:r>
            <a:r>
              <a:rPr lang="zh-CN" altLang="en-US" dirty="0"/>
              <a:t>、</a:t>
            </a:r>
            <a:r>
              <a:rPr lang="en-US" altLang="zh-CN" dirty="0"/>
              <a:t>MQA</a:t>
            </a:r>
            <a:r>
              <a:rPr lang="zh-CN" altLang="en-US" dirty="0"/>
              <a:t>到</a:t>
            </a:r>
            <a:r>
              <a:rPr lang="en-US" altLang="zh-CN" dirty="0"/>
              <a:t>GQA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6842CF-ABFF-0CF5-064C-81A85432A4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62EC50-CAE5-3A17-D03E-515534D9D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48" y="4235991"/>
            <a:ext cx="2062703" cy="206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31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05E17-64B5-880C-DB27-CDF222E8A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EC661F5-25DA-50BC-DC29-B6B81BA32D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追根溯源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什么是</a:t>
                </a:r>
                <a:r>
                  <a:rPr lang="en-US" altLang="zh-CN" dirty="0"/>
                  <a:t>KV Cache</a:t>
                </a:r>
              </a:p>
              <a:p>
                <a:r>
                  <a:rPr lang="zh-CN" altLang="en-US" dirty="0"/>
                  <a:t>如何优化</a:t>
                </a:r>
                <a:r>
                  <a:rPr lang="en-US" altLang="zh-CN" dirty="0"/>
                  <a:t>KV Cache: MHA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MQA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GQA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EC661F5-25DA-50BC-DC29-B6B81BA32D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83CD49A2-2027-9908-773A-84E95B36D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063" y="3597749"/>
            <a:ext cx="10953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02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7175D-751E-4FD8-C8FF-9C9F6122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LLM</a:t>
            </a:r>
            <a:r>
              <a:rPr lang="zh-CN" altLang="en-US" dirty="0"/>
              <a:t>的本质：</a:t>
            </a:r>
            <a:r>
              <a:rPr lang="en-US" altLang="zh-CN" b="1" dirty="0"/>
              <a:t>next token prediction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EC3D0E-529F-233F-10BB-06765B1BA6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自回归模型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AR autoregressive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根据前一段时间的数据预测下一时刻的数据</a:t>
                </a:r>
                <a:endParaRPr lang="en-US" altLang="zh-CN" dirty="0"/>
              </a:p>
              <a:p>
                <a:r>
                  <a:rPr lang="zh-CN" altLang="en-US" dirty="0"/>
                  <a:t>自回归</a:t>
                </a:r>
                <a:r>
                  <a:rPr lang="en-US" altLang="zh-CN" dirty="0"/>
                  <a:t>LLM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each token conditions on its past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因果掩码 </a:t>
                </a:r>
                <a:r>
                  <a:rPr lang="en-US" altLang="zh-CN" dirty="0"/>
                  <a:t>casual mask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b="1" dirty="0"/>
                  <a:t>屏蔽未来的词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这样的</a:t>
                </a:r>
                <a:r>
                  <a:rPr lang="en-US" altLang="zh-CN" dirty="0"/>
                  <a:t>attention</a:t>
                </a:r>
                <a:r>
                  <a:rPr lang="zh-CN" altLang="en-US" dirty="0"/>
                  <a:t>称为</a:t>
                </a:r>
                <a:r>
                  <a:rPr lang="en-US" altLang="zh-CN" dirty="0"/>
                  <a:t>casual attention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EC3D0E-529F-233F-10BB-06765B1BA6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00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A08BB-05E2-340A-A899-1840F2B3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举例说明计算过程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730FD9-D73D-04C4-CC95-71B0A2E9A0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34741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先来看单头注意力是怎么做</a:t>
                </a:r>
                <a:r>
                  <a:rPr lang="en-US" altLang="zh-CN" dirty="0"/>
                  <a:t>next token prediction</a:t>
                </a:r>
                <a:r>
                  <a:rPr lang="zh-CN" altLang="en-US" dirty="0"/>
                  <a:t>的</a:t>
                </a:r>
                <a:endParaRPr lang="en-US" altLang="zh-CN" dirty="0"/>
              </a:p>
              <a:p>
                <a:r>
                  <a:rPr lang="zh-CN" altLang="en-US" dirty="0"/>
                  <a:t>我们用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生成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最后一个已知</a:t>
                </a:r>
                <a:r>
                  <a:rPr lang="en-US" altLang="zh-CN" dirty="0"/>
                  <a:t>token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经过矩阵运算生成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前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经过矩阵运算生成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与每个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分别求内积，算出权重，对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加权求和，这就是单头注意力学习到的上下文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将其输出记作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再来看多头注意力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h</a:t>
                </a:r>
                <a:r>
                  <a:rPr lang="zh-CN" altLang="en-US" b="0" dirty="0"/>
                  <a:t>个注意力头的多头注意力就是重复上述操作</a:t>
                </a:r>
                <a:r>
                  <a:rPr lang="en-US" altLang="zh-CN" b="0" dirty="0"/>
                  <a:t>h</a:t>
                </a:r>
                <a:r>
                  <a:rPr lang="zh-CN" altLang="en-US" dirty="0"/>
                  <a:t>次，再拼接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多头注意力的输出为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730FD9-D73D-04C4-CC95-71B0A2E9A0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347414"/>
              </a:xfrm>
              <a:blipFill>
                <a:blip r:embed="rId2"/>
                <a:stretch>
                  <a:fillRect l="-1217" t="-1727" r="-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94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21BF8-4D8B-E5CB-1235-97799D52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KV Cache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23A4B-D09D-C1C4-633A-4F93D020D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如果生成一个长度为</a:t>
            </a:r>
            <a:r>
              <a:rPr lang="en-US" altLang="zh-CN" dirty="0"/>
              <a:t>1000</a:t>
            </a:r>
            <a:r>
              <a:rPr lang="zh-CN" altLang="en-US" dirty="0"/>
              <a:t>的</a:t>
            </a:r>
            <a:r>
              <a:rPr lang="en-US" altLang="zh-CN" dirty="0"/>
              <a:t>token</a:t>
            </a:r>
            <a:r>
              <a:rPr lang="zh-CN" altLang="en-US" dirty="0"/>
              <a:t>序列，当我们生成第</a:t>
            </a:r>
            <a:r>
              <a:rPr lang="en-US" altLang="zh-CN" dirty="0"/>
              <a:t>1000</a:t>
            </a:r>
            <a:r>
              <a:rPr lang="zh-CN" altLang="en-US" dirty="0"/>
              <a:t>个</a:t>
            </a:r>
            <a:r>
              <a:rPr lang="en-US" altLang="zh-CN" dirty="0"/>
              <a:t>token</a:t>
            </a:r>
            <a:r>
              <a:rPr lang="zh-CN" altLang="en-US" dirty="0"/>
              <a:t>时，第一个</a:t>
            </a:r>
            <a:r>
              <a:rPr lang="en-US" altLang="zh-CN" dirty="0"/>
              <a:t>token</a:t>
            </a:r>
            <a:r>
              <a:rPr lang="zh-CN" altLang="en-US" dirty="0"/>
              <a:t>的</a:t>
            </a:r>
            <a:r>
              <a:rPr lang="en-US" altLang="zh-CN" dirty="0"/>
              <a:t>k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已经被计算了</a:t>
            </a:r>
            <a:r>
              <a:rPr lang="en-US" altLang="zh-CN" dirty="0"/>
              <a:t>999</a:t>
            </a:r>
            <a:r>
              <a:rPr lang="zh-CN" altLang="en-US" dirty="0"/>
              <a:t>次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这造成了巨大的重复计算浪费</a:t>
            </a: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解决办法就是把以前计算好的</a:t>
            </a:r>
            <a:r>
              <a:rPr lang="en-US" altLang="zh-CN" dirty="0"/>
              <a:t>k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缓存起来，以供后续调用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这就是</a:t>
            </a:r>
            <a:r>
              <a:rPr lang="en-US" altLang="zh-CN" b="1" dirty="0"/>
              <a:t>KV Cache</a:t>
            </a:r>
          </a:p>
          <a:p>
            <a:r>
              <a:rPr lang="zh-CN" altLang="en-US" dirty="0"/>
              <a:t>为什么不缓存</a:t>
            </a:r>
            <a:r>
              <a:rPr lang="en-US" altLang="zh-CN" dirty="0"/>
              <a:t>Q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Q</a:t>
            </a:r>
            <a:r>
              <a:rPr lang="zh-CN" altLang="en-US" dirty="0"/>
              <a:t>没有被重复计算，每次只算当前的最后一个已知</a:t>
            </a:r>
            <a:r>
              <a:rPr lang="en-US" altLang="zh-CN" dirty="0"/>
              <a:t>token</a:t>
            </a:r>
            <a:r>
              <a:rPr lang="zh-CN" altLang="en-US" dirty="0"/>
              <a:t>的</a:t>
            </a:r>
            <a:r>
              <a:rPr lang="en-US" altLang="zh-CN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12642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D4861-85C5-565C-2A94-E718FB387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KV Cache</a:t>
            </a:r>
            <a:r>
              <a:rPr lang="zh-CN" altLang="en-US" dirty="0"/>
              <a:t>遇到了问题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D3D246-5B8B-9B72-B69D-97C833B137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898171" cy="5032375"/>
              </a:xfrm>
            </p:spPr>
            <p:txBody>
              <a:bodyPr/>
              <a:lstStyle/>
              <a:p>
                <a:r>
                  <a:rPr lang="en-US" altLang="zh-CN" dirty="0"/>
                  <a:t>LLM</a:t>
                </a:r>
                <a:r>
                  <a:rPr lang="zh-CN" altLang="en-US" dirty="0"/>
                  <a:t>用</a:t>
                </a:r>
                <a:r>
                  <a:rPr lang="en-US" altLang="zh-CN" dirty="0"/>
                  <a:t>GPU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GPU</a:t>
                </a:r>
                <a:r>
                  <a:rPr lang="zh-CN" altLang="en-US" dirty="0"/>
                  <a:t>每张卡的显存</a:t>
                </a:r>
                <a:r>
                  <a:rPr lang="zh-CN" altLang="en-US" b="1" dirty="0"/>
                  <a:t>有限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因此要对</a:t>
                </a:r>
                <a:r>
                  <a:rPr lang="en-US" altLang="zh-CN" dirty="0"/>
                  <a:t>KV Cache</a:t>
                </a:r>
                <a:r>
                  <a:rPr lang="zh-CN" altLang="en-US" dirty="0"/>
                  <a:t>进行优化，减小</a:t>
                </a:r>
                <a:r>
                  <a:rPr lang="en-US" altLang="zh-CN" dirty="0"/>
                  <a:t>KV Cache</a:t>
                </a:r>
              </a:p>
              <a:p>
                <a:r>
                  <a:rPr lang="en-US" altLang="zh-CN" dirty="0"/>
                  <a:t>MQA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1" dirty="0"/>
                  <a:t> </a:t>
                </a:r>
                <a:r>
                  <a:rPr lang="en-US" altLang="zh-CN" dirty="0"/>
                  <a:t>《Fast Transformer Decoding: One Write-Head is All You Need》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所有注意力头共享一套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V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 理论上，</a:t>
                </a:r>
                <a:r>
                  <a:rPr lang="en-US" altLang="zh-CN" dirty="0"/>
                  <a:t>MQA</a:t>
                </a:r>
                <a:r>
                  <a:rPr lang="zh-CN" altLang="en-US" dirty="0"/>
                  <a:t>直接将</a:t>
                </a:r>
                <a:r>
                  <a:rPr lang="en-US" altLang="zh-CN" dirty="0"/>
                  <a:t>KV Cache</a:t>
                </a:r>
                <a:r>
                  <a:rPr lang="zh-CN" altLang="en-US" dirty="0"/>
                  <a:t>减少到了原来的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KV Cache </a:t>
                </a:r>
                <a:r>
                  <a:rPr lang="zh-CN" altLang="en-US" dirty="0"/>
                  <a:t>大幅降低，效果损失也比较有限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D3D246-5B8B-9B72-B69D-97C833B13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898171" cy="5032375"/>
              </a:xfrm>
              <a:blipFill>
                <a:blip r:embed="rId2"/>
                <a:stretch>
                  <a:fillRect l="-951" t="-2179" r="-1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8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3BD87-9E84-F305-651D-D0D70520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折中之选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EC12EF-DCBB-FBDE-EDAD-4848F113E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04734"/>
          </a:xfrm>
        </p:spPr>
        <p:txBody>
          <a:bodyPr>
            <a:normAutofit/>
          </a:bodyPr>
          <a:lstStyle/>
          <a:p>
            <a:r>
              <a:rPr lang="en-US" altLang="zh-CN" dirty="0"/>
              <a:t>GQA</a:t>
            </a:r>
          </a:p>
          <a:p>
            <a:pPr marL="0" indent="0">
              <a:buNone/>
            </a:pPr>
            <a:r>
              <a:rPr lang="en-US" altLang="zh-CN" b="1" dirty="0"/>
              <a:t>	</a:t>
            </a:r>
            <a:r>
              <a:rPr lang="en-US" altLang="zh-CN" dirty="0"/>
              <a:t>《GQA: Training Generalized Multi-Query Transformer Models from Multi-Head Checkpoints》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本质上就是把</a:t>
            </a:r>
            <a:r>
              <a:rPr lang="en-US" altLang="zh-CN" dirty="0"/>
              <a:t>MHA</a:t>
            </a:r>
            <a:r>
              <a:rPr lang="zh-CN" altLang="en-US" dirty="0"/>
              <a:t>和</a:t>
            </a:r>
            <a:r>
              <a:rPr lang="en-US" altLang="zh-CN" dirty="0"/>
              <a:t>MQA</a:t>
            </a:r>
            <a:r>
              <a:rPr lang="zh-CN" altLang="en-US" dirty="0"/>
              <a:t>做了一个折中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将所有头分为</a:t>
            </a:r>
            <a:r>
              <a:rPr lang="en-US" altLang="zh-CN" dirty="0"/>
              <a:t>g</a:t>
            </a:r>
            <a:r>
              <a:rPr lang="zh-CN" altLang="en-US" dirty="0"/>
              <a:t>个组（</a:t>
            </a:r>
            <a:r>
              <a:rPr lang="en-US" altLang="zh-CN" dirty="0"/>
              <a:t>g</a:t>
            </a:r>
            <a:r>
              <a:rPr lang="zh-CN" altLang="en-US" dirty="0"/>
              <a:t>可以整除</a:t>
            </a:r>
            <a:r>
              <a:rPr lang="en-US" altLang="zh-CN" dirty="0"/>
              <a:t>h</a:t>
            </a:r>
            <a:r>
              <a:rPr lang="zh-CN" altLang="en-US" dirty="0"/>
              <a:t>），每组共享同一对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V</a:t>
            </a:r>
          </a:p>
          <a:p>
            <a:pPr marL="0" indent="0">
              <a:buNone/>
            </a:pPr>
            <a:r>
              <a:rPr lang="en-US" altLang="zh-CN" dirty="0"/>
              <a:t>	g=h MHA        g=1 MQA</a:t>
            </a:r>
          </a:p>
          <a:p>
            <a:r>
              <a:rPr lang="en-US" altLang="zh-CN" dirty="0"/>
              <a:t>Llama3</a:t>
            </a:r>
            <a:r>
              <a:rPr lang="zh-CN" altLang="en-US" dirty="0"/>
              <a:t>、</a:t>
            </a:r>
            <a:r>
              <a:rPr lang="en-US" altLang="zh-CN" dirty="0"/>
              <a:t>DeepSeek-V1</a:t>
            </a:r>
            <a:r>
              <a:rPr lang="zh-CN" altLang="en-US" dirty="0"/>
              <a:t>用的就是</a:t>
            </a:r>
            <a:r>
              <a:rPr lang="en-US" altLang="zh-CN" dirty="0"/>
              <a:t>GQA</a:t>
            </a:r>
          </a:p>
          <a:p>
            <a:pPr marL="0" indent="0">
              <a:buNone/>
            </a:pPr>
            <a:r>
              <a:rPr lang="en-US" altLang="zh-CN" dirty="0"/>
              <a:t>	g</a:t>
            </a:r>
            <a:r>
              <a:rPr lang="zh-CN" altLang="en-US" dirty="0"/>
              <a:t>取的是</a:t>
            </a:r>
            <a:r>
              <a:rPr lang="en-US" altLang="zh-CN" dirty="0"/>
              <a:t>8 </a:t>
            </a:r>
            <a:r>
              <a:rPr lang="zh-CN" altLang="en-US" dirty="0"/>
              <a:t>这考虑到了推理效率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每张卡负责计算一个组内的</a:t>
            </a:r>
            <a:r>
              <a:rPr lang="en-US" altLang="zh-CN" dirty="0"/>
              <a:t>attention head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36C16F-D97E-0805-0DDB-F85A75586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71" y="4435311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6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467</Words>
  <Application>Microsoft Office PowerPoint</Application>
  <PresentationFormat>宽屏</PresentationFormat>
  <Paragraphs>51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Cambria Math</vt:lpstr>
      <vt:lpstr>Office 主题​​</vt:lpstr>
      <vt:lpstr>KV Cache初探 从MHA、MQA到GQA</vt:lpstr>
      <vt:lpstr>主要内容</vt:lpstr>
      <vt:lpstr>LLM的本质：next token prediction</vt:lpstr>
      <vt:lpstr>举例说明计算过程</vt:lpstr>
      <vt:lpstr>KV Cache</vt:lpstr>
      <vt:lpstr>KV Cache遇到了问题</vt:lpstr>
      <vt:lpstr>折中之选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3</cp:revision>
  <dcterms:created xsi:type="dcterms:W3CDTF">2025-09-17T03:12:27Z</dcterms:created>
  <dcterms:modified xsi:type="dcterms:W3CDTF">2025-09-17T03:55:08Z</dcterms:modified>
</cp:coreProperties>
</file>