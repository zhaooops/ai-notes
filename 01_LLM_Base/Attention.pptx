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7E290-53B5-72DB-F899-959086A74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B00321-DB2A-6F9F-50D6-5D7EA7F7A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006B7-CCAB-16C1-79D1-BE7CD736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4BBD1-D375-94E0-03CE-A3655624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8044BF-532E-5C43-A063-33A39FA3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3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4BD30-65FA-9E47-7733-8E493168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7DAAC-4636-7708-3E03-E8A498AF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A1D0D-4443-322B-F238-FC9896C6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65E64A-BDCF-7C75-DA13-E2BAACD2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AB9F4-1976-46E4-3F8A-7872248C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1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253A4-45D6-708F-1C1C-1617C86A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D55023-F929-F868-7047-9E37E7B9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9DB2F1-4164-B589-CA2B-690C105E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28FE3-A41B-196B-E92E-7A37A766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374D0-26CF-E106-BB4E-D009C5F2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97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E91DA-2FC1-E47A-48D6-826408F2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C8B7C7-DB73-D5F4-3234-7E60E4B37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59FD2F-DAB3-3FDC-6323-19B2C4FB3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6F268B-F34E-31CF-D132-C65DDDB3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EFE696-CEAB-1370-CB20-BC92BF86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583C7-428E-79D4-378A-38A75137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54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34028-CE5A-0AED-9939-59EE998E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61C980-0583-452A-F60D-2A847827E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9164E1-C80F-06F2-8A93-EAECA4540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E4C306-AFA8-B0EC-BD0E-FBA9F82EC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032A39-F7C7-08B7-70BD-83AECD8EF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340919-BF33-0845-ED2E-74CEED01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C8458B-8DB2-2691-2B30-1A1ED7F1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44ED68-55D6-8307-B3DB-60E3F64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08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E348C-4864-D16A-A9F3-47E9C547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964F31-9FF5-F912-1738-616A4155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889D5B-209E-4204-37D5-082E5DC1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AC69A1-50CD-8BFC-9600-AD1F424E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87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9CB3DE-CA51-27C6-5123-E00F0410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24F1E3-6162-80CA-1F33-ED270407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C7D691-58DC-3CB9-0B14-D8219F3D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18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B330C-EA9E-E1E5-6FCB-6F0FF8B5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834FB-304A-A800-1D03-BE1BD054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A83EC-3184-78D7-C864-1798597C3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40F89D-4EDF-D516-E7A2-0A1B6020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3302F8-8257-52D3-E1F0-B6A4AA68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DB0B7B-401A-1E9B-EB12-0C20C1D9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648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17C82-E500-EA34-27F8-C5776C73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861572-381C-5624-E827-2CA0FE797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D6C86-3001-9A4B-FCDB-ABF830661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B6BA3-BC7A-3C92-63DD-ACD363F9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679292-18C5-12F5-469A-C8C7AD40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72AAA9-FCC5-C617-A7BB-5BE8F64B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3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1514C-EDE2-3EE8-A3FB-D87D7E17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2A5210-C8DA-AA77-CEF3-170848F2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EA303-F701-6DE8-1644-A3C92F29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7C2A8-A2EC-E79D-4C28-FB685470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371FD-EACA-033F-3FAC-8E54C5E6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41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125A70-760D-7362-1047-19DDBDA94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28C361-518E-89A1-640E-EE7E5ADC8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EAE86-35F2-2E42-B717-12F93073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23F3C-7743-7807-8773-11639DB1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991CC-A21D-7ACA-4C01-FA85973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38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C5325F-F1CF-CCEF-39EB-BBF8D953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8CA49C-171B-FFB4-E8A6-13BDC143C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30DAC-9FA2-6106-AA10-11A3AF0CA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5A7EE-D034-4EA1-84D2-5CCA1F01D80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0A8C3C-77AD-55CF-BFFC-EBDE2A0F7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EDFD62-6F9E-FE27-985C-8A6C5E6BD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B0CCB-8C27-4F4D-9268-CF2417170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0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FE66F-9232-2D30-05DD-09F4A9A1F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Attention</a:t>
            </a:r>
            <a:r>
              <a:rPr lang="zh-CN" altLang="en-US" dirty="0"/>
              <a:t>从入门到精通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>
                <a:extLst>
                  <a:ext uri="{FF2B5EF4-FFF2-40B4-BE49-F238E27FC236}">
                    <a16:creationId xmlns:a16="http://schemas.microsoft.com/office/drawing/2014/main" id="{8F06F677-6430-2821-6CE9-7E8B2265E3F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2679308"/>
                <a:ext cx="9144000" cy="1791093"/>
              </a:xfrm>
            </p:spPr>
            <p:txBody>
              <a:bodyPr/>
              <a:lstStyle/>
              <a:p>
                <a:r>
                  <a:rPr lang="en-US" altLang="zh-CN" dirty="0"/>
                  <a:t>Attention</a:t>
                </a:r>
                <a:r>
                  <a:rPr lang="zh-CN" altLang="en-US" dirty="0"/>
                  <a:t>在干嘛？</a:t>
                </a:r>
                <a:r>
                  <a:rPr lang="en-US" altLang="zh-CN" dirty="0"/>
                  <a:t>Transformer</a:t>
                </a:r>
                <a:r>
                  <a:rPr lang="zh-CN" altLang="en-US" dirty="0"/>
                  <a:t>在干嘛？</a:t>
                </a:r>
                <a:endParaRPr lang="en-US" altLang="zh-CN" dirty="0"/>
              </a:p>
              <a:p>
                <a:r>
                  <a:rPr lang="en-US" altLang="zh-CN" dirty="0"/>
                  <a:t>Query,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Key,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又在干嘛？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Attention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 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又又又在干嘛？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副标题 2">
                <a:extLst>
                  <a:ext uri="{FF2B5EF4-FFF2-40B4-BE49-F238E27FC236}">
                    <a16:creationId xmlns:a16="http://schemas.microsoft.com/office/drawing/2014/main" id="{8F06F677-6430-2821-6CE9-7E8B2265E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2679308"/>
                <a:ext cx="9144000" cy="1791093"/>
              </a:xfrm>
              <a:blipFill>
                <a:blip r:embed="rId2"/>
                <a:stretch>
                  <a:fillRect t="-4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EDD3835-85A7-86C3-E9E0-28FE606F2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137" y="4173914"/>
            <a:ext cx="23717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6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6A0FE-4B5E-5974-9DE4-7DDA65EB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完全理解三个内容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38B0E1-CAD6-2D36-833E-F06A61E5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r>
              <a:rPr lang="zh-CN" altLang="en-US" dirty="0"/>
              <a:t>要做的事情</a:t>
            </a:r>
            <a:endParaRPr lang="en-US" altLang="zh-CN" dirty="0"/>
          </a:p>
          <a:p>
            <a:r>
              <a:rPr lang="en-US" altLang="zh-CN" dirty="0"/>
              <a:t>Attention</a:t>
            </a:r>
            <a:r>
              <a:rPr lang="zh-CN" altLang="en-US" dirty="0"/>
              <a:t>出现之前大家的做法</a:t>
            </a:r>
            <a:endParaRPr lang="en-US" altLang="zh-CN" dirty="0"/>
          </a:p>
          <a:p>
            <a:r>
              <a:rPr lang="en-US" altLang="zh-CN" dirty="0"/>
              <a:t>Attention</a:t>
            </a:r>
            <a:r>
              <a:rPr lang="zh-CN" altLang="en-US" dirty="0"/>
              <a:t>清晰完整的计算过程 </a:t>
            </a:r>
            <a:r>
              <a:rPr lang="en-US" altLang="zh-CN" dirty="0"/>
              <a:t>&amp; </a:t>
            </a:r>
            <a:r>
              <a:rPr lang="zh-CN" altLang="en-US" dirty="0"/>
              <a:t>它有哪些好处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0B0CBC-05C3-2CE6-E896-C992A0BCA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47" y="3351229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6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543BA-FFAB-E1C5-1E66-3AA5808F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的几项任务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EF034-0BE6-9F62-D2FB-3EE8486E3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句子分词</a:t>
                </a:r>
                <a:endParaRPr lang="en-US" altLang="zh-CN" dirty="0"/>
              </a:p>
              <a:p>
                <a:r>
                  <a:rPr lang="zh-CN" altLang="en-US" dirty="0"/>
                  <a:t>每个词转化为词嵌入向量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每个句子对应一个矩阵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把得到的词嵌入向量转化为蕴含上下文信息的特征表示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b="1" dirty="0"/>
                  <a:t>“学习上下文”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这一过程是由</a:t>
                </a:r>
                <a:r>
                  <a:rPr lang="en-US" altLang="zh-CN" dirty="0"/>
                  <a:t>encoder</a:t>
                </a:r>
                <a:r>
                  <a:rPr lang="zh-CN" altLang="en-US" dirty="0"/>
                  <a:t>（编码器）来完成的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就是</m:t>
                    </m:r>
                  </m:oMath>
                </a14:m>
                <a:r>
                  <a:rPr lang="zh-CN" altLang="en-US" dirty="0"/>
                  <a:t>学习到的上下文信息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EF034-0BE6-9F62-D2FB-3EE8486E3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0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43CDD-562F-17EF-9D7F-63B77D17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Encoder</a:t>
            </a:r>
            <a:r>
              <a:rPr lang="zh-CN" altLang="en-US" dirty="0"/>
              <a:t>部门的三个员工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EF8A3-97F9-C106-61A2-3EC9D5599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为了完成</a:t>
            </a:r>
            <a:r>
              <a:rPr lang="zh-CN" altLang="en-US" b="1" dirty="0"/>
              <a:t>学习上下文</a:t>
            </a:r>
            <a:r>
              <a:rPr lang="zh-CN" altLang="en-US" dirty="0"/>
              <a:t>这件事情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三个员工的三种不同方法</a:t>
            </a:r>
            <a:endParaRPr lang="en-US" altLang="zh-CN" dirty="0"/>
          </a:p>
          <a:p>
            <a:r>
              <a:rPr lang="en-US" altLang="zh-CN" dirty="0"/>
              <a:t>RNN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递归式学习上下文</a:t>
            </a:r>
            <a:endParaRPr lang="en-US" altLang="zh-CN" dirty="0"/>
          </a:p>
          <a:p>
            <a:r>
              <a:rPr lang="en-US" altLang="zh-CN" dirty="0"/>
              <a:t>CNN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窗口式遍历学习上下文</a:t>
            </a:r>
            <a:endParaRPr lang="en-US" altLang="zh-CN" dirty="0"/>
          </a:p>
          <a:p>
            <a:r>
              <a:rPr lang="en-US" altLang="zh-CN" dirty="0"/>
              <a:t>Attention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仅凭注意力学习上下文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D804B5-9035-7CA7-44BF-0CD7F11E8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577" y="2668767"/>
            <a:ext cx="1095375" cy="10953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5D789-65A4-969F-A332-31D67BCDB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578" y="5170317"/>
            <a:ext cx="1095375" cy="10953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3576BF-3000-6625-9A76-A80B59BDE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577" y="3919542"/>
            <a:ext cx="1095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0B987-C43D-12A6-E0AA-8D294940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F24FE3-23B1-0CDF-D4AE-8318239CE7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79318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t</a:t>
                </a:r>
                <a:r>
                  <a:rPr lang="zh-CN" altLang="en-US" dirty="0"/>
                  <a:t>时刻学到的上下文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，是结合</a:t>
                </a:r>
                <a:r>
                  <a:rPr lang="en-US" altLang="zh-CN" dirty="0"/>
                  <a:t>t-1</a:t>
                </a:r>
                <a:r>
                  <a:rPr lang="zh-CN" altLang="en-US" dirty="0"/>
                  <a:t>时刻的与当前词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来得到的</a:t>
                </a:r>
                <a:endParaRPr lang="en-US" altLang="zh-CN" dirty="0"/>
              </a:p>
              <a:p>
                <a:r>
                  <a:rPr lang="zh-CN" altLang="en-US" dirty="0"/>
                  <a:t>缺点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无法并行，因此不能利用</a:t>
                </a:r>
                <a:r>
                  <a:rPr lang="en-US" altLang="zh-CN" dirty="0"/>
                  <a:t>GPU</a:t>
                </a:r>
                <a:r>
                  <a:rPr lang="zh-CN" altLang="en-US" dirty="0"/>
                  <a:t>等来并行计算提高效率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难以捕捉全局的结构信息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F24FE3-23B1-0CDF-D4AE-8318239CE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79318" cy="4351338"/>
              </a:xfrm>
              <a:blipFill>
                <a:blip r:embed="rId2"/>
                <a:stretch>
                  <a:fillRect l="-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8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9C405-BB3A-F81A-4B3B-2E5430C3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4774CF-15C2-0B33-1C96-B1E5FC2F1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err="1"/>
                  <a:t>FaceBook</a:t>
                </a:r>
                <a:r>
                  <a:rPr lang="en-US" altLang="zh-CN" dirty="0"/>
                  <a:t> 《Convolutional Sequence to Sequence Learning》</a:t>
                </a:r>
              </a:p>
              <a:p>
                <a:r>
                  <a:rPr lang="zh-CN" altLang="en-US" dirty="0"/>
                  <a:t>窗口式遍历学习上下文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设想一个宽度为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的滑块在句子上连续滑动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每次都学习窗口内的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个单词，学出一个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这个窗口就是卷积核</a:t>
                </a:r>
                <a:r>
                  <a:rPr lang="en-US" altLang="zh-CN" dirty="0"/>
                  <a:t>kernel</a:t>
                </a:r>
              </a:p>
              <a:p>
                <a:r>
                  <a:rPr lang="zh-CN" altLang="en-US" dirty="0"/>
                  <a:t>例如一个尺寸为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的卷积核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CNN</a:t>
                </a:r>
                <a:r>
                  <a:rPr lang="zh-CN" altLang="en-US" dirty="0"/>
                  <a:t>可以并行计算，也能捕捉到一些全局的结构信息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4774CF-15C2-0B33-1C96-B1E5FC2F1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05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560BF-8835-43E9-99FD-2101AF83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B1D1B9-2289-8A79-4F01-EA9A9A3B9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直接将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每个词进行比较，得到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如果这里取</a:t>
                </a:r>
                <a:r>
                  <a:rPr lang="en-US" altLang="zh-CN" dirty="0"/>
                  <a:t>A=B=X</a:t>
                </a:r>
                <a:r>
                  <a:rPr lang="zh-CN" altLang="en-US" dirty="0"/>
                  <a:t>，就变成了</a:t>
                </a:r>
                <a:r>
                  <a:rPr lang="en-US" altLang="zh-CN" dirty="0"/>
                  <a:t>self-attention</a:t>
                </a:r>
                <a:r>
                  <a:rPr lang="zh-CN" altLang="en-US" dirty="0"/>
                  <a:t>（自注意力）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Attention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 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B1D1B9-2289-8A79-4F01-EA9A9A3B9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02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CE386-AC29-84DB-04D3-84B459D4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看小猫，它好可爱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35EDBC-8B7D-B2A7-B5C9-1621B99E29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把这个句子里的每个词转化为词嵌入向量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看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 小猫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，它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 好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 可爱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每个词嵌入向量经过矩阵运算得到</a:t>
                </a:r>
                <a:r>
                  <a:rPr lang="en-US" altLang="zh-CN" dirty="0"/>
                  <a:t>Q,K,V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35EDBC-8B7D-B2A7-B5C9-1621B99E2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3CB08D96-BF28-560E-3C5C-28DD6A1AD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370" y="3429000"/>
            <a:ext cx="5127185" cy="28959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F477E2-D1EC-047B-1D18-5C54F96D0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93" y="3393437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70F40-EA20-E0CC-0829-955D647A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看小猫，它好可爱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BC23DD-D996-D25F-7915-76A366324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 Query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“我要找什么信息”</a:t>
            </a:r>
            <a:endParaRPr lang="en-US" altLang="zh-CN" dirty="0"/>
          </a:p>
          <a:p>
            <a:r>
              <a:rPr lang="en-US" altLang="zh-CN" dirty="0"/>
              <a:t>K Key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“我有什么信息”</a:t>
            </a:r>
            <a:endParaRPr lang="en-US" altLang="zh-CN" dirty="0"/>
          </a:p>
          <a:p>
            <a:r>
              <a:rPr lang="en-US" altLang="zh-CN" dirty="0"/>
              <a:t>V Value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“我能提供的具体内容”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0F2B5C-67CF-9C15-B32B-9DF364BFC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69" y="2085975"/>
            <a:ext cx="35242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7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A7891-1A15-CCCE-6CA3-6EA03749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看小猫，它好可爱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C1B50B-9546-8F45-C73A-7916A90A6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501487" cy="475428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为例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Attention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 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CN" altLang="en-US" dirty="0"/>
              </a:p>
              <a:p>
                <a:r>
                  <a:rPr lang="zh-CN" altLang="en-US" b="0" dirty="0"/>
                  <a:t>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b="0" dirty="0"/>
                  <a:t>所有词的</a:t>
                </a:r>
                <a:r>
                  <a:rPr lang="en-US" altLang="zh-CN" b="0" dirty="0"/>
                  <a:t>K</a:t>
                </a:r>
                <a:r>
                  <a:rPr lang="zh-CN" altLang="en-US" dirty="0"/>
                  <a:t>分别做内积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&lt;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b="0" dirty="0"/>
                  <a:t>&gt;=7,&lt;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="0" dirty="0"/>
                  <a:t>&gt;=5,&lt;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b="0" dirty="0"/>
                  <a:t>&gt;=4,&lt;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b="0" dirty="0"/>
                  <a:t>&gt;=9,&lt;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b="0" dirty="0"/>
                  <a:t>&gt;=11</a:t>
                </a:r>
              </a:p>
              <a:p>
                <a:r>
                  <a:rPr lang="zh-CN" altLang="en-US" dirty="0"/>
                  <a:t>把得到的这些关注度的值除以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再</a:t>
                </a:r>
                <a:r>
                  <a:rPr lang="en-US" altLang="zh-CN" b="0" dirty="0" err="1"/>
                  <a:t>softmax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得到</a:t>
                </a:r>
                <a:r>
                  <a:rPr lang="en-US" altLang="zh-CN" b="0" dirty="0"/>
                  <a:t>0.04,0.01,0.02,0.1,0.85</a:t>
                </a:r>
              </a:p>
              <a:p>
                <a:r>
                  <a:rPr lang="en-US" altLang="zh-CN" dirty="0"/>
                  <a:t>Attention=</a:t>
                </a:r>
                <a:r>
                  <a:rPr lang="en-US" altLang="zh-CN" b="0" dirty="0"/>
                  <a:t> 0.04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b="0" dirty="0"/>
                  <a:t>+0.01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="0" dirty="0"/>
                  <a:t>+0.02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0" dirty="0"/>
                  <a:t>+0.1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0" dirty="0"/>
                  <a:t>+0.85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C1B50B-9546-8F45-C73A-7916A90A6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501487" cy="4754284"/>
              </a:xfrm>
              <a:blipFill>
                <a:blip r:embed="rId2"/>
                <a:stretch>
                  <a:fillRect l="-901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AE49A44-EDD4-217C-3243-1044BF428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797" y="203152"/>
            <a:ext cx="3987538" cy="22522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91FA79-62C8-84A2-5678-F27B48E45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02" y="4402628"/>
            <a:ext cx="2541433" cy="165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4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D6708-48F0-3127-8129-F5CC76B5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看小猫，它好可爱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B72F9F-A10A-E4D0-5A3F-F969DC237F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621550"/>
              </a:xfrm>
            </p:spPr>
            <p:txBody>
              <a:bodyPr/>
              <a:lstStyle/>
              <a:p>
                <a:r>
                  <a:rPr lang="en-US" altLang="zh-CN" dirty="0" err="1"/>
                  <a:t>Softmax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zh-CN" altLang="en-US" dirty="0"/>
                  <a:t>能够将一个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维向量“压缩”到另一个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维实向量中，每一个元素的范围都在</a:t>
                </a:r>
                <a:r>
                  <a:rPr lang="en-US" altLang="zh-CN" dirty="0"/>
                  <a:t>(0,1)</a:t>
                </a:r>
                <a:r>
                  <a:rPr lang="zh-CN" altLang="en-US" dirty="0"/>
                  <a:t>之间，并且所有元素的和为</a:t>
                </a:r>
                <a:r>
                  <a:rPr lang="en-US" altLang="zh-CN" dirty="0"/>
                  <a:t>1</a:t>
                </a:r>
              </a:p>
              <a:p>
                <a:r>
                  <a:rPr lang="zh-CN" altLang="en-US" dirty="0"/>
                  <a:t>为什么要除以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en-US" dirty="0"/>
                  <a:t>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我们反正要</a:t>
                </a:r>
                <a:r>
                  <a:rPr lang="en-US" altLang="zh-CN" dirty="0" err="1"/>
                  <a:t>softmax</a:t>
                </a:r>
                <a:r>
                  <a:rPr lang="zh-CN" altLang="en-US" dirty="0"/>
                  <a:t>，反正要压缩，为什么还要除以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en-US" dirty="0"/>
                  <a:t>？</a:t>
                </a:r>
                <a:endParaRPr lang="en-US" altLang="zh-CN" dirty="0"/>
              </a:p>
              <a:p>
                <a:r>
                  <a:rPr lang="zh-CN" altLang="en-US" dirty="0"/>
                  <a:t>原因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某个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太大</m:t>
                    </m:r>
                  </m:oMath>
                </a14:m>
                <a:r>
                  <a:rPr lang="zh-CN" altLang="en-US" dirty="0"/>
                  <a:t>，它的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dirty="0"/>
                  <a:t>会碾压其他项，使得自己的</a:t>
                </a:r>
                <a:r>
                  <a:rPr lang="en-US" altLang="zh-CN" dirty="0" err="1"/>
                  <a:t>softmax</a:t>
                </a:r>
                <a:r>
                  <a:rPr lang="zh-CN" altLang="en-US" dirty="0"/>
                  <a:t>权重几乎为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； </a:t>
                </a:r>
                <a:r>
                  <a:rPr lang="en-US" altLang="zh-CN" dirty="0" err="1"/>
                  <a:t>Softmax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在大输入时的梯度会趋近于 </a:t>
                </a:r>
                <a:r>
                  <a:rPr lang="en-US" altLang="zh-CN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zh-CN" altLang="en-US" dirty="0"/>
                  <a:t>除以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en-US" dirty="0"/>
                  <a:t>本质是归一化其方差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B72F9F-A10A-E4D0-5A3F-F969DC237F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621550"/>
              </a:xfrm>
              <a:blipFill>
                <a:blip r:embed="rId2"/>
                <a:stretch>
                  <a:fillRect l="-1217" t="-1950" r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10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584C7-A575-EC89-9D0C-00019616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r>
              <a:rPr lang="zh-CN" altLang="en-US" dirty="0"/>
              <a:t>就是这样学习上下文的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47EB0-8363-B9DA-2DFC-B92C41B2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1992"/>
          </a:xfrm>
        </p:spPr>
        <p:txBody>
          <a:bodyPr>
            <a:normAutofit/>
          </a:bodyPr>
          <a:lstStyle/>
          <a:p>
            <a:r>
              <a:rPr lang="zh-CN" altLang="en-US" dirty="0"/>
              <a:t>第一步：每个词先当</a:t>
            </a:r>
            <a:r>
              <a:rPr lang="en-US" altLang="zh-CN" dirty="0"/>
              <a:t>Query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“我要找什么信息？”</a:t>
            </a:r>
            <a:endParaRPr lang="en-US" altLang="zh-CN" dirty="0"/>
          </a:p>
          <a:p>
            <a:r>
              <a:rPr lang="zh-CN" altLang="en-US" dirty="0"/>
              <a:t>第二步：求该词的</a:t>
            </a:r>
            <a:r>
              <a:rPr lang="en-US" altLang="zh-CN" dirty="0"/>
              <a:t>Query</a:t>
            </a:r>
            <a:r>
              <a:rPr lang="zh-CN" altLang="en-US" dirty="0"/>
              <a:t>与所有词的</a:t>
            </a:r>
            <a:r>
              <a:rPr lang="en-US" altLang="zh-CN" dirty="0"/>
              <a:t>key</a:t>
            </a:r>
            <a:r>
              <a:rPr lang="zh-CN" altLang="en-US" dirty="0"/>
              <a:t>的内积（关注度）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“谁最和我相关？”（“我要找的是谁？”）</a:t>
            </a:r>
            <a:endParaRPr lang="en-US" altLang="zh-CN" dirty="0"/>
          </a:p>
          <a:p>
            <a:r>
              <a:rPr lang="zh-CN" altLang="en-US" dirty="0"/>
              <a:t>第三步：关注度转化为权重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相关程度具体占多少</a:t>
            </a:r>
            <a:endParaRPr lang="en-US" altLang="zh-CN" dirty="0"/>
          </a:p>
          <a:p>
            <a:r>
              <a:rPr lang="zh-CN" altLang="en-US" dirty="0"/>
              <a:t>第四步：用权重对每个词的</a:t>
            </a:r>
            <a:r>
              <a:rPr lang="en-US" altLang="zh-CN" dirty="0"/>
              <a:t>Value</a:t>
            </a:r>
            <a:r>
              <a:rPr lang="zh-CN" altLang="en-US" dirty="0"/>
              <a:t>加权求和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学到上下文信息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E81E86-EEED-9874-04ED-5C839BD59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181" y="3823447"/>
            <a:ext cx="35242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1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8216C-4D55-4042-8A17-1B56EF22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Attention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EE8791-822C-7EA9-3DBB-CCD5378B1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用多个独立的‘小注意力模块’（</a:t>
                </a:r>
                <a:r>
                  <a:rPr lang="zh-CN" altLang="en-US" b="1" dirty="0"/>
                  <a:t>头</a:t>
                </a:r>
                <a:r>
                  <a:rPr lang="zh-CN" altLang="en-US" dirty="0"/>
                  <a:t>）分别学不同的上下文关系，再把这些关系拼起来融合成全面的上下文表示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这是第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attention</a:t>
                </a:r>
                <a:r>
                  <a:rPr lang="zh-CN" altLang="en-US" dirty="0"/>
                  <a:t>头</a:t>
                </a:r>
                <a:endParaRPr lang="en-US" altLang="zh-CN" dirty="0"/>
              </a:p>
              <a:p>
                <a:r>
                  <a:rPr lang="zh-CN" altLang="en-US" b="0" dirty="0"/>
                  <a:t>接下来我们把</a:t>
                </a:r>
                <a:r>
                  <a:rPr lang="en-US" altLang="zh-CN" b="0" dirty="0"/>
                  <a:t>h</a:t>
                </a:r>
                <a:r>
                  <a:rPr lang="zh-CN" altLang="en-US" b="0" dirty="0"/>
                  <a:t>个</a:t>
                </a:r>
                <a:r>
                  <a:rPr lang="en-US" altLang="zh-CN" b="0" dirty="0"/>
                  <a:t>attention</a:t>
                </a:r>
                <a:r>
                  <a:rPr lang="zh-CN" altLang="en-US" b="0" dirty="0"/>
                  <a:t>头拼接在一起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𝑐𝑜𝑛𝑐𝑎𝑐𝑡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zh-CN" altLang="en-US" b="0" dirty="0"/>
                  <a:t>是最终的一步线性映射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EE8791-822C-7EA9-3DBB-CCD5378B1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23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C09D254-5558-B529-8FA1-341989FD79E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906735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我们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刚才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做的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实际上是</m:t>
                      </m:r>
                    </m:oMath>
                  </m:oMathPara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b="0" dirty="0"/>
                  <a:t>的第一步</a:t>
                </a:r>
                <a:br>
                  <a:rPr lang="en-US" altLang="zh-CN" b="0" dirty="0"/>
                </a:br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C09D254-5558-B529-8FA1-341989FD7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90673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61813C-E112-F99D-CE0E-687EAD3F5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Google</a:t>
                </a:r>
                <a:r>
                  <a:rPr lang="zh-CN" altLang="en-US" dirty="0"/>
                  <a:t>所用的其实也是</a:t>
                </a:r>
                <a:r>
                  <a:rPr lang="en-US" altLang="zh-CN" dirty="0"/>
                  <a:t>Self Multi-Head Attention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论文也表明了</a:t>
                </a:r>
                <a:r>
                  <a:rPr lang="en-US" altLang="zh-CN" dirty="0"/>
                  <a:t>self-attention</a:t>
                </a:r>
                <a:r>
                  <a:rPr lang="zh-CN" altLang="en-US" dirty="0"/>
                  <a:t>在机器翻译（甚至是一般的</a:t>
                </a:r>
                <a:r>
                  <a:rPr lang="en-US" altLang="zh-CN" dirty="0"/>
                  <a:t>Seq2Seq</a:t>
                </a:r>
                <a:r>
                  <a:rPr lang="zh-CN" altLang="en-US" dirty="0"/>
                  <a:t>任务）的序列编码上是相当重要的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61813C-E112-F99D-CE0E-687EAD3F5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48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857</Words>
  <Application>Microsoft Office PowerPoint</Application>
  <PresentationFormat>宽屏</PresentationFormat>
  <Paragraphs>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Cambria Math</vt:lpstr>
      <vt:lpstr>Office 主题​​</vt:lpstr>
      <vt:lpstr>Attention从入门到精通</vt:lpstr>
      <vt:lpstr>完全理解三个内容</vt:lpstr>
      <vt:lpstr>NLP的几项任务</vt:lpstr>
      <vt:lpstr>Encoder部门的三个员工</vt:lpstr>
      <vt:lpstr>RNN</vt:lpstr>
      <vt:lpstr>CNN</vt:lpstr>
      <vt:lpstr>Attention</vt:lpstr>
      <vt:lpstr>看小猫，它好可爱</vt:lpstr>
      <vt:lpstr>看小猫，它好可爱</vt:lpstr>
      <vt:lpstr>看小猫，它好可爱</vt:lpstr>
      <vt:lpstr>看小猫，它好可爱</vt:lpstr>
      <vt:lpstr>Attention就是这样学习上下文的</vt:lpstr>
      <vt:lpstr>Multi-Head Attention</vt:lpstr>
      <vt:lpstr>我们刚才做的实际上是 Y=MultiHead(X,X,X)的第一步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2</cp:revision>
  <dcterms:created xsi:type="dcterms:W3CDTF">2025-09-16T01:55:18Z</dcterms:created>
  <dcterms:modified xsi:type="dcterms:W3CDTF">2025-09-16T07:37:23Z</dcterms:modified>
</cp:coreProperties>
</file>