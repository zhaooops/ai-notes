
<file path=[Content_Types].xml><?xml version="1.0" encoding="utf-8"?>
<Types xmlns="http://schemas.openxmlformats.org/package/2006/content-types">
  <Default Extension="gif" ContentType="image/gif"/>
  <Default Extension="jfif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0CB20-72D1-9B03-8B37-649E2CDCA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8F8D83-D2C8-3427-ABBD-9704803E0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CE49B9-4C25-8D91-1E4E-623081ED4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6371-7449-426A-A57B-A3BB9C799FE3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EFE2AF-7390-C773-D86D-F29C0742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3E3232-F236-5530-8970-EBADCA6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B8EB-C67D-45E8-A7F4-630F612C1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22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F6B71-470C-4DEF-F163-FE452D3E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C85424-3BEC-8C81-F882-192225295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370F60-FA1E-FD87-F94D-643F302F0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6371-7449-426A-A57B-A3BB9C799FE3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0D2AC1-F414-B879-A29B-35D0581A3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9F811B-65DE-636E-7E0D-5665302E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B8EB-C67D-45E8-A7F4-630F612C1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29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22831-A4FE-AA94-FCAE-7FFE52D4B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F6DC56-BC4E-8243-C819-C5A43AD24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433CD7-CA9B-03BB-34C0-2776EEA73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6371-7449-426A-A57B-A3BB9C799FE3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1C8790-7B8E-21B9-EF33-8FE03AE7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A7136C-1B69-ADE3-D57B-A246FDBE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B8EB-C67D-45E8-A7F4-630F612C1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595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49312-952B-9B5A-AAEA-43837221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B47E49-930A-1FF4-DB47-FEF1AD23E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EAD171-5E67-40EF-4EDA-34AD00C07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C99FC4-360D-076A-C10F-B2EB1070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6371-7449-426A-A57B-A3BB9C799FE3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5A7F97-D041-A72C-436E-E215FBC1D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70DBFD-48D2-ED5F-2867-55193D2C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B8EB-C67D-45E8-A7F4-630F612C1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76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0998E-FB63-2207-6DB8-425408CA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DAF1E9-E4F9-DB53-9D11-403D4F1F1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E0425E-C62D-7317-3619-ADE0001E5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0C1512-85FB-1117-1B52-7CAF6E06F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B7EA006-7E79-9AF7-F80F-85625CA07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C07F43-3C54-63F9-8814-CED698240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6371-7449-426A-A57B-A3BB9C799FE3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045AC88-8E5F-5B38-AC0C-CF01B422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E63B0B-FA78-DA53-E3A2-51E52740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B8EB-C67D-45E8-A7F4-630F612C1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53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BB407-D89E-CC10-73F3-E23A8E656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9F87F4-3068-2758-521D-2F144132F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6371-7449-426A-A57B-A3BB9C799FE3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D0083F-DF69-4E82-7CF7-BCDD289F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5A19F5-E8BF-4DC0-A479-7791CF689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B8EB-C67D-45E8-A7F4-630F612C1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45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CFF0B3-EC94-5CA3-E299-D4F55BC2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6371-7449-426A-A57B-A3BB9C799FE3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B995B42-1065-F50E-43FD-542912AB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053013-5F80-24B3-CAA8-C5EC7EF3E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B8EB-C67D-45E8-A7F4-630F612C1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97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A487A-D69C-F977-FED0-E45B9A83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D535F4-522D-791F-C26C-2F6CE7F9F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884FF7-2373-AA79-2960-2F65B5E69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6E7F1C-FF8B-2523-1185-6F9A16A67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6371-7449-426A-A57B-A3BB9C799FE3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3FBDEF-DD47-7EFE-6D02-6B915D7C0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085933-61D1-0608-97DB-8930C7D2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B8EB-C67D-45E8-A7F4-630F612C1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948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B809E-37ED-2783-A40A-502B7A8AF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7299F1F-6F93-C002-554F-A535B99D1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E00F1C-0218-40CE-6C8C-2F5A02843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8B24DE-F0FD-A1FA-8674-388F6801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6371-7449-426A-A57B-A3BB9C799FE3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C9297A-9D5C-DF8A-5891-31D611AA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054131-7EA3-A31B-3BC4-33AF980A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B8EB-C67D-45E8-A7F4-630F612C1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49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2E9CBD-0B21-D786-31C5-367DBBF4D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00AD12-1004-EEB0-5335-EB1BED6A2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A56706-C570-2D0D-DF0D-297644222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6371-7449-426A-A57B-A3BB9C799FE3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46196C-7577-5A85-DC11-524A9718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9DC98D-533B-DCAC-E33A-6B98F764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B8EB-C67D-45E8-A7F4-630F612C1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35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925338-2187-52A6-CFC7-9AE89FBDD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4C134A-DA34-F369-FB03-2160DD546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D69683-2179-7A7A-14EF-8FE9FCBB3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76371-7449-426A-A57B-A3BB9C799FE3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BE9770-002D-EABE-F4D6-82880B03D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03A983-9C35-284D-1332-ED7786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BB8EB-C67D-45E8-A7F4-630F612C1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281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F4FA27-710E-622F-4017-44D594195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6A0BAD-C0BD-77EC-12F6-32785C07F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012E89-A2A0-2588-88BE-AEE766E981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76371-7449-426A-A57B-A3BB9C799FE3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1F30E2-627F-65F7-025D-3F873B22E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1D3462-411A-3628-1D71-027412CF1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BB8EB-C67D-45E8-A7F4-630F612C16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51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f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19AE6-84CA-1BDA-2896-E1BD6EA69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5713" y="2479251"/>
            <a:ext cx="12503426" cy="1899498"/>
          </a:xfrm>
        </p:spPr>
        <p:txBody>
          <a:bodyPr>
            <a:noAutofit/>
          </a:bodyPr>
          <a:lstStyle/>
          <a:p>
            <a:r>
              <a:rPr lang="zh-CN" altLang="en-US" sz="5400" dirty="0"/>
              <a:t>从</a:t>
            </a:r>
            <a:r>
              <a:rPr lang="en-US" altLang="zh-CN" sz="5400" dirty="0"/>
              <a:t>NSA</a:t>
            </a:r>
            <a:r>
              <a:rPr lang="zh-CN" altLang="en-US" sz="5400" dirty="0"/>
              <a:t>出发，到任何地方</a:t>
            </a:r>
            <a:br>
              <a:rPr lang="en-US" altLang="zh-CN" sz="6600" dirty="0"/>
            </a:br>
            <a:r>
              <a:rPr lang="en-US" altLang="zh-CN" sz="8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Native Sparse Attention</a:t>
            </a:r>
            <a:endParaRPr lang="zh-CN" altLang="en-US" sz="80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083D0F-D22E-6F5C-BBFC-F5A5B9460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0578" y="4378749"/>
            <a:ext cx="9144000" cy="1655762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9B4F3DC-357E-B3C3-ACFB-F81B9EDE7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94" y="443060"/>
            <a:ext cx="11480800" cy="8521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B46C0B-4A77-BD3A-0E6B-D5B156499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28" y="1295187"/>
            <a:ext cx="10793331" cy="10097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384CC92-60DF-9EFF-0BF0-694A4D46E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283" y="5016498"/>
            <a:ext cx="2073433" cy="16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966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969AC5-CE4A-DE3B-BB2A-15697C3F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720932-10BC-5653-6977-A0C2D24D2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Native Sparse Attention</a:t>
            </a:r>
            <a:r>
              <a:rPr lang="zh-CN" altLang="en-US" dirty="0"/>
              <a:t>产生的背景</a:t>
            </a:r>
            <a:endParaRPr lang="en-US" altLang="zh-CN" dirty="0"/>
          </a:p>
          <a:p>
            <a:r>
              <a:rPr lang="en-US" altLang="zh-CN" dirty="0"/>
              <a:t>NSA</a:t>
            </a:r>
            <a:r>
              <a:rPr lang="zh-CN" altLang="en-US" dirty="0"/>
              <a:t>的核心思路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第一分支：粗粒度压缩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第二分支：细粒度选择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第三分支：滑动窗口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门控机制</a:t>
            </a:r>
            <a:endParaRPr lang="en-US" altLang="zh-CN" dirty="0"/>
          </a:p>
          <a:p>
            <a:r>
              <a:rPr lang="zh-CN" altLang="en-US" dirty="0"/>
              <a:t>组件均可学习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5C7143-9896-A4A3-BFB5-81A6DE595483}"/>
              </a:ext>
            </a:extLst>
          </p:cNvPr>
          <p:cNvSpPr txBox="1"/>
          <p:nvPr/>
        </p:nvSpPr>
        <p:spPr>
          <a:xfrm>
            <a:off x="4336330" y="230188"/>
            <a:ext cx="3657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感谢粉丝大佬</a:t>
            </a:r>
            <a:endParaRPr lang="en-US" altLang="zh-CN" sz="2800" dirty="0"/>
          </a:p>
          <a:p>
            <a:r>
              <a:rPr lang="zh-CN" altLang="en-US" sz="2800" dirty="0"/>
              <a:t>迷途小白喲</a:t>
            </a:r>
            <a:endParaRPr lang="en-US" altLang="zh-CN" sz="2800" dirty="0"/>
          </a:p>
          <a:p>
            <a:r>
              <a:rPr lang="zh-CN" altLang="en-US" sz="2800" dirty="0"/>
              <a:t>的</a:t>
            </a:r>
            <a:r>
              <a:rPr lang="en-US" altLang="zh-CN" sz="2800" dirty="0"/>
              <a:t>30</a:t>
            </a:r>
            <a:r>
              <a:rPr lang="zh-CN" altLang="en-US" sz="2800" dirty="0"/>
              <a:t>元档包月充电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839DA7-5C8F-1F75-61C9-39DA40A1F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850" y="3322836"/>
            <a:ext cx="2514600" cy="210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6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C5896-A24F-C094-5D11-9DC13B02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Native Sparse Attention</a:t>
            </a:r>
            <a:r>
              <a:rPr lang="zh-CN" altLang="en-US" dirty="0"/>
              <a:t>产生的背景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25E3D9-D9CB-D8F7-112E-E84135463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161" y="5005633"/>
            <a:ext cx="10515600" cy="4351338"/>
          </a:xfrm>
        </p:spPr>
        <p:txBody>
          <a:bodyPr/>
          <a:lstStyle/>
          <a:p>
            <a:r>
              <a:rPr lang="zh-CN" altLang="en-US" dirty="0"/>
              <a:t>既有稀疏注意力的问题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理论快，实际慢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非原生可训练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58F340-4B98-9B65-AEF7-259C2D00F0A9}"/>
              </a:ext>
            </a:extLst>
          </p:cNvPr>
          <p:cNvPicPr>
            <a:picLocks/>
          </p:cNvPicPr>
          <p:nvPr/>
        </p:nvPicPr>
        <p:blipFill>
          <a:blip r:embed="rId2"/>
          <a:srcRect t="1004"/>
          <a:stretch>
            <a:fillRect/>
          </a:stretch>
        </p:blipFill>
        <p:spPr>
          <a:xfrm>
            <a:off x="655163" y="1476262"/>
            <a:ext cx="10881674" cy="13255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B034F89-5D54-BAC8-CD83-AA67A6AE22DE}"/>
              </a:ext>
            </a:extLst>
          </p:cNvPr>
          <p:cNvPicPr>
            <a:picLocks/>
          </p:cNvPicPr>
          <p:nvPr/>
        </p:nvPicPr>
        <p:blipFill>
          <a:blip r:embed="rId3"/>
          <a:srcRect b="3752"/>
          <a:stretch>
            <a:fillRect/>
          </a:stretch>
        </p:blipFill>
        <p:spPr>
          <a:xfrm>
            <a:off x="655162" y="2742908"/>
            <a:ext cx="10881675" cy="22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BA310-74D4-6834-8583-077C23A4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NSA</a:t>
            </a:r>
            <a:r>
              <a:rPr lang="zh-CN" altLang="en-US" dirty="0"/>
              <a:t>的核心思路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756C79-5006-539C-DC73-A88A5E08C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225" y="5624627"/>
            <a:ext cx="10515600" cy="4351338"/>
          </a:xfrm>
        </p:spPr>
        <p:txBody>
          <a:bodyPr/>
          <a:lstStyle/>
          <a:p>
            <a:r>
              <a:rPr lang="zh-CN" altLang="en-US" dirty="0"/>
              <a:t>三个分支模块</a:t>
            </a:r>
            <a:endParaRPr lang="en-US" altLang="zh-CN" dirty="0"/>
          </a:p>
          <a:p>
            <a:r>
              <a:rPr lang="zh-CN" altLang="en-US" dirty="0"/>
              <a:t>门控机制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9F00EF-E3ED-081E-2EE3-B8EA5940B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542098"/>
            <a:ext cx="11353800" cy="10454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B9E45AC-520C-1734-4696-50010ADD6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2587591"/>
            <a:ext cx="11353800" cy="298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8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DB01215-3BD1-0DF7-863F-2C26CCB9C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039" y="2979012"/>
            <a:ext cx="7613921" cy="103879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D673007-AA12-9A52-3EEB-D4605D027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第一分支：粗粒度压缩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EFFBA3-5203-929A-4702-741894C425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9000"/>
                <a:ext cx="11463780" cy="5467546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𝑐𝑚𝑝</m:t>
                        </m:r>
                      </m:sup>
                    </m:sSubSup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b="0" dirty="0"/>
                  <a:t>处理第</a:t>
                </a:r>
                <a:r>
                  <a:rPr lang="en-US" altLang="zh-CN" b="0" dirty="0"/>
                  <a:t>t</a:t>
                </a:r>
                <a:r>
                  <a:rPr lang="zh-CN" altLang="en-US" b="0" dirty="0"/>
                  <a:t>个</a:t>
                </a:r>
                <a:r>
                  <a:rPr lang="en-US" altLang="zh-CN" b="0" dirty="0"/>
                  <a:t>token</a:t>
                </a:r>
                <a:r>
                  <a:rPr lang="zh-CN" altLang="en-US" b="0" dirty="0"/>
                  <a:t>时，所有压缩键组成的集合</a:t>
                </a:r>
                <a:endParaRPr lang="en-US" altLang="zh-CN" b="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𝑐𝑚𝑝</m:t>
                        </m:r>
                      </m:sup>
                    </m:sSubSup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的形状</m:t>
                    </m:r>
                  </m:oMath>
                </a14:m>
                <a:r>
                  <a:rPr lang="zh-CN" altLang="en-US" b="0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en-US" altLang="zh-CN" b="0" dirty="0"/>
                  <a:t>key</a:t>
                </a:r>
                <a:r>
                  <a:rPr lang="zh-CN" altLang="en-US" b="0" dirty="0"/>
                  <a:t>的维度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b="0" dirty="0"/>
                  <a:t>压缩块的数量</a:t>
                </a:r>
                <a:endParaRPr lang="en-US" altLang="zh-CN" b="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𝑐𝑚𝑝</m:t>
                        </m:r>
                      </m:sup>
                    </m:sSubSup>
                  </m:oMath>
                </a14:m>
                <a:r>
                  <a:rPr lang="zh-CN" altLang="en-US" b="0" dirty="0"/>
                  <a:t>可以看成一个表格，每一行是一个维度，每一列是一个压缩块</a:t>
                </a:r>
                <a:endParaRPr lang="en-US" altLang="zh-CN" b="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𝑐𝑚𝑝</m:t>
                        </m:r>
                      </m:sup>
                    </m:sSubSup>
                  </m:oMath>
                </a14:m>
                <a:r>
                  <a:rPr lang="zh-CN" altLang="en-US" b="0" dirty="0"/>
                  <a:t>为压缩函数，输入为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表示从第 </a:t>
                </a:r>
                <a:r>
                  <a:rPr lang="en-US" altLang="zh-CN" dirty="0"/>
                  <a:t>1 </a:t>
                </a:r>
                <a:r>
                  <a:rPr lang="zh-CN" altLang="en-US" dirty="0"/>
                  <a:t>个到第 </a:t>
                </a:r>
                <a:r>
                  <a:rPr lang="en-US" altLang="zh-CN" dirty="0"/>
                  <a:t>t </a:t>
                </a:r>
                <a:r>
                  <a:rPr lang="zh-CN" altLang="en-US" dirty="0"/>
                  <a:t>个 </a:t>
                </a:r>
                <a:r>
                  <a:rPr lang="en-US" altLang="zh-CN" dirty="0"/>
                  <a:t>token </a:t>
                </a:r>
                <a:r>
                  <a:rPr lang="zh-CN" altLang="en-US" dirty="0"/>
                  <a:t>的所有原始键</a:t>
                </a:r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5EFFBA3-5203-929A-4702-741894C425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9000"/>
                <a:ext cx="11463780" cy="546754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89441CC7-57D3-CA20-5928-7C6435AD4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41" y="1469576"/>
            <a:ext cx="11184118" cy="7120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CB09726-581A-6CE2-393C-F60686E19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41" y="2316611"/>
            <a:ext cx="11184118" cy="66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9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5F313-61ED-C038-1001-396F7B143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第一分支：粗粒度压缩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DCA449-610E-1737-003C-7EEA3B4DA5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62220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zh-CN" altLang="en-US" dirty="0"/>
                  <a:t>压缩块的总数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要对前 </a:t>
                </a:r>
                <a:r>
                  <a:rPr lang="en-US" altLang="zh-CN" dirty="0"/>
                  <a:t>t </a:t>
                </a:r>
                <a:r>
                  <a:rPr lang="zh-CN" altLang="en-US" dirty="0"/>
                  <a:t>个 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，按 </a:t>
                </a:r>
                <a:r>
                  <a:rPr lang="en-US" altLang="zh-CN" dirty="0"/>
                  <a:t>l </a:t>
                </a:r>
                <a:r>
                  <a:rPr lang="zh-CN" altLang="en-US" dirty="0"/>
                  <a:t>长度、</a:t>
                </a:r>
                <a:r>
                  <a:rPr lang="en-US" altLang="zh-CN" dirty="0"/>
                  <a:t>d </a:t>
                </a:r>
                <a:r>
                  <a:rPr lang="zh-CN" altLang="en-US" dirty="0"/>
                  <a:t>步长，拆成多少个块来压缩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+1: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zh-CN" altLang="en-US" b="0" dirty="0"/>
                  <a:t>第</a:t>
                </a:r>
                <a:r>
                  <a:rPr lang="en-US" altLang="zh-CN" b="0" dirty="0" err="1"/>
                  <a:t>i</a:t>
                </a:r>
                <a:r>
                  <a:rPr lang="zh-CN" altLang="en-US" b="0" dirty="0"/>
                  <a:t>个块的</a:t>
                </a:r>
                <a:r>
                  <a:rPr lang="en-US" altLang="zh-CN" b="0" dirty="0"/>
                  <a:t>token</a:t>
                </a:r>
                <a:r>
                  <a:rPr lang="zh-CN" altLang="en-US" b="0" dirty="0"/>
                  <a:t>范围</a:t>
                </a:r>
                <a:endParaRPr lang="en-US" altLang="zh-CN" b="0" dirty="0"/>
              </a:p>
              <a:p>
                <a:r>
                  <a:rPr lang="zh-CN" altLang="en-US" dirty="0"/>
                  <a:t>举个例子 取块长度</a:t>
                </a:r>
                <a:r>
                  <a:rPr lang="en-US" altLang="zh-CN" dirty="0"/>
                  <a:t>l=32</a:t>
                </a:r>
                <a:r>
                  <a:rPr lang="zh-CN" altLang="en-US" dirty="0"/>
                  <a:t>，步长</a:t>
                </a:r>
                <a:r>
                  <a:rPr lang="en-US" altLang="zh-CN" dirty="0"/>
                  <a:t>d=16</a:t>
                </a:r>
              </a:p>
              <a:p>
                <a:r>
                  <a:rPr lang="zh-CN" altLang="en-US" b="0" dirty="0"/>
                  <a:t>第</a:t>
                </a:r>
                <a:r>
                  <a:rPr lang="en-US" altLang="zh-CN" b="0" dirty="0"/>
                  <a:t>1000</a:t>
                </a:r>
                <a:r>
                  <a:rPr lang="zh-CN" altLang="en-US" b="0" dirty="0"/>
                  <a:t>个</a:t>
                </a:r>
                <a:r>
                  <a:rPr lang="en-US" altLang="zh-CN" b="0" dirty="0"/>
                  <a:t>token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968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=60.5  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=60</m:t>
                    </m:r>
                  </m:oMath>
                </a14:m>
                <a:endParaRPr lang="en-US" altLang="zh-CN" b="0" dirty="0"/>
              </a:p>
              <a:p>
                <a:r>
                  <a:rPr lang="en-US" altLang="zh-CN" b="0" dirty="0" err="1"/>
                  <a:t>i</a:t>
                </a:r>
                <a:r>
                  <a:rPr lang="en-US" altLang="zh-CN" b="0" dirty="0"/>
                  <a:t>=0,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+1: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即</m:t>
                    </m:r>
                  </m:oMath>
                </a14:m>
                <a:r>
                  <a:rPr lang="en-US" altLang="zh-CN" b="0" dirty="0"/>
                  <a:t>1</a:t>
                </a:r>
                <a:r>
                  <a:rPr lang="zh-CN" altLang="en-US" b="0" dirty="0"/>
                  <a:t>到</a:t>
                </a:r>
                <a:r>
                  <a:rPr lang="en-US" altLang="zh-CN" b="0" dirty="0"/>
                  <a:t>32</a:t>
                </a:r>
                <a:r>
                  <a:rPr lang="zh-CN" altLang="en-US" b="0" dirty="0"/>
                  <a:t>；</a:t>
                </a:r>
                <a:r>
                  <a:rPr lang="en-US" altLang="zh-CN" b="0" dirty="0" err="1"/>
                  <a:t>i</a:t>
                </a:r>
                <a:r>
                  <a:rPr lang="en-US" altLang="zh-CN" b="0" dirty="0"/>
                  <a:t>=1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+1: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b="0" dirty="0"/>
                  <a:t>即</a:t>
                </a:r>
                <a:r>
                  <a:rPr lang="en-US" altLang="zh-CN" b="0" dirty="0"/>
                  <a:t>17</a:t>
                </a:r>
                <a:r>
                  <a:rPr lang="zh-CN" altLang="en-US" b="0" dirty="0"/>
                  <a:t>到</a:t>
                </a:r>
                <a:r>
                  <a:rPr lang="en-US" altLang="zh-CN" b="0" dirty="0"/>
                  <a:t>48</a:t>
                </a:r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DCA449-610E-1737-003C-7EEA3B4DA5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62220"/>
                <a:ext cx="10515600" cy="435133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18118D02-95A0-F87B-3916-B3DF4FADE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12" y="1366193"/>
            <a:ext cx="4745776" cy="11960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ED47918-15BE-D6DF-2611-697249FC92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3113" y="511324"/>
            <a:ext cx="1976883" cy="170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5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8A884-2A96-1880-9BA6-0033A2D97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9CA0F-94A9-350E-967C-BF2CF16A5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第一分支：粗粒度压缩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1BCFF5-1B91-33A0-3EB9-7E58B2D4F8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977232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i="1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/>
                  <a:t>可学习的 </a:t>
                </a:r>
                <a:r>
                  <a:rPr lang="en-US" altLang="zh-CN" dirty="0"/>
                  <a:t>MLP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带块内位置编码</a:t>
                </a:r>
              </a:p>
              <a:p>
                <a:pPr marL="0" indent="0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1BCFF5-1B91-33A0-3EB9-7E58B2D4F8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977232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77C05691-9624-9ABB-2366-127A86D38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12" y="1366193"/>
            <a:ext cx="4745776" cy="11960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92DA002-2558-830D-7826-E787F8802980}"/>
              </a:ext>
            </a:extLst>
          </p:cNvPr>
          <p:cNvPicPr>
            <a:picLocks/>
          </p:cNvPicPr>
          <p:nvPr/>
        </p:nvPicPr>
        <p:blipFill>
          <a:blip r:embed="rId4"/>
          <a:srcRect t="1" b="5716"/>
          <a:stretch>
            <a:fillRect/>
          </a:stretch>
        </p:blipFill>
        <p:spPr>
          <a:xfrm>
            <a:off x="424206" y="2449712"/>
            <a:ext cx="11183332" cy="7176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1A2BCFA-0B5A-5C64-AA8F-3DA08D459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33" y="3167406"/>
            <a:ext cx="11183333" cy="167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95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30B11-E7B8-BC6F-856B-E738510A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第一分支：粗粒度压缩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36A0BA-8205-3B06-0F9B-96236F2922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2468" y="3145377"/>
                <a:ext cx="10515600" cy="4351338"/>
              </a:xfrm>
            </p:spPr>
            <p:txBody>
              <a:bodyPr/>
              <a:lstStyle/>
              <a:p>
                <a:r>
                  <a:rPr lang="zh-CN" altLang="en-US" dirty="0"/>
                  <a:t>第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个块，用可学习的多层感知器，压缩</a:t>
                </a:r>
                <a:r>
                  <a:rPr lang="en-US" altLang="zh-CN" dirty="0"/>
                  <a:t>key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得到一个</a:t>
                </a:r>
                <a14:m>
                  <m:oMath xmlns:m="http://schemas.openxmlformats.org/officeDocument/2006/math">
                    <m:r>
                      <a:rPr lang="el-GR" altLang="zh-CN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𝑖𝑑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+1: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𝑖𝑑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即为第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个块压缩的</a:t>
                </a:r>
                <a:r>
                  <a:rPr lang="en-US" altLang="zh-CN" dirty="0"/>
                  <a:t>key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36A0BA-8205-3B06-0F9B-96236F2922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2468" y="3145377"/>
                <a:ext cx="10515600" cy="4351338"/>
              </a:xfrm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6A5A0988-3074-DAA5-D124-32231C87D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307" y="1781808"/>
            <a:ext cx="7613921" cy="10387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A47559E-823B-71B8-7108-E883D41BA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3924299"/>
            <a:ext cx="2062163" cy="206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0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554436-3761-4119-806F-ADB9461C5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第二分支：细粒度选择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55E97-387C-7B40-BF33-FF90BD14B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6867"/>
            <a:ext cx="10515600" cy="2470095"/>
          </a:xfrm>
        </p:spPr>
        <p:txBody>
          <a:bodyPr/>
          <a:lstStyle/>
          <a:p>
            <a:r>
              <a:rPr lang="zh-CN" altLang="en-US" dirty="0"/>
              <a:t>用第一层的分数，判断哪一粗块值得细挖</a:t>
            </a:r>
            <a:endParaRPr lang="en-US" altLang="zh-CN" dirty="0"/>
          </a:p>
          <a:p>
            <a:r>
              <a:rPr lang="zh-CN" altLang="en-US" dirty="0"/>
              <a:t>找到高分粗块对应的原始 </a:t>
            </a:r>
            <a:r>
              <a:rPr lang="en-US" altLang="zh-CN" dirty="0"/>
              <a:t>token </a:t>
            </a:r>
            <a:r>
              <a:rPr lang="zh-CN" altLang="en-US" dirty="0"/>
              <a:t>范围</a:t>
            </a:r>
          </a:p>
          <a:p>
            <a:r>
              <a:rPr lang="zh-CN" altLang="en-US" dirty="0"/>
              <a:t>细块是大于或等于粗块的</a:t>
            </a:r>
            <a:endParaRPr lang="en-US" altLang="zh-CN" dirty="0"/>
          </a:p>
          <a:p>
            <a:r>
              <a:rPr lang="zh-CN" altLang="en-US" dirty="0"/>
              <a:t>用高分的细块里的</a:t>
            </a:r>
            <a:r>
              <a:rPr lang="en-US" altLang="zh-CN" dirty="0"/>
              <a:t>token</a:t>
            </a:r>
            <a:r>
              <a:rPr lang="zh-CN" altLang="en-US" dirty="0"/>
              <a:t>来计算注意力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BA1A1D-5F86-6D63-D896-F17D40D8B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15" y="1340510"/>
            <a:ext cx="11442570" cy="13909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FCBA16-C64B-4605-24FC-B242118B1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15" y="2787977"/>
            <a:ext cx="11442570" cy="73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1B5A17-6CC2-B1D9-0A3D-EC82E64D2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57" y="1354352"/>
            <a:ext cx="10674285" cy="150342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33DF3DB-CE69-9BF2-EB46-8D15B925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第二分支：细粒度选择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BA8777-E029-90DE-9AD8-0C1EAD6B4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4147794"/>
            <a:ext cx="11275245" cy="3252247"/>
          </a:xfrm>
        </p:spPr>
        <p:txBody>
          <a:bodyPr>
            <a:normAutofit/>
          </a:bodyPr>
          <a:lstStyle/>
          <a:p>
            <a:r>
              <a:rPr lang="zh-CN" altLang="en-US" dirty="0"/>
              <a:t>粗粒度压缩阶段的注意力计算已产生中间注意力分数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可以复用</a:t>
            </a:r>
            <a:endParaRPr lang="en-US" altLang="zh-CN" dirty="0"/>
          </a:p>
          <a:p>
            <a:r>
              <a:rPr lang="zh-CN" altLang="en-US" dirty="0"/>
              <a:t>适配</a:t>
            </a:r>
            <a:r>
              <a:rPr lang="en-US" altLang="zh-CN" dirty="0"/>
              <a:t>GPU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跳着读不如整块读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GPU </a:t>
            </a:r>
            <a:r>
              <a:rPr lang="zh-CN" altLang="en-US" dirty="0"/>
              <a:t>对连续块内存访问的吞吐量远高于随机单个 </a:t>
            </a:r>
            <a:r>
              <a:rPr lang="en-US" altLang="zh-CN" dirty="0"/>
              <a:t>token </a:t>
            </a:r>
            <a:r>
              <a:rPr lang="zh-CN" altLang="en-US" dirty="0"/>
              <a:t>访问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38D3B04-3765-72D8-5AAB-5908C0DC6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56" y="2776796"/>
            <a:ext cx="10674285" cy="130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53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71359-1476-969E-FE76-3DEE24B1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第三分支：滑动窗口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0B0F0E-1A2E-AAF3-BE35-C8DE3901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14539"/>
            <a:ext cx="10515600" cy="2696067"/>
          </a:xfrm>
        </p:spPr>
        <p:txBody>
          <a:bodyPr/>
          <a:lstStyle/>
          <a:p>
            <a:r>
              <a:rPr lang="zh-CN" altLang="en-US" dirty="0"/>
              <a:t>只保留最近的</a:t>
            </a:r>
            <a:r>
              <a:rPr lang="en-US" altLang="zh-CN" dirty="0"/>
              <a:t>w</a:t>
            </a:r>
            <a:r>
              <a:rPr lang="zh-CN" altLang="en-US" dirty="0"/>
              <a:t>个</a:t>
            </a:r>
            <a:r>
              <a:rPr lang="en-US" altLang="zh-CN" dirty="0"/>
              <a:t>token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文中取的是</a:t>
            </a:r>
            <a:r>
              <a:rPr lang="en-US" altLang="zh-CN" dirty="0"/>
              <a:t>512</a:t>
            </a:r>
          </a:p>
          <a:p>
            <a:r>
              <a:rPr lang="zh-CN" altLang="en-US" dirty="0"/>
              <a:t>给滑动窗口层独立的 </a:t>
            </a:r>
            <a:r>
              <a:rPr lang="en-US" altLang="zh-CN" dirty="0"/>
              <a:t>KV </a:t>
            </a:r>
            <a:r>
              <a:rPr lang="zh-CN" altLang="en-US" dirty="0"/>
              <a:t>缓存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防止交叉影响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DFBA82-8AA1-10C1-CB15-24C4EBFCC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445825"/>
            <a:ext cx="11353800" cy="167455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51F93C7-D31A-3757-C242-36A3F1039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637" y="3583186"/>
            <a:ext cx="2024063" cy="195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03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2332A-7A10-F677-FD74-E1D63FA3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门控机制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CF1D00-33C8-4C54-14D4-E82E86C70D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25783"/>
                <a:ext cx="10515600" cy="3751179"/>
              </a:xfrm>
            </p:spPr>
            <p:txBody>
              <a:bodyPr/>
              <a:lstStyle/>
              <a:p>
                <a:r>
                  <a:rPr lang="zh-CN" altLang="en-US" dirty="0"/>
                  <a:t>用上述公式合并三个分支的结果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三个分支的计算结果求加权平均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zh-CN" altLang="en-US" i="1">
                        <a:latin typeface="Cambria Math" panose="02040503050406030204" pitchFamily="18" charset="0"/>
                      </a:rPr>
                      <m:t>即为</m:t>
                    </m:r>
                  </m:oMath>
                </a14:m>
                <a:r>
                  <a:rPr lang="zh-CN" altLang="en-US" b="0" dirty="0"/>
                  <a:t>门控分数</a:t>
                </a:r>
                <a:endParaRPr lang="en-US" altLang="zh-CN" b="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lang="zh-CN" altLang="en-US" b="0" dirty="0"/>
                  <a:t>如何计算？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MLP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sigmoid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CF1D00-33C8-4C54-14D4-E82E86C70D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25783"/>
                <a:ext cx="10515600" cy="3751179"/>
              </a:xfrm>
              <a:blipFill>
                <a:blip r:embed="rId2"/>
                <a:stretch>
                  <a:fillRect l="-1043" t="-30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98C87DE-5038-F3A3-D036-2EA7A0573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312" y="1225466"/>
            <a:ext cx="4477375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2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D33A3-DDB3-43AE-8C69-414F02531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组件均可学习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F9E6EC-CD25-F429-46E4-2D68386E5B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6017476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过往的稀疏注意力存在的问题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dirty="0" err="1"/>
                  <a:t>Openai</a:t>
                </a:r>
                <a:r>
                  <a:rPr lang="zh-CN" altLang="en-US" dirty="0"/>
                  <a:t>的稀疏注意力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无任何可学习组件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NSA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压缩层的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zh-CN" altLang="en-US" dirty="0"/>
                  <a:t>是可学的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选择层的分数是可学的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门控层的权重是可学的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支持梯度回传来不断调整参数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8F9E6EC-CD25-F429-46E4-2D68386E5B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6017476"/>
              </a:xfrm>
              <a:blipFill>
                <a:blip r:embed="rId2"/>
                <a:stretch>
                  <a:fillRect l="-1043" t="-18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EE94AF9-C949-B71E-07CA-05BE10FD5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1" y="2271712"/>
            <a:ext cx="225361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9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577</Words>
  <Application>Microsoft Office PowerPoint</Application>
  <PresentationFormat>宽屏</PresentationFormat>
  <Paragraphs>81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Arial Unicode MS</vt:lpstr>
      <vt:lpstr>等线</vt:lpstr>
      <vt:lpstr>等线 Light</vt:lpstr>
      <vt:lpstr>Arial</vt:lpstr>
      <vt:lpstr>Cambria Math</vt:lpstr>
      <vt:lpstr>Office 主题​​</vt:lpstr>
      <vt:lpstr>从NSA出发，到任何地方 Native Sparse Attention</vt:lpstr>
      <vt:lpstr>主要内容</vt:lpstr>
      <vt:lpstr>Native Sparse Attention产生的背景</vt:lpstr>
      <vt:lpstr>NSA的核心思路</vt:lpstr>
      <vt:lpstr>第一分支：粗粒度压缩</vt:lpstr>
      <vt:lpstr>第一分支：粗粒度压缩</vt:lpstr>
      <vt:lpstr>第一分支：粗粒度压缩</vt:lpstr>
      <vt:lpstr>第一分支：粗粒度压缩</vt:lpstr>
      <vt:lpstr>第二分支：细粒度选择</vt:lpstr>
      <vt:lpstr>第二分支：细粒度选择</vt:lpstr>
      <vt:lpstr>第三分支：滑动窗口</vt:lpstr>
      <vt:lpstr>门控机制</vt:lpstr>
      <vt:lpstr>组件均可学习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3</cp:revision>
  <dcterms:created xsi:type="dcterms:W3CDTF">2025-10-13T06:28:51Z</dcterms:created>
  <dcterms:modified xsi:type="dcterms:W3CDTF">2025-10-13T13:04:59Z</dcterms:modified>
</cp:coreProperties>
</file>