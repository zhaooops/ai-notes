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1" r:id="rId11"/>
    <p:sldId id="257" r:id="rId12"/>
    <p:sldId id="263" r:id="rId13"/>
    <p:sldId id="266" r:id="rId14"/>
    <p:sldId id="267" r:id="rId15"/>
    <p:sldId id="259" r:id="rId16"/>
    <p:sldId id="268" r:id="rId17"/>
    <p:sldId id="26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078CF-333E-4782-98D4-0A1BBA9CFC5C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8D73E-285F-46CF-91E3-3ABB932DC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07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0D39B-1C06-9CBD-ED72-0E8110612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CAD613-A0D9-0D41-E600-A5936AF22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F9B3D-B10F-53AD-7B97-8046C51C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ACC8A0-3958-E30C-CB13-B9D1B4E3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91CA9-7829-5E76-6DA1-7EB06110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76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D889B-D968-036D-AE01-A58DA965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736FB8-54F0-5A9B-7F6C-045DF0A97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8B44FA-3F66-ACCD-05FC-575D68FE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52236A-3440-21EB-C733-79B93500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89683E-4B67-0F93-425B-741D0A59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56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D609E5-9E19-F658-9F52-BDC1E217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684AD7-58C7-7EB8-24E3-22D2005FD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5EE47-5C9C-F1FC-2AC5-62CF6D31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11C87-7F9D-AA93-5C13-4EBC50E1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F52D23-12F2-8930-55C3-D973C5C2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95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CE721-E9D9-ED24-49C4-9F69E76D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977AB-75C2-2DA2-F321-A57FBFA86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DD1199-5238-9069-91AF-6B8840B12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9F9BF0-C2DC-C1EC-BE69-2C818EE9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EDDC07-0AC4-9515-AE6B-AC166A25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9CC73-2487-F59C-0DED-6C0B95FB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27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F2664-4C33-E40F-69BF-2C8013D9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B98B6B-FDA4-FAB6-2C37-FC4E7EF0F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D97528-A220-6861-8C1A-C35C4FB5B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9B6D22-2619-8B6C-CA46-7BDE76FAD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3B32BB-DA8A-AB01-F8BF-A0E0CC0D6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CA2B83-49F3-126C-CEFC-AE7FC34D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7E948E-A12D-6CE6-D238-E2B13A1D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BA0A37-FA23-93D7-9462-77FB29B9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45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CD196-30E7-53BF-E38D-0C920C9A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F856DE-ABEF-B38C-008C-A0259CFF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048BD2-61BF-D8B8-7527-C3482F65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D7E08A-B3AB-3B42-41EC-24BCCD09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40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C6734F-AA22-A3E2-319C-F08CB63B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FA21AE-808C-266F-AD8B-AD0AE033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133238-3FE3-01B6-B4FF-2A486D682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00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ECD42-2714-1733-0397-8BE03712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98C9AB-D26A-4DFA-7B0B-BDA0AED4D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F39598-D372-9129-2CC1-2B4532910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35F29-0127-DD7E-9676-649636A1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7FFC52-DEDD-247D-4AAA-65CAE9C3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E45AA6-9A2F-14F5-3BA8-6E0A60D0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2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7AF8F-B15F-A2BC-ED16-72F1CCA4D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CE652F-70D4-DD27-F68A-D00975563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5C454C-6C91-24F0-92ED-97CB96C18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9145C2-3D66-8297-E609-88376217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1F862D-E7E2-3E91-C244-4E8078DA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B441EF-ABEE-EC83-A9A2-CC7C26E6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30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B2FC0-3D42-2165-7AED-DA7CEF48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462C36-7019-3F39-B1F9-0D11276AC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0B4150-4B87-1CE1-F7CD-48A9DE4E0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66908-649D-2CBF-D642-2B2F98669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74B8D2-35CD-BCEE-4277-259826B1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89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A2EFCA-40F3-8694-EAF3-851077FFB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E34EE0-0C78-1B2E-FD36-AE21E8DBE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3C114-3464-D71F-5EB0-95CC2BC28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6891FD-466F-967F-51F3-AEAC4739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095730-4355-5938-E037-E1D00B30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8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66877E-525E-7E8C-C313-1DEFE2663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3E3F75-AE52-C76E-1C66-511F469F3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4DB3D7-20CC-15FD-57BF-F55964734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01F12-5310-4822-93CC-E506C3CA4C5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B4F73-70E0-827A-B5D1-0C4802112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744FAC-0735-7E53-3F4E-77EAE2ADF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D3F05-0EF0-4C70-B878-EFF43768BD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30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D4927D-164C-2320-E292-729562004F33}"/>
              </a:ext>
            </a:extLst>
          </p:cNvPr>
          <p:cNvPicPr>
            <a:picLocks/>
          </p:cNvPicPr>
          <p:nvPr/>
        </p:nvPicPr>
        <p:blipFill>
          <a:blip r:embed="rId2"/>
          <a:srcRect l="21863" t="8247" r="19879" b="66014"/>
          <a:stretch>
            <a:fillRect/>
          </a:stretch>
        </p:blipFill>
        <p:spPr>
          <a:xfrm>
            <a:off x="3012445" y="3758362"/>
            <a:ext cx="6267389" cy="1059168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DAE8B186-9F97-5801-58EB-0420A447E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361" y="419493"/>
            <a:ext cx="11513271" cy="4561328"/>
          </a:xfrm>
        </p:spPr>
        <p:txBody>
          <a:bodyPr>
            <a:normAutofit/>
          </a:bodyPr>
          <a:lstStyle/>
          <a:p>
            <a:r>
              <a:rPr lang="zh-CN" altLang="en-US" sz="8800" dirty="0"/>
              <a:t>论文</a:t>
            </a:r>
            <a:r>
              <a:rPr lang="en-US" altLang="zh-CN" sz="8800" dirty="0"/>
              <a:t>&amp;</a:t>
            </a:r>
            <a:r>
              <a:rPr lang="zh-CN" altLang="en-US" sz="8800" dirty="0"/>
              <a:t>源码浅读</a:t>
            </a:r>
            <a:endParaRPr lang="en-US" altLang="zh-CN" sz="8800" dirty="0"/>
          </a:p>
          <a:p>
            <a:r>
              <a:rPr lang="en-US" altLang="zh-CN" sz="8800" dirty="0" err="1"/>
              <a:t>LoRA</a:t>
            </a:r>
            <a:r>
              <a:rPr lang="zh-CN" altLang="en-US" sz="8800" dirty="0"/>
              <a:t>微调 如何</a:t>
            </a:r>
            <a:r>
              <a:rPr lang="zh-CN" altLang="en-US" sz="8800" b="1" dirty="0"/>
              <a:t>初始化</a:t>
            </a:r>
            <a:endParaRPr lang="en-US" altLang="zh-CN" sz="8800" b="1" dirty="0"/>
          </a:p>
          <a:p>
            <a:r>
              <a:rPr lang="zh-CN" altLang="en-US" sz="2000" dirty="0"/>
              <a:t>东川路第一可爱猫猫虫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B4A20A-C9AB-2579-91CE-3FB151F59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40" y="3149006"/>
            <a:ext cx="2303494" cy="17182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8F5E3E-9B7F-25ED-3C5D-72DB52B2A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288" y="2832946"/>
            <a:ext cx="2034342" cy="20343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265E137-B4B1-B9BE-5D12-2263B625C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867" y="5664164"/>
            <a:ext cx="9288544" cy="10591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15FB4BB-8D28-B7C1-47AD-188B31C59A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687" y="4817530"/>
            <a:ext cx="9696904" cy="8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8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E96DC-FBDE-7335-767C-BB1FB36E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D58623-429B-8901-3F2F-8D92D723B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3138"/>
          </a:xfrm>
        </p:spPr>
        <p:txBody>
          <a:bodyPr/>
          <a:lstStyle/>
          <a:p>
            <a:r>
              <a:rPr lang="en-US" altLang="zh-CN" dirty="0" err="1"/>
              <a:t>LoRA</a:t>
            </a:r>
            <a:r>
              <a:rPr lang="zh-CN" altLang="en-US" dirty="0"/>
              <a:t>原仓库代码的初始化方式</a:t>
            </a:r>
            <a:endParaRPr lang="en-US" altLang="zh-CN" dirty="0"/>
          </a:p>
          <a:p>
            <a:r>
              <a:rPr lang="en-US" altLang="zh-CN" dirty="0"/>
              <a:t>Embedding</a:t>
            </a:r>
            <a:r>
              <a:rPr lang="zh-CN" altLang="en-US" dirty="0"/>
              <a:t>层和</a:t>
            </a:r>
            <a:r>
              <a:rPr lang="en-US" altLang="zh-CN" dirty="0"/>
              <a:t>Linear</a:t>
            </a:r>
            <a:r>
              <a:rPr lang="zh-CN" altLang="en-US" dirty="0"/>
              <a:t>层的不同</a:t>
            </a:r>
            <a:endParaRPr lang="en-US" altLang="zh-CN" dirty="0"/>
          </a:p>
          <a:p>
            <a:r>
              <a:rPr lang="zh-CN" altLang="en-US" dirty="0"/>
              <a:t>可能的原因和解释（便于理解）</a:t>
            </a:r>
            <a:endParaRPr lang="en-US" altLang="zh-CN" dirty="0"/>
          </a:p>
          <a:p>
            <a:r>
              <a:rPr lang="zh-CN" altLang="en-US" dirty="0"/>
              <a:t>一篇仅供参考的论文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LoRA</a:t>
            </a:r>
            <a:r>
              <a:rPr lang="zh-CN" altLang="en-US" dirty="0"/>
              <a:t>没必要太过纠结于初始化的方式，所有初始化最终是结果导向的，不同的数据、任务会有不同的结果，都可以事后解释</a:t>
            </a:r>
          </a:p>
        </p:txBody>
      </p:sp>
    </p:spTree>
    <p:extLst>
      <p:ext uri="{BB962C8B-B14F-4D97-AF65-F5344CB8AC3E}">
        <p14:creationId xmlns:p14="http://schemas.microsoft.com/office/powerpoint/2010/main" val="24851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4C991-AD09-45EE-2A18-9AA115B4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背景：什么是</a:t>
            </a:r>
            <a:r>
              <a:rPr lang="en-US" altLang="zh-CN" dirty="0" err="1"/>
              <a:t>LoRA</a:t>
            </a:r>
            <a:r>
              <a:rPr lang="zh-CN" altLang="en-US" dirty="0"/>
              <a:t>微调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7601BB-BE8F-9E82-8E8D-89B197D07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585" y="2059045"/>
                <a:ext cx="10515600" cy="4351338"/>
              </a:xfrm>
            </p:spPr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对于预训练权重矩阵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b="0" dirty="0"/>
                  <a:t>，</a:t>
                </a:r>
                <a:r>
                  <a:rPr lang="en-US" altLang="zh-CN" b="0" dirty="0" err="1"/>
                  <a:t>LoRA</a:t>
                </a:r>
                <a:r>
                  <a:rPr lang="zh-CN" altLang="en-US" b="0" dirty="0"/>
                  <a:t>通过把增量权重矩阵进行低秩分解，分解成两个可训练的低秩矩阵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zh-CN" altLang="en-US" b="0" dirty="0"/>
                  <a:t>为可调常数，用来控制更新幅度</a:t>
                </a:r>
                <a:endParaRPr lang="en-US" altLang="zh-CN" b="0" dirty="0"/>
              </a:p>
              <a:p>
                <a:r>
                  <a:rPr lang="en-US" altLang="zh-CN" b="0" dirty="0"/>
                  <a:t>Init[A]</a:t>
                </a:r>
                <a:r>
                  <a:rPr lang="zh-CN" altLang="en-US" b="0" dirty="0"/>
                  <a:t>：</a:t>
                </a:r>
                <a:r>
                  <a:rPr lang="en-US" altLang="zh-CN" b="0" dirty="0"/>
                  <a:t>B </a:t>
                </a:r>
                <a:r>
                  <a:rPr lang="zh-CN" altLang="en-US" b="0" dirty="0"/>
                  <a:t>矩阵初始化为全零，</a:t>
                </a:r>
                <a:r>
                  <a:rPr lang="en-US" altLang="zh-CN" b="0" dirty="0"/>
                  <a:t>A </a:t>
                </a:r>
                <a:r>
                  <a:rPr lang="zh-CN" altLang="en-US" b="0" dirty="0"/>
                  <a:t>矩阵初始化为随机分布；</a:t>
                </a:r>
              </a:p>
              <a:p>
                <a:r>
                  <a:rPr lang="en-US" altLang="zh-CN" b="0" dirty="0"/>
                  <a:t>Init[B]</a:t>
                </a:r>
                <a:r>
                  <a:rPr lang="zh-CN" altLang="en-US" b="0" dirty="0"/>
                  <a:t>：</a:t>
                </a:r>
                <a:r>
                  <a:rPr lang="en-US" altLang="zh-CN" b="0" dirty="0"/>
                  <a:t>A </a:t>
                </a:r>
                <a:r>
                  <a:rPr lang="zh-CN" altLang="en-US" b="0" dirty="0"/>
                  <a:t>矩阵初始化为全零，</a:t>
                </a:r>
                <a:r>
                  <a:rPr lang="en-US" altLang="zh-CN" b="0" dirty="0"/>
                  <a:t>B </a:t>
                </a:r>
                <a:r>
                  <a:rPr lang="zh-CN" altLang="en-US" b="0" dirty="0"/>
                  <a:t>矩阵初始化为随机分布。</a:t>
                </a:r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7601BB-BE8F-9E82-8E8D-89B197D07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585" y="205904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93B1ED8D-0244-6E72-FB1A-A429EA0B4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66" y="1305272"/>
            <a:ext cx="11419668" cy="174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4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D65EF-D39B-D2EC-E4B1-8E71AB14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</a:t>
            </a:r>
            <a:r>
              <a:rPr lang="zh-CN" altLang="en-US" dirty="0"/>
              <a:t>源码里的初始化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6DBB2B-A877-2762-6A9C-FD96BB44F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Embedding</a:t>
            </a:r>
            <a:r>
              <a:rPr lang="zh-CN" altLang="en-US" dirty="0"/>
              <a:t>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Linear</a:t>
            </a:r>
            <a:r>
              <a:rPr lang="zh-CN" altLang="en-US" dirty="0"/>
              <a:t>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E1CDAB-BC88-774E-B71D-689EAB5EF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605" y="1825625"/>
            <a:ext cx="8936395" cy="20608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6FE880-4BE4-3967-0F73-C7DBBD4DD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72" y="4438622"/>
            <a:ext cx="11156528" cy="24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3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6B7BD-D5F2-A563-0044-984A6660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Embedding</a:t>
            </a:r>
            <a:r>
              <a:rPr lang="zh-CN" altLang="en-US" dirty="0"/>
              <a:t>层和</a:t>
            </a:r>
            <a:r>
              <a:rPr lang="en-US" altLang="zh-CN" dirty="0"/>
              <a:t>Linear</a:t>
            </a:r>
            <a:r>
              <a:rPr lang="zh-CN" altLang="en-US" dirty="0"/>
              <a:t>层的不同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69717C-52CA-5A86-00C4-162D106B0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Embedding</a:t>
            </a:r>
            <a:r>
              <a:rPr lang="zh-CN" altLang="en-US" dirty="0"/>
              <a:t>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A</a:t>
            </a:r>
            <a:r>
              <a:rPr lang="zh-CN" altLang="en-US" dirty="0"/>
              <a:t>全零初始化，</a:t>
            </a:r>
            <a:r>
              <a:rPr lang="en-US" altLang="zh-CN" dirty="0"/>
              <a:t>B</a:t>
            </a:r>
            <a:r>
              <a:rPr lang="zh-CN" altLang="en-US" dirty="0"/>
              <a:t>正态初始化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nn.init.zeros</a:t>
            </a:r>
            <a:r>
              <a:rPr lang="en-US" altLang="zh-CN" dirty="0"/>
              <a:t>_(</a:t>
            </a:r>
            <a:r>
              <a:rPr lang="en-US" altLang="zh-CN" dirty="0" err="1"/>
              <a:t>self.lora_A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     	</a:t>
            </a:r>
            <a:r>
              <a:rPr lang="en-US" altLang="zh-CN" dirty="0" err="1"/>
              <a:t>nn.init.normal</a:t>
            </a:r>
            <a:r>
              <a:rPr lang="en-US" altLang="zh-CN" dirty="0"/>
              <a:t>_(</a:t>
            </a:r>
            <a:r>
              <a:rPr lang="en-US" altLang="zh-CN" dirty="0" err="1"/>
              <a:t>self.lora_B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Linear</a:t>
            </a:r>
            <a:r>
              <a:rPr lang="zh-CN" altLang="en-US" dirty="0"/>
              <a:t>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Akaiming</a:t>
            </a:r>
            <a:r>
              <a:rPr lang="zh-CN" altLang="en-US" dirty="0"/>
              <a:t>初始化，</a:t>
            </a:r>
            <a:r>
              <a:rPr lang="en-US" altLang="zh-CN" dirty="0"/>
              <a:t>B</a:t>
            </a:r>
            <a:r>
              <a:rPr lang="zh-CN" altLang="en-US" dirty="0"/>
              <a:t>全零初始化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nn.init.kaiming_uniform</a:t>
            </a:r>
            <a:r>
              <a:rPr lang="en-US" altLang="zh-CN" dirty="0"/>
              <a:t>_(</a:t>
            </a:r>
            <a:r>
              <a:rPr lang="en-US" altLang="zh-CN" dirty="0" err="1"/>
              <a:t>self.lora_A</a:t>
            </a:r>
            <a:r>
              <a:rPr lang="en-US" altLang="zh-CN" dirty="0"/>
              <a:t>, a=</a:t>
            </a:r>
            <a:r>
              <a:rPr lang="en-US" altLang="zh-CN" dirty="0" err="1"/>
              <a:t>math.sqrt</a:t>
            </a:r>
            <a:r>
              <a:rPr lang="en-US" altLang="zh-CN" dirty="0"/>
              <a:t>(5))</a:t>
            </a:r>
          </a:p>
          <a:p>
            <a:pPr marL="0" indent="0">
              <a:buNone/>
            </a:pPr>
            <a:r>
              <a:rPr lang="en-US" altLang="zh-CN" dirty="0"/>
              <a:t>        	</a:t>
            </a:r>
            <a:r>
              <a:rPr lang="en-US" altLang="zh-CN" dirty="0" err="1"/>
              <a:t>nn.init.zeros</a:t>
            </a:r>
            <a:r>
              <a:rPr lang="en-US" altLang="zh-CN" dirty="0"/>
              <a:t>_(</a:t>
            </a:r>
            <a:r>
              <a:rPr lang="en-US" altLang="zh-CN" dirty="0" err="1"/>
              <a:t>self.lora_B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643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8329A-28C0-D499-461D-F6E276E1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Embedding</a:t>
            </a:r>
            <a:r>
              <a:rPr lang="zh-CN" altLang="en-US" dirty="0"/>
              <a:t>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D7AA1E-18C7-8D3B-751E-37848393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347414"/>
          </a:xfrm>
        </p:spPr>
        <p:txBody>
          <a:bodyPr>
            <a:normAutofit/>
          </a:bodyPr>
          <a:lstStyle/>
          <a:p>
            <a:r>
              <a:rPr lang="zh-CN" altLang="en-US" dirty="0"/>
              <a:t>原</a:t>
            </a:r>
            <a:r>
              <a:rPr lang="en-US" altLang="zh-CN" dirty="0"/>
              <a:t>embedding</a:t>
            </a:r>
            <a:r>
              <a:rPr lang="zh-CN" altLang="en-US" dirty="0"/>
              <a:t>层权重的形状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[</a:t>
            </a:r>
            <a:r>
              <a:rPr lang="en-US" altLang="zh-CN" dirty="0" err="1"/>
              <a:t>num_embeddings,embedding_dim</a:t>
            </a:r>
            <a:r>
              <a:rPr lang="en-US" altLang="zh-CN" dirty="0"/>
              <a:t>]</a:t>
            </a:r>
          </a:p>
          <a:p>
            <a:r>
              <a:rPr lang="zh-CN" altLang="en-US" dirty="0"/>
              <a:t>输入：形状为</a:t>
            </a:r>
            <a:r>
              <a:rPr lang="en-US" altLang="zh-CN" dirty="0"/>
              <a:t>[</a:t>
            </a:r>
            <a:r>
              <a:rPr lang="en-US" altLang="zh-CN" dirty="0" err="1"/>
              <a:t>batch_size,seq_len</a:t>
            </a:r>
            <a:r>
              <a:rPr lang="en-US" altLang="zh-CN" dirty="0"/>
              <a:t>]</a:t>
            </a:r>
            <a:r>
              <a:rPr lang="zh-CN" altLang="en-US" dirty="0"/>
              <a:t>的</a:t>
            </a:r>
            <a:r>
              <a:rPr lang="en-US" altLang="zh-CN" dirty="0"/>
              <a:t>token</a:t>
            </a:r>
            <a:r>
              <a:rPr lang="zh-CN" altLang="en-US" dirty="0"/>
              <a:t>，矩阵每行每列的元素</a:t>
            </a:r>
            <a:r>
              <a:rPr lang="en-US" altLang="zh-CN" dirty="0"/>
              <a:t>	</a:t>
            </a:r>
            <a:r>
              <a:rPr lang="zh-CN" altLang="en-US" dirty="0"/>
              <a:t>都是一个整数索引，表示词表里的一个词</a:t>
            </a:r>
            <a:endParaRPr lang="en-US" altLang="zh-CN" dirty="0"/>
          </a:p>
          <a:p>
            <a:r>
              <a:rPr lang="zh-CN" altLang="en-US" dirty="0"/>
              <a:t>查表后：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每个</a:t>
            </a:r>
            <a:r>
              <a:rPr lang="en-US" altLang="zh-CN" dirty="0"/>
              <a:t>token</a:t>
            </a:r>
            <a:r>
              <a:rPr lang="zh-CN" altLang="en-US" dirty="0"/>
              <a:t>被替换成一个</a:t>
            </a:r>
            <a:r>
              <a:rPr lang="en-US" altLang="zh-CN" dirty="0" err="1"/>
              <a:t>embedding_dim</a:t>
            </a:r>
            <a:r>
              <a:rPr lang="zh-CN" altLang="en-US" dirty="0"/>
              <a:t>维的向量</a:t>
            </a:r>
            <a:endParaRPr lang="en-US" altLang="zh-CN" dirty="0"/>
          </a:p>
          <a:p>
            <a:r>
              <a:rPr lang="zh-CN" altLang="en-US" dirty="0"/>
              <a:t>输出：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变成</a:t>
            </a:r>
            <a:r>
              <a:rPr lang="en-US" altLang="zh-CN" dirty="0"/>
              <a:t>[</a:t>
            </a:r>
            <a:r>
              <a:rPr lang="en-US" altLang="zh-CN" dirty="0" err="1"/>
              <a:t>batch_size,seq_len</a:t>
            </a:r>
            <a:r>
              <a:rPr lang="en-US" altLang="zh-CN" dirty="0"/>
              <a:t>, </a:t>
            </a:r>
            <a:r>
              <a:rPr lang="en-US" altLang="zh-CN" dirty="0" err="1"/>
              <a:t>embedding_dim</a:t>
            </a:r>
            <a:r>
              <a:rPr lang="en-US" altLang="zh-CN" dirty="0"/>
              <a:t>]</a:t>
            </a:r>
            <a:r>
              <a:rPr lang="zh-CN" altLang="en-US" dirty="0"/>
              <a:t>维的张量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7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C2B46-7289-E6F4-3446-42A10D6F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Embedding</a:t>
            </a:r>
            <a:r>
              <a:rPr lang="zh-CN" altLang="en-US" dirty="0"/>
              <a:t>层的</a:t>
            </a:r>
            <a:r>
              <a:rPr lang="en-US" altLang="zh-CN" dirty="0" err="1"/>
              <a:t>LoRA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020E86-4BB2-7AE4-C073-C57BBF111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低秩分解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A </a:t>
            </a:r>
            <a:r>
              <a:rPr lang="zh-CN" altLang="en-US" dirty="0"/>
              <a:t>形状为</a:t>
            </a:r>
            <a:r>
              <a:rPr lang="en-US" altLang="zh-CN" dirty="0"/>
              <a:t>[r, </a:t>
            </a:r>
            <a:r>
              <a:rPr lang="en-US" altLang="zh-CN" dirty="0" err="1"/>
              <a:t>num_embeddings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en-US" altLang="zh-CN" dirty="0"/>
              <a:t>	B </a:t>
            </a:r>
            <a:r>
              <a:rPr lang="zh-CN" altLang="en-US" dirty="0"/>
              <a:t>形状为</a:t>
            </a:r>
            <a:r>
              <a:rPr lang="en-US" altLang="zh-CN" dirty="0"/>
              <a:t>[</a:t>
            </a:r>
            <a:r>
              <a:rPr lang="en-US" altLang="zh-CN" dirty="0" err="1"/>
              <a:t>embedding_dim,r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A </a:t>
            </a:r>
            <a:r>
              <a:rPr lang="zh-CN" altLang="en-US" dirty="0"/>
              <a:t>低秩嵌入表      </a:t>
            </a:r>
            <a:r>
              <a:rPr lang="en-US" altLang="zh-CN" dirty="0"/>
              <a:t>B </a:t>
            </a:r>
            <a:r>
              <a:rPr lang="zh-CN" altLang="en-US" dirty="0"/>
              <a:t>低秩映射回高秩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全零初始化，</a:t>
            </a:r>
            <a:r>
              <a:rPr lang="en-US" altLang="zh-CN" dirty="0"/>
              <a:t>B</a:t>
            </a:r>
            <a:r>
              <a:rPr lang="zh-CN" altLang="en-US" dirty="0"/>
              <a:t>正态初始化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如果反过来，让</a:t>
            </a:r>
            <a:r>
              <a:rPr lang="en-US" altLang="zh-CN" dirty="0"/>
              <a:t>A</a:t>
            </a:r>
            <a:r>
              <a:rPr lang="zh-CN" altLang="en-US" dirty="0"/>
              <a:t>随机初始化，可能的后果</a:t>
            </a:r>
          </a:p>
        </p:txBody>
      </p:sp>
    </p:spTree>
    <p:extLst>
      <p:ext uri="{BB962C8B-B14F-4D97-AF65-F5344CB8AC3E}">
        <p14:creationId xmlns:p14="http://schemas.microsoft.com/office/powerpoint/2010/main" val="249451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4E100-549D-5C65-9B02-998F0DFC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</a:t>
            </a:r>
            <a:r>
              <a:rPr lang="zh-CN" altLang="en-US" dirty="0"/>
              <a:t>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A726EF-6577-8DC9-2842-480AD9A81E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338746"/>
              </a:xfrm>
            </p:spPr>
            <p:txBody>
              <a:bodyPr/>
              <a:lstStyle/>
              <a:p>
                <a:r>
                  <a:rPr lang="zh-CN" altLang="en-US" dirty="0"/>
                  <a:t>原</a:t>
                </a:r>
                <a:r>
                  <a:rPr lang="en-US" altLang="zh-CN" dirty="0"/>
                  <a:t>Linear</a:t>
                </a:r>
                <a:r>
                  <a:rPr lang="zh-CN" altLang="en-US" dirty="0"/>
                  <a:t>层权重的形状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[</a:t>
                </a:r>
                <a:r>
                  <a:rPr lang="en-US" altLang="zh-CN" dirty="0" err="1"/>
                  <a:t>out_features,in_features</a:t>
                </a:r>
                <a:r>
                  <a:rPr lang="en-US" altLang="zh-CN" dirty="0"/>
                  <a:t>]</a:t>
                </a:r>
              </a:p>
              <a:p>
                <a:r>
                  <a:rPr lang="zh-CN" altLang="en-US" dirty="0"/>
                  <a:t>输入：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形状为</a:t>
                </a:r>
                <a:r>
                  <a:rPr lang="en-US" altLang="zh-CN" dirty="0"/>
                  <a:t>[</a:t>
                </a:r>
                <a:r>
                  <a:rPr lang="en-US" altLang="zh-CN" dirty="0" err="1"/>
                  <a:t>batch_size,in_features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的连续向量</a:t>
                </a:r>
                <a:endParaRPr lang="en-US" altLang="zh-CN" dirty="0"/>
              </a:p>
              <a:p>
                <a:r>
                  <a:rPr lang="zh-CN" altLang="en-US" dirty="0"/>
                  <a:t>输出：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形状为</a:t>
                </a:r>
                <a:r>
                  <a:rPr lang="en-US" altLang="zh-CN" dirty="0"/>
                  <a:t>[</a:t>
                </a:r>
                <a:r>
                  <a:rPr lang="en-US" altLang="zh-CN" dirty="0" err="1"/>
                  <a:t>batch_size,out_features</a:t>
                </a:r>
                <a:r>
                  <a:rPr lang="en-US" altLang="zh-CN" dirty="0"/>
                  <a:t>]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A726EF-6577-8DC9-2842-480AD9A81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338746"/>
              </a:xfrm>
              <a:blipFill>
                <a:blip r:embed="rId2"/>
                <a:stretch>
                  <a:fillRect l="-1043" t="-20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32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0521B-A32A-9F02-9C20-44B61C28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</a:t>
            </a:r>
            <a:r>
              <a:rPr lang="zh-CN" altLang="en-US" dirty="0"/>
              <a:t>层的</a:t>
            </a:r>
            <a:r>
              <a:rPr lang="en-US" altLang="zh-CN" dirty="0" err="1"/>
              <a:t>LoRA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4A928E5-91C9-20D8-88B7-ABAB6856C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969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低秩分解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A</a:t>
                </a:r>
                <a:r>
                  <a:rPr lang="zh-CN" altLang="en-US" dirty="0"/>
                  <a:t>形状为</a:t>
                </a:r>
                <a:r>
                  <a:rPr lang="en-US" altLang="zh-CN" dirty="0"/>
                  <a:t>[</a:t>
                </a:r>
                <a:r>
                  <a:rPr lang="en-US" altLang="zh-CN" dirty="0" err="1"/>
                  <a:t>r,in_features</a:t>
                </a:r>
                <a:r>
                  <a:rPr lang="en-US" altLang="zh-CN" dirty="0"/>
                  <a:t>]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B</a:t>
                </a:r>
                <a:r>
                  <a:rPr lang="zh-CN" altLang="en-US" dirty="0"/>
                  <a:t>形状为</a:t>
                </a:r>
                <a:r>
                  <a:rPr lang="en-US" altLang="zh-CN" dirty="0"/>
                  <a:t>[</a:t>
                </a:r>
                <a:r>
                  <a:rPr lang="en-US" altLang="zh-CN" dirty="0" err="1"/>
                  <a:t>out_features,r</a:t>
                </a:r>
                <a:r>
                  <a:rPr lang="en-US" altLang="zh-CN" dirty="0"/>
                  <a:t>]</a:t>
                </a:r>
              </a:p>
              <a:p>
                <a:r>
                  <a:rPr lang="en-US" altLang="zh-CN" dirty="0"/>
                  <a:t>A </a:t>
                </a:r>
                <a:r>
                  <a:rPr lang="en-US" altLang="zh-CN" dirty="0" err="1"/>
                  <a:t>kaiming</a:t>
                </a:r>
                <a:r>
                  <a:rPr lang="zh-CN" altLang="en-US" dirty="0"/>
                  <a:t>初始化，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全零初始化</a:t>
                </a:r>
                <a:endParaRPr lang="en-US" altLang="zh-CN" dirty="0"/>
              </a:p>
              <a:p>
                <a:r>
                  <a:rPr lang="zh-CN" altLang="en-US" dirty="0"/>
                  <a:t>潜在的缺陷：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B</a:t>
                </a:r>
                <a:r>
                  <a:rPr lang="zh-CN" altLang="en-US" dirty="0"/>
                  <a:t>初始全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，梯度近似为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，参数等到第二轮才会开始更新</a:t>
                </a:r>
                <a:endParaRPr lang="en-US" altLang="zh-CN" dirty="0"/>
              </a:p>
              <a:p>
                <a:r>
                  <a:rPr lang="zh-CN" altLang="en-US" dirty="0"/>
                  <a:t>一个解决办法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A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都用非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初始化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事先将预训练权重减去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/>
                  <a:t>即可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4A928E5-91C9-20D8-88B7-ABAB6856C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9699"/>
              </a:xfrm>
              <a:blipFill>
                <a:blip r:embed="rId2"/>
                <a:stretch>
                  <a:fillRect l="-1043" t="-2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025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A8576-08CA-D8C1-6611-D9C16A6E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39FBBE0-7249-F0A2-4158-451E360B1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2802"/>
            <a:ext cx="10515600" cy="407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13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DBC81-9419-90A7-A8A2-A9DD46312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摘要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9F3A695-2C6B-48DF-63C4-55967D78A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747" y="1283736"/>
            <a:ext cx="10118506" cy="54625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9A82DF-1267-A057-10FA-F3152727B493}"/>
              </a:ext>
            </a:extLst>
          </p:cNvPr>
          <p:cNvSpPr txBox="1"/>
          <p:nvPr/>
        </p:nvSpPr>
        <p:spPr>
          <a:xfrm>
            <a:off x="-225287" y="2782669"/>
            <a:ext cx="2126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两种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初始化方法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7F6A10-7AED-6D1D-A763-E76E2834FE55}"/>
              </a:ext>
            </a:extLst>
          </p:cNvPr>
          <p:cNvSpPr txBox="1"/>
          <p:nvPr/>
        </p:nvSpPr>
        <p:spPr>
          <a:xfrm>
            <a:off x="10552043" y="3796748"/>
            <a:ext cx="1580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看起来表现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应该一致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9A6930-9600-DB24-AC32-FD0E8453C280}"/>
              </a:ext>
            </a:extLst>
          </p:cNvPr>
          <p:cNvSpPr txBox="1"/>
          <p:nvPr/>
        </p:nvSpPr>
        <p:spPr>
          <a:xfrm>
            <a:off x="-130866" y="4347611"/>
            <a:ext cx="1938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可是实际上</a:t>
            </a:r>
            <a:endParaRPr lang="en-US" altLang="zh-CN" b="1" dirty="0">
              <a:solidFill>
                <a:srgbClr val="FF0000"/>
              </a:solidFill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优于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E90E7E-FBBB-9D8D-B482-486D1B1B44B3}"/>
              </a:ext>
            </a:extLst>
          </p:cNvPr>
          <p:cNvSpPr txBox="1"/>
          <p:nvPr/>
        </p:nvSpPr>
        <p:spPr>
          <a:xfrm>
            <a:off x="10552043" y="5574264"/>
            <a:ext cx="160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可能的原因</a:t>
            </a:r>
          </a:p>
        </p:txBody>
      </p:sp>
    </p:spTree>
    <p:extLst>
      <p:ext uri="{BB962C8B-B14F-4D97-AF65-F5344CB8AC3E}">
        <p14:creationId xmlns:p14="http://schemas.microsoft.com/office/powerpoint/2010/main" val="175359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36259-ECC2-F9AB-145E-EF64BFC8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本文研究</a:t>
            </a:r>
            <a:r>
              <a:rPr lang="en-US" altLang="zh-CN" dirty="0" err="1"/>
              <a:t>LoRA</a:t>
            </a:r>
            <a:r>
              <a:rPr lang="zh-CN" altLang="en-US" dirty="0"/>
              <a:t>的初始化方法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080FBB-0F56-D831-946F-67C464802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本文的研究聚焦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看起来同样自然的两个初始化选择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通过实验证实一个比另一个好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424686-3624-3C12-6356-0F89C94CB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82" y="1825625"/>
            <a:ext cx="11014435" cy="222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1F807A4-6F9A-C529-ADED-290389C75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0003"/>
            <a:ext cx="10515600" cy="66116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8BDBBF8-FE76-D844-3E2B-E4E31F02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本文贡献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35EB89-69E1-C458-5F3D-C03AB0779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95307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神经网络大宽度理论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通过无穷宽的理想情况，找到超参数的理论最优设置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本文结论：两种初始化导致 “根本不同的训练动态”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F5BBC10-C6B5-A202-9A0C-9DDBAF7465EE}"/>
              </a:ext>
            </a:extLst>
          </p:cNvPr>
          <p:cNvPicPr>
            <a:picLocks/>
          </p:cNvPicPr>
          <p:nvPr/>
        </p:nvPicPr>
        <p:blipFill>
          <a:blip r:embed="rId3"/>
          <a:srcRect t="7356" b="4166"/>
          <a:stretch>
            <a:fillRect/>
          </a:stretch>
        </p:blipFill>
        <p:spPr>
          <a:xfrm>
            <a:off x="838200" y="2993295"/>
            <a:ext cx="10515601" cy="8705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E17F3B3-0615-53C3-BAE1-0576867A3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678116"/>
            <a:ext cx="10515601" cy="172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55DF5-0EC5-4DC9-18B9-06EF281A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本文结论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55D8A-1CBA-1379-0CA7-63F605AEA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FAD779-4898-8FFF-6F61-B91DC7E42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9" y="1690688"/>
            <a:ext cx="11428321" cy="447006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C50426-1F60-84EB-A936-043A1AB067DF}"/>
              </a:ext>
            </a:extLst>
          </p:cNvPr>
          <p:cNvSpPr txBox="1"/>
          <p:nvPr/>
        </p:nvSpPr>
        <p:spPr>
          <a:xfrm>
            <a:off x="4131297" y="130005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结论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1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：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[A]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比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[B]“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允许使用更大的学习率”</a:t>
            </a:r>
            <a:endParaRPr lang="en-US" altLang="zh-CN" b="1" i="0" dirty="0">
              <a:solidFill>
                <a:srgbClr val="FF0000"/>
              </a:solidFill>
              <a:effectLst/>
              <a:latin typeface="Inter"/>
            </a:endParaRPr>
          </a:p>
          <a:p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349662-85CD-A768-AA28-11901CB391BB}"/>
              </a:ext>
            </a:extLst>
          </p:cNvPr>
          <p:cNvSpPr txBox="1"/>
          <p:nvPr/>
        </p:nvSpPr>
        <p:spPr>
          <a:xfrm>
            <a:off x="7668598" y="1946385"/>
            <a:ext cx="4597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[A]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存在 “内部不稳定性”，但能提升特征学习效率，且存在 “特征学习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-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稳定性权衡”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14AD3B-F8B2-594E-C31D-903E06893F17}"/>
              </a:ext>
            </a:extLst>
          </p:cNvPr>
          <p:cNvSpPr txBox="1"/>
          <p:nvPr/>
        </p:nvSpPr>
        <p:spPr>
          <a:xfrm>
            <a:off x="1175208" y="4001294"/>
            <a:ext cx="6146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[B]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无稳定性问题，但训练次优，因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B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矩阵 “训练不足”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BF2AB4-77E4-C7DE-BFC3-0A4EE85249A5}"/>
              </a:ext>
            </a:extLst>
          </p:cNvPr>
          <p:cNvSpPr txBox="1"/>
          <p:nvPr/>
        </p:nvSpPr>
        <p:spPr>
          <a:xfrm>
            <a:off x="4474589" y="5081023"/>
            <a:ext cx="6146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[A]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性能通常优于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[B]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48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770B0-8130-093C-BFE9-F394AF0D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本文结论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03D88-95B8-2F6B-2B21-D7F48646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微调动态对 </a:t>
            </a:r>
            <a:r>
              <a:rPr lang="en-US" altLang="zh-CN" dirty="0" err="1"/>
              <a:t>LoRA</a:t>
            </a:r>
            <a:r>
              <a:rPr lang="en-US" altLang="zh-CN" dirty="0"/>
              <a:t> </a:t>
            </a:r>
            <a:r>
              <a:rPr lang="zh-CN" altLang="en-US" dirty="0"/>
              <a:t>权重的初始化方式高度敏感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两种方案看似 “只是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的初始化顺序相反”，但在大宽度模型中，因学习率上限、特征更新效率的差异，会导致完全不同的训练动态</a:t>
            </a:r>
            <a:endParaRPr lang="en-US" altLang="zh-CN" dirty="0"/>
          </a:p>
          <a:p>
            <a:r>
              <a:rPr lang="en-US" altLang="zh-CN" dirty="0"/>
              <a:t>Init [A] </a:t>
            </a:r>
            <a:r>
              <a:rPr lang="zh-CN" altLang="en-US" dirty="0"/>
              <a:t>对应的最优学习率更大</a:t>
            </a:r>
            <a:endParaRPr lang="en-US" altLang="zh-CN" dirty="0"/>
          </a:p>
          <a:p>
            <a:r>
              <a:rPr lang="zh-CN" altLang="en-US" dirty="0"/>
              <a:t>虽有 “内部不稳定性”，但这种不稳定性是良性的，不会导致输出爆炸，反而能提升特征学习效率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72CD6C-2A3E-5D22-6676-0EAE374E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1" y="1825625"/>
            <a:ext cx="10716157" cy="148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7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18C78-D564-5A3C-F22D-C46E23C8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结论可视化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8609D9-E087-9A3F-EDDE-7B89DC6C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642" y="1341408"/>
            <a:ext cx="8934715" cy="551659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208EAEE-A585-4149-F78D-28B774811741}"/>
              </a:ext>
            </a:extLst>
          </p:cNvPr>
          <p:cNvSpPr txBox="1"/>
          <p:nvPr/>
        </p:nvSpPr>
        <p:spPr>
          <a:xfrm>
            <a:off x="6252329" y="2268390"/>
            <a:ext cx="2458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[A]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能支持的 “最优学习率” 远大于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Inter"/>
              </a:rPr>
              <a:t>Init [B]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117DD4-EF40-B2DD-53AC-31DA08F86318}"/>
              </a:ext>
            </a:extLst>
          </p:cNvPr>
          <p:cNvSpPr txBox="1"/>
          <p:nvPr/>
        </p:nvSpPr>
        <p:spPr>
          <a:xfrm>
            <a:off x="2866455" y="5894653"/>
            <a:ext cx="24014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特征学习更高效，但存在一定不稳定性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2BFFFF-4DF8-2B93-44B2-5BC2CFCA6326}"/>
              </a:ext>
            </a:extLst>
          </p:cNvPr>
          <p:cNvSpPr txBox="1"/>
          <p:nvPr/>
        </p:nvSpPr>
        <p:spPr>
          <a:xfrm>
            <a:off x="5663154" y="584848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更稳定，但特征学习次优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57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BD0C6-CB1B-9D27-9CA5-3B140C11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454C641-B313-DB8A-B50E-AA597F905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初始时</a:t>
            </a:r>
            <a:r>
              <a:rPr lang="en-US" altLang="zh-CN" dirty="0"/>
              <a:t>AB=0</a:t>
            </a:r>
            <a:r>
              <a:rPr lang="zh-CN" altLang="en-US" dirty="0"/>
              <a:t>，模型输出完全由预训练权重决定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以此来保证初始训练稳定</a:t>
            </a:r>
            <a:endParaRPr lang="en-US" altLang="zh-CN" dirty="0"/>
          </a:p>
          <a:p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都全零初始化，会导致梯度消失，初始训练不稳定</a:t>
            </a:r>
            <a:endParaRPr lang="en-US" altLang="zh-CN" dirty="0"/>
          </a:p>
          <a:p>
            <a:r>
              <a:rPr lang="zh-CN" altLang="en-US" dirty="0"/>
              <a:t>若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都随机初始化，会引入初始噪声，训练难以收敛</a:t>
            </a:r>
            <a:endParaRPr lang="en-US" altLang="zh-CN" dirty="0"/>
          </a:p>
          <a:p>
            <a:r>
              <a:rPr lang="zh-CN" altLang="en-US" dirty="0"/>
              <a:t>其他，视具体任务来选择初始化方法，并做出解释即可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542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1967</TotalTime>
  <Words>911</Words>
  <Application>Microsoft Office PowerPoint</Application>
  <PresentationFormat>宽屏</PresentationFormat>
  <Paragraphs>124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Inter</vt:lpstr>
      <vt:lpstr>等线</vt:lpstr>
      <vt:lpstr>等线 Light</vt:lpstr>
      <vt:lpstr>Arial</vt:lpstr>
      <vt:lpstr>Cambria Math</vt:lpstr>
      <vt:lpstr>Office 主题​​</vt:lpstr>
      <vt:lpstr>PowerPoint 演示文稿</vt:lpstr>
      <vt:lpstr>主要内容</vt:lpstr>
      <vt:lpstr>背景：什么是LoRA微调</vt:lpstr>
      <vt:lpstr>LoRA源码里的初始化</vt:lpstr>
      <vt:lpstr>Embedding层和Linear层的不同</vt:lpstr>
      <vt:lpstr>Embedding层</vt:lpstr>
      <vt:lpstr>Embedding层的LoRA</vt:lpstr>
      <vt:lpstr>Linear层</vt:lpstr>
      <vt:lpstr>Linear层的LoRA</vt:lpstr>
      <vt:lpstr>PowerPoint 演示文稿</vt:lpstr>
      <vt:lpstr>摘要</vt:lpstr>
      <vt:lpstr>本文研究LoRA的初始化方法</vt:lpstr>
      <vt:lpstr>本文贡献</vt:lpstr>
      <vt:lpstr>本文结论</vt:lpstr>
      <vt:lpstr>本文结论</vt:lpstr>
      <vt:lpstr>结论可视化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12</cp:revision>
  <dcterms:created xsi:type="dcterms:W3CDTF">2025-09-24T06:15:29Z</dcterms:created>
  <dcterms:modified xsi:type="dcterms:W3CDTF">2025-09-26T08:26:10Z</dcterms:modified>
</cp:coreProperties>
</file>