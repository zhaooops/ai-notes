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钰哲 赵" userId="f3300543e4769e89" providerId="LiveId" clId="{859EC7A5-F0DF-4640-95BA-C8DC7BA3FFC6}"/>
    <pc:docChg chg="addSld delSld modSld">
      <pc:chgData name="钰哲 赵" userId="f3300543e4769e89" providerId="LiveId" clId="{859EC7A5-F0DF-4640-95BA-C8DC7BA3FFC6}" dt="2025-09-15T12:37:16.331" v="324" actId="47"/>
      <pc:docMkLst>
        <pc:docMk/>
      </pc:docMkLst>
      <pc:sldChg chg="modAnim">
        <pc:chgData name="钰哲 赵" userId="f3300543e4769e89" providerId="LiveId" clId="{859EC7A5-F0DF-4640-95BA-C8DC7BA3FFC6}" dt="2025-09-15T12:27:59.775" v="62"/>
        <pc:sldMkLst>
          <pc:docMk/>
          <pc:sldMk cId="3903038520" sldId="258"/>
        </pc:sldMkLst>
      </pc:sldChg>
      <pc:sldChg chg="modAnim">
        <pc:chgData name="钰哲 赵" userId="f3300543e4769e89" providerId="LiveId" clId="{859EC7A5-F0DF-4640-95BA-C8DC7BA3FFC6}" dt="2025-09-15T12:27:57.545" v="61"/>
        <pc:sldMkLst>
          <pc:docMk/>
          <pc:sldMk cId="457660335" sldId="259"/>
        </pc:sldMkLst>
      </pc:sldChg>
      <pc:sldChg chg="modAnim">
        <pc:chgData name="钰哲 赵" userId="f3300543e4769e89" providerId="LiveId" clId="{859EC7A5-F0DF-4640-95BA-C8DC7BA3FFC6}" dt="2025-09-15T12:27:55.178" v="60"/>
        <pc:sldMkLst>
          <pc:docMk/>
          <pc:sldMk cId="147934380" sldId="260"/>
        </pc:sldMkLst>
      </pc:sldChg>
      <pc:sldChg chg="modAnim">
        <pc:chgData name="钰哲 赵" userId="f3300543e4769e89" providerId="LiveId" clId="{859EC7A5-F0DF-4640-95BA-C8DC7BA3FFC6}" dt="2025-09-15T12:27:52.576" v="59"/>
        <pc:sldMkLst>
          <pc:docMk/>
          <pc:sldMk cId="727282980" sldId="261"/>
        </pc:sldMkLst>
      </pc:sldChg>
      <pc:sldChg chg="modAnim">
        <pc:chgData name="钰哲 赵" userId="f3300543e4769e89" providerId="LiveId" clId="{859EC7A5-F0DF-4640-95BA-C8DC7BA3FFC6}" dt="2025-09-15T12:27:50.184" v="58"/>
        <pc:sldMkLst>
          <pc:docMk/>
          <pc:sldMk cId="3742664805" sldId="262"/>
        </pc:sldMkLst>
      </pc:sldChg>
      <pc:sldChg chg="modAnim">
        <pc:chgData name="钰哲 赵" userId="f3300543e4769e89" providerId="LiveId" clId="{859EC7A5-F0DF-4640-95BA-C8DC7BA3FFC6}" dt="2025-09-15T12:27:38.716" v="56"/>
        <pc:sldMkLst>
          <pc:docMk/>
          <pc:sldMk cId="3338852182" sldId="264"/>
        </pc:sldMkLst>
      </pc:sldChg>
      <pc:sldChg chg="modAnim">
        <pc:chgData name="钰哲 赵" userId="f3300543e4769e89" providerId="LiveId" clId="{859EC7A5-F0DF-4640-95BA-C8DC7BA3FFC6}" dt="2025-09-15T12:27:36.383" v="55"/>
        <pc:sldMkLst>
          <pc:docMk/>
          <pc:sldMk cId="2419589522" sldId="265"/>
        </pc:sldMkLst>
      </pc:sldChg>
      <pc:sldChg chg="modSp modAnim">
        <pc:chgData name="钰哲 赵" userId="f3300543e4769e89" providerId="LiveId" clId="{859EC7A5-F0DF-4640-95BA-C8DC7BA3FFC6}" dt="2025-09-15T12:29:16.468" v="90" actId="20577"/>
        <pc:sldMkLst>
          <pc:docMk/>
          <pc:sldMk cId="1614845612" sldId="266"/>
        </pc:sldMkLst>
        <pc:spChg chg="mod">
          <ac:chgData name="钰哲 赵" userId="f3300543e4769e89" providerId="LiveId" clId="{859EC7A5-F0DF-4640-95BA-C8DC7BA3FFC6}" dt="2025-09-15T12:29:16.468" v="90" actId="20577"/>
          <ac:spMkLst>
            <pc:docMk/>
            <pc:sldMk cId="1614845612" sldId="266"/>
            <ac:spMk id="3" creationId="{BB8A0CBE-8D73-F186-7994-3A725D7F50C2}"/>
          </ac:spMkLst>
        </pc:spChg>
      </pc:sldChg>
      <pc:sldChg chg="modAnim">
        <pc:chgData name="钰哲 赵" userId="f3300543e4769e89" providerId="LiveId" clId="{859EC7A5-F0DF-4640-95BA-C8DC7BA3FFC6}" dt="2025-09-15T12:27:33.978" v="54"/>
        <pc:sldMkLst>
          <pc:docMk/>
          <pc:sldMk cId="3627272474" sldId="267"/>
        </pc:sldMkLst>
      </pc:sldChg>
      <pc:sldChg chg="modAnim">
        <pc:chgData name="钰哲 赵" userId="f3300543e4769e89" providerId="LiveId" clId="{859EC7A5-F0DF-4640-95BA-C8DC7BA3FFC6}" dt="2025-09-15T12:27:30.084" v="53"/>
        <pc:sldMkLst>
          <pc:docMk/>
          <pc:sldMk cId="501671544" sldId="268"/>
        </pc:sldMkLst>
      </pc:sldChg>
      <pc:sldChg chg="addSp modSp new mod">
        <pc:chgData name="钰哲 赵" userId="f3300543e4769e89" providerId="LiveId" clId="{859EC7A5-F0DF-4640-95BA-C8DC7BA3FFC6}" dt="2025-09-15T12:35:17.603" v="279" actId="14100"/>
        <pc:sldMkLst>
          <pc:docMk/>
          <pc:sldMk cId="680502401" sldId="269"/>
        </pc:sldMkLst>
        <pc:spChg chg="mod">
          <ac:chgData name="钰哲 赵" userId="f3300543e4769e89" providerId="LiveId" clId="{859EC7A5-F0DF-4640-95BA-C8DC7BA3FFC6}" dt="2025-09-15T12:28:51.805" v="64"/>
          <ac:spMkLst>
            <pc:docMk/>
            <pc:sldMk cId="680502401" sldId="269"/>
            <ac:spMk id="2" creationId="{ECA79B64-6677-E66F-4C6B-9F183CB06523}"/>
          </ac:spMkLst>
        </pc:spChg>
        <pc:spChg chg="mod">
          <ac:chgData name="钰哲 赵" userId="f3300543e4769e89" providerId="LiveId" clId="{859EC7A5-F0DF-4640-95BA-C8DC7BA3FFC6}" dt="2025-09-15T12:31:49.333" v="185" actId="14100"/>
          <ac:spMkLst>
            <pc:docMk/>
            <pc:sldMk cId="680502401" sldId="269"/>
            <ac:spMk id="3" creationId="{8EC3F734-AB19-7464-216B-61C820B619E2}"/>
          </ac:spMkLst>
        </pc:spChg>
        <pc:spChg chg="add mod">
          <ac:chgData name="钰哲 赵" userId="f3300543e4769e89" providerId="LiveId" clId="{859EC7A5-F0DF-4640-95BA-C8DC7BA3FFC6}" dt="2025-09-15T12:30:46.786" v="105" actId="1076"/>
          <ac:spMkLst>
            <pc:docMk/>
            <pc:sldMk cId="680502401" sldId="269"/>
            <ac:spMk id="6" creationId="{A1718C13-D467-04EA-D6C3-716346E76D6A}"/>
          </ac:spMkLst>
        </pc:spChg>
        <pc:spChg chg="add">
          <ac:chgData name="钰哲 赵" userId="f3300543e4769e89" providerId="LiveId" clId="{859EC7A5-F0DF-4640-95BA-C8DC7BA3FFC6}" dt="2025-09-15T12:30:55.396" v="108"/>
          <ac:spMkLst>
            <pc:docMk/>
            <pc:sldMk cId="680502401" sldId="269"/>
            <ac:spMk id="7" creationId="{961845E5-FCEE-1369-4380-F65431711D74}"/>
          </ac:spMkLst>
        </pc:spChg>
        <pc:spChg chg="add">
          <ac:chgData name="钰哲 赵" userId="f3300543e4769e89" providerId="LiveId" clId="{859EC7A5-F0DF-4640-95BA-C8DC7BA3FFC6}" dt="2025-09-15T12:31:04.745" v="109"/>
          <ac:spMkLst>
            <pc:docMk/>
            <pc:sldMk cId="680502401" sldId="269"/>
            <ac:spMk id="8" creationId="{DCA1AD7F-5C7A-6F2D-30D5-4AB8F966590D}"/>
          </ac:spMkLst>
        </pc:spChg>
        <pc:picChg chg="add mod">
          <ac:chgData name="钰哲 赵" userId="f3300543e4769e89" providerId="LiveId" clId="{859EC7A5-F0DF-4640-95BA-C8DC7BA3FFC6}" dt="2025-09-15T12:35:17.603" v="279" actId="14100"/>
          <ac:picMkLst>
            <pc:docMk/>
            <pc:sldMk cId="680502401" sldId="269"/>
            <ac:picMk id="5" creationId="{4573F4C9-0110-9A2D-85E0-82196A1DABCC}"/>
          </ac:picMkLst>
        </pc:picChg>
      </pc:sldChg>
      <pc:sldChg chg="addSp modSp new mod">
        <pc:chgData name="钰哲 赵" userId="f3300543e4769e89" providerId="LiveId" clId="{859EC7A5-F0DF-4640-95BA-C8DC7BA3FFC6}" dt="2025-09-15T12:36:56.025" v="309" actId="113"/>
        <pc:sldMkLst>
          <pc:docMk/>
          <pc:sldMk cId="1401838840" sldId="270"/>
        </pc:sldMkLst>
        <pc:spChg chg="mod">
          <ac:chgData name="钰哲 赵" userId="f3300543e4769e89" providerId="LiveId" clId="{859EC7A5-F0DF-4640-95BA-C8DC7BA3FFC6}" dt="2025-09-15T12:32:09.776" v="189"/>
          <ac:spMkLst>
            <pc:docMk/>
            <pc:sldMk cId="1401838840" sldId="270"/>
            <ac:spMk id="2" creationId="{F19D39CA-1AD4-1CB5-F975-74F678A2809C}"/>
          </ac:spMkLst>
        </pc:spChg>
        <pc:spChg chg="mod">
          <ac:chgData name="钰哲 赵" userId="f3300543e4769e89" providerId="LiveId" clId="{859EC7A5-F0DF-4640-95BA-C8DC7BA3FFC6}" dt="2025-09-15T12:36:56.025" v="309" actId="113"/>
          <ac:spMkLst>
            <pc:docMk/>
            <pc:sldMk cId="1401838840" sldId="270"/>
            <ac:spMk id="3" creationId="{938A3E43-83C0-AA7E-971F-73F794DCD8F4}"/>
          </ac:spMkLst>
        </pc:spChg>
        <pc:picChg chg="add mod">
          <ac:chgData name="钰哲 赵" userId="f3300543e4769e89" providerId="LiveId" clId="{859EC7A5-F0DF-4640-95BA-C8DC7BA3FFC6}" dt="2025-09-15T12:35:12.886" v="278" actId="1076"/>
          <ac:picMkLst>
            <pc:docMk/>
            <pc:sldMk cId="1401838840" sldId="270"/>
            <ac:picMk id="5" creationId="{1F1790F5-C449-C890-B931-824379419DA0}"/>
          </ac:picMkLst>
        </pc:picChg>
      </pc:sldChg>
      <pc:sldChg chg="modSp new del mod">
        <pc:chgData name="钰哲 赵" userId="f3300543e4769e89" providerId="LiveId" clId="{859EC7A5-F0DF-4640-95BA-C8DC7BA3FFC6}" dt="2025-09-15T12:37:16.331" v="324" actId="47"/>
        <pc:sldMkLst>
          <pc:docMk/>
          <pc:sldMk cId="3537606913" sldId="271"/>
        </pc:sldMkLst>
        <pc:spChg chg="mod">
          <ac:chgData name="钰哲 赵" userId="f3300543e4769e89" providerId="LiveId" clId="{859EC7A5-F0DF-4640-95BA-C8DC7BA3FFC6}" dt="2025-09-15T12:37:04.550" v="323" actId="20577"/>
          <ac:spMkLst>
            <pc:docMk/>
            <pc:sldMk cId="3537606913" sldId="271"/>
            <ac:spMk id="2" creationId="{31B910DD-AFF7-CB06-ECE4-925F1C062A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92507-E102-2C23-351F-60D85929A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1FD1A-8261-FB9A-4692-086BF55AC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034864-A5BF-54FD-B87C-DDCDB056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978B9E-36A1-3DEA-0859-8277E5C9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565271-D5E8-8B1F-80EE-1A61CDE0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43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1F5F5-655D-DFFC-B999-8B5DDEBB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AE3E4-359A-565E-1048-6134B528B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52A05-EB5C-A478-09FF-AD476F2D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89957-F029-4742-B484-88719474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19479-5318-E02F-DD38-D318355E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183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9B142-313D-A4A0-F272-010E41FB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84FB83-2383-8E94-A829-E3076EAAF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756AC-BB08-F795-4B2E-D864BE38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6D13F4-03D7-FDC5-22D4-3A61F6FE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9D1AF-72F5-1374-1624-97763974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2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B9A0D-9EA7-A521-E1E9-D8E45543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B71C9E-07F5-010E-1BA5-78E14E30D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989E4C-C980-1024-33CB-F74D024AA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2D6087-48F4-F661-5546-94F0136C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B7C4B8-906F-BA6F-A846-C7A23FA7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57CC7A-9878-E526-8809-1861C43F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07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BC2AB-863A-183F-1FDC-ADCF53DC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65C9B2-F0A7-CC5E-7555-43D92CE81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B3A799-B0E3-F65E-4055-62F67AD50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5BE224-3BF5-1CB6-FE71-ED736F218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15DCB8-185E-881C-70E9-AF9819B50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4DDED3-879A-3671-E738-D079144C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216233-F532-DEBA-EB06-B93EC880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9CD49F-4D24-42FF-78BC-E94E5C97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18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2E418-01AD-CBB6-8E4B-2D791A572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FBB364-55CF-1B63-5C63-BF9E5455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0A6E19-F241-8A31-A710-8D4DA854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209339-729F-81FE-23F8-A637200D0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97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C6A322-6A4A-B8A2-4E02-98D54BA8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B2A7FA-22E0-6FE6-F60B-060E972E3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0AAE95-3DB7-777F-6329-F24951F1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35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6840B-4B70-F01E-3FAB-F3B7F4DC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D07466-5B9D-F2E0-7D54-E0A6DB94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FB8DCD-72D9-CC36-794D-00DD41949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A0D9C0-BA9A-AD01-F670-8FC8D6D42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7B62EF-2C1E-C17E-7FF3-BC609FF5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DBDB91-052B-D00B-562A-0F77B50F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0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A7D75-D0A6-1EE9-0E9D-89F4E031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3234F8-4F6D-FFF8-08EA-680FF698E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17B90F-50B9-7A89-5719-0B4C01C53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848A94-A7E8-3117-6904-10F8837B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8EC91A-384A-F7B2-0A76-CB738D79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177BEF-A9DC-1F93-A437-A3EF59E9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52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88ACC-94FB-2EC5-66F8-DCCA63D5A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3A2A13-FE6B-421F-7B2D-030625E34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ABAFD1-5339-CE77-7A1E-76E490F1E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1B32E-8BCF-E056-1C13-FD9DEA99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79D91A-B52E-786E-D5A0-2211B43F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178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906EB7-F8BF-2BDB-F900-A4A408495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F32ADA-791A-FE29-26C8-4CF643AE5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BA5CE9-13EF-1E2A-D30E-F003C850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56F10F-5005-5DC7-9708-5D11E4CF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B94826-0130-3756-B2C3-C194ACC0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113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0AB209-35B6-F0C1-2E7C-97926C04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5B61AE-2D89-62C5-8E04-A7FEA53AD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73BD86-585F-0FF6-EE2B-CD043D414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F77FD-B7CE-441D-AA4B-6201E2F476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DEC463-1A91-AB44-2F77-1D34B3696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C2185-E421-1808-9947-F8ED273A3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4DC38-BD8E-406D-8151-E007BC32A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6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176F7-2A83-1BE7-2C57-762AF3A98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零基础 学</a:t>
            </a:r>
            <a:r>
              <a:rPr lang="zh-CN" altLang="en-US" u="sng" dirty="0"/>
              <a:t>透</a:t>
            </a:r>
            <a:br>
              <a:rPr lang="en-US" altLang="zh-CN" dirty="0"/>
            </a:br>
            <a:r>
              <a:rPr lang="zh-CN" altLang="en-US" b="1" dirty="0">
                <a:latin typeface="+mn-lt"/>
              </a:rPr>
              <a:t>旋转位置编码</a:t>
            </a:r>
            <a:r>
              <a:rPr lang="en-US" altLang="zh-CN" b="1" dirty="0" err="1">
                <a:latin typeface="+mn-lt"/>
              </a:rPr>
              <a:t>RoPE</a:t>
            </a:r>
            <a:br>
              <a:rPr lang="en-US" altLang="zh-CN" b="1" dirty="0"/>
            </a:br>
            <a:r>
              <a:rPr lang="zh-CN" altLang="en-US" dirty="0"/>
              <a:t>及其</a:t>
            </a:r>
            <a:r>
              <a:rPr lang="zh-CN" altLang="en-US" b="1" dirty="0"/>
              <a:t>外推方法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BC3E88-BF9C-A9DE-F7ED-7A55892E2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3429000"/>
            <a:ext cx="2667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69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2AC05-2980-6B87-3687-738B95EA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60640"/>
          </a:xfrm>
        </p:spPr>
        <p:txBody>
          <a:bodyPr/>
          <a:lstStyle/>
          <a:p>
            <a:r>
              <a:rPr lang="zh-CN" altLang="en-US" dirty="0"/>
              <a:t>三个问题：</a:t>
            </a:r>
            <a:br>
              <a:rPr lang="en-US" altLang="zh-CN" dirty="0"/>
            </a:br>
            <a:r>
              <a:rPr lang="zh-CN" altLang="en-US" dirty="0"/>
              <a:t>我们为什么需要</a:t>
            </a:r>
            <a:r>
              <a:rPr lang="zh-CN" altLang="en-US" b="1" dirty="0"/>
              <a:t>位置编码</a:t>
            </a:r>
            <a:r>
              <a:rPr lang="zh-CN" altLang="en-US" dirty="0"/>
              <a:t>？</a:t>
            </a:r>
            <a:br>
              <a:rPr lang="en-US" altLang="zh-CN" dirty="0"/>
            </a:br>
            <a:r>
              <a:rPr lang="zh-CN" altLang="en-US" dirty="0"/>
              <a:t>我们为什么需要</a:t>
            </a:r>
            <a:r>
              <a:rPr lang="en-US" altLang="zh-CN" b="1" dirty="0" err="1"/>
              <a:t>RoPE</a:t>
            </a:r>
            <a:r>
              <a:rPr lang="zh-CN" altLang="en-US" dirty="0"/>
              <a:t>？</a:t>
            </a:r>
            <a:br>
              <a:rPr lang="en-US" altLang="zh-CN" dirty="0"/>
            </a:br>
            <a:r>
              <a:rPr lang="zh-CN" altLang="en-US" dirty="0"/>
              <a:t>什么是</a:t>
            </a:r>
            <a:r>
              <a:rPr lang="zh-CN" altLang="en-US" b="1" dirty="0"/>
              <a:t>外推</a:t>
            </a:r>
            <a:r>
              <a:rPr lang="zh-CN" altLang="en-US" dirty="0"/>
              <a:t>？怎么</a:t>
            </a:r>
            <a:r>
              <a:rPr lang="zh-CN" altLang="en-US" b="1" dirty="0"/>
              <a:t>外推</a:t>
            </a:r>
            <a:r>
              <a:rPr lang="zh-CN" altLang="en-US" dirty="0"/>
              <a:t>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0413F3-1A44-6CD3-B920-09849D6F9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721" y="3692165"/>
            <a:ext cx="35242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3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8336A-043E-056C-9E90-7393A963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我们为什么需要</a:t>
            </a:r>
            <a:r>
              <a:rPr lang="zh-CN" altLang="en-US" b="1" dirty="0"/>
              <a:t>位置编码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CA207B-45AD-253B-88F0-DC6E580E4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015133"/>
          </a:xfrm>
        </p:spPr>
        <p:txBody>
          <a:bodyPr>
            <a:normAutofit/>
          </a:bodyPr>
          <a:lstStyle/>
          <a:p>
            <a:r>
              <a:rPr lang="zh-CN" altLang="en-US" dirty="0"/>
              <a:t>传统的词嵌入模型</a:t>
            </a:r>
            <a:r>
              <a:rPr lang="en-US" altLang="zh-CN" dirty="0"/>
              <a:t>Word2Vec</a:t>
            </a:r>
            <a:r>
              <a:rPr lang="zh-CN" altLang="en-US" dirty="0"/>
              <a:t>、</a:t>
            </a:r>
            <a:r>
              <a:rPr lang="en-US" altLang="zh-CN" dirty="0" err="1"/>
              <a:t>GloVe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词嵌入向量只包含词义本身，不包含单词位置的信息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DE35D44-9091-B259-C61E-CC6B185F417B}"/>
              </a:ext>
            </a:extLst>
          </p:cNvPr>
          <p:cNvSpPr txBox="1">
            <a:spLocks/>
          </p:cNvSpPr>
          <p:nvPr/>
        </p:nvSpPr>
        <p:spPr>
          <a:xfrm>
            <a:off x="838200" y="2975697"/>
            <a:ext cx="10515600" cy="1015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遇到的问题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他吃早饭 </a:t>
            </a:r>
            <a:r>
              <a:rPr lang="en-US" altLang="zh-CN" dirty="0"/>
              <a:t>vs </a:t>
            </a:r>
            <a:r>
              <a:rPr lang="zh-CN" altLang="en-US" dirty="0"/>
              <a:t>早饭吃他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CB97554-44DA-BD92-92E5-01D52A9ABC50}"/>
              </a:ext>
            </a:extLst>
          </p:cNvPr>
          <p:cNvSpPr txBox="1">
            <a:spLocks/>
          </p:cNvSpPr>
          <p:nvPr/>
        </p:nvSpPr>
        <p:spPr>
          <a:xfrm>
            <a:off x="838200" y="4125768"/>
            <a:ext cx="10515600" cy="1256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两个句子的词向量集合完全相同（都是 “他”“吃”“早饭” 的向量），但语义完全相反。而不带</a:t>
            </a:r>
            <a:r>
              <a:rPr lang="en-US" altLang="zh-CN" dirty="0"/>
              <a:t>Attention Mask</a:t>
            </a:r>
            <a:r>
              <a:rPr lang="zh-CN" altLang="en-US" dirty="0"/>
              <a:t>的纯</a:t>
            </a:r>
            <a:r>
              <a:rPr lang="en-US" altLang="zh-CN" dirty="0"/>
              <a:t>Attention</a:t>
            </a:r>
            <a:r>
              <a:rPr lang="zh-CN" altLang="en-US" dirty="0"/>
              <a:t>模型是全对称的，即天然地满足</a:t>
            </a:r>
            <a:r>
              <a:rPr lang="en-US" altLang="zh-CN" dirty="0"/>
              <a:t>f(</a:t>
            </a:r>
            <a:r>
              <a:rPr lang="en-US" altLang="zh-CN" dirty="0" err="1"/>
              <a:t>x,y</a:t>
            </a:r>
            <a:r>
              <a:rPr lang="en-US" altLang="zh-CN" dirty="0"/>
              <a:t>)=f(</a:t>
            </a:r>
            <a:r>
              <a:rPr lang="en-US" altLang="zh-CN" dirty="0" err="1"/>
              <a:t>y,x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E2A6084-EA80-70DC-0147-83FE615E67B0}"/>
              </a:ext>
            </a:extLst>
          </p:cNvPr>
          <p:cNvSpPr txBox="1">
            <a:spLocks/>
          </p:cNvSpPr>
          <p:nvPr/>
        </p:nvSpPr>
        <p:spPr>
          <a:xfrm>
            <a:off x="838200" y="5477743"/>
            <a:ext cx="10515600" cy="1015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如何解决？</a:t>
            </a:r>
          </a:p>
        </p:txBody>
      </p:sp>
    </p:spTree>
    <p:extLst>
      <p:ext uri="{BB962C8B-B14F-4D97-AF65-F5344CB8AC3E}">
        <p14:creationId xmlns:p14="http://schemas.microsoft.com/office/powerpoint/2010/main" val="390303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3090B-EF2B-46B6-37DF-DC0988F5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我们为什么需要</a:t>
            </a:r>
            <a:r>
              <a:rPr lang="zh-CN" altLang="en-US" b="1" dirty="0"/>
              <a:t>位置编码</a:t>
            </a:r>
            <a:r>
              <a:rPr lang="zh-CN" altLang="en-US" dirty="0"/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E1E295-B7EA-DA51-BDB0-1D38246C3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45490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绝对位置编码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把词嵌入向量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与其位置向量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相加</m:t>
                    </m:r>
                  </m:oMath>
                </a14:m>
                <a:r>
                  <a:rPr lang="zh-CN" altLang="en-US" dirty="0"/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只</m:t>
                    </m:r>
                  </m:oMath>
                </a14:m>
                <a:r>
                  <a:rPr lang="zh-CN" altLang="en-US" dirty="0"/>
                  <a:t>依赖于位置信息（位置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）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E1E295-B7EA-DA51-BDB0-1D38246C3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454904"/>
              </a:xfrm>
              <a:blipFill>
                <a:blip r:embed="rId2"/>
                <a:stretch>
                  <a:fillRect l="-1217" t="-7531" b="-5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72BDD4A-BF80-BC92-9E5C-3FF00ABA1C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280529"/>
                <a:ext cx="10515600" cy="32123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正余弦位置编码（</a:t>
                </a:r>
                <a:r>
                  <a:rPr lang="en-US" altLang="zh-CN" dirty="0"/>
                  <a:t>Transformer)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10000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den>
                                    </m:f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10000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den>
                                    </m:f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/>
                  <a:t>位置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的编码向量的第</a:t>
                </a:r>
                <a:r>
                  <a:rPr lang="en-US" altLang="zh-CN" dirty="0"/>
                  <a:t>2i</a:t>
                </a:r>
                <a:r>
                  <a:rPr lang="zh-CN" altLang="en-US" dirty="0"/>
                  <a:t>和第</a:t>
                </a:r>
                <a:r>
                  <a:rPr lang="en-US" altLang="zh-CN" dirty="0"/>
                  <a:t>2i+1</a:t>
                </a:r>
                <a:r>
                  <a:rPr lang="zh-CN" altLang="en-US" dirty="0"/>
                  <a:t>个分量，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是位置向量的维度，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表示第几个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（位置）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72BDD4A-BF80-BC92-9E5C-3FF00ABA1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80529"/>
                <a:ext cx="10515600" cy="3212346"/>
              </a:xfrm>
              <a:prstGeom prst="rect">
                <a:avLst/>
              </a:prstGeom>
              <a:blipFill>
                <a:blip r:embed="rId3"/>
                <a:stretch>
                  <a:fillRect l="-1217" t="-3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66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28ABF-34E0-A285-56C8-38B489C8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我们为什么需要</a:t>
            </a:r>
            <a:r>
              <a:rPr lang="en-US" altLang="zh-CN" b="1" dirty="0" err="1"/>
              <a:t>RoPE</a:t>
            </a:r>
            <a:r>
              <a:rPr lang="zh-CN" altLang="en-US" dirty="0"/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1F440D-5F0F-3E5B-34D9-9B7DC6A276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402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正余弦位置编码具备一定的表达相对位置的能力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token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的词嵌入向量为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位置向量为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token j </a:t>
                </a:r>
                <a:r>
                  <a:rPr lang="zh-CN" altLang="en-US" dirty="0"/>
                  <a:t>的词嵌入向量为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位置向量为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attention</a:t>
                </a:r>
                <a:r>
                  <a:rPr lang="zh-CN" altLang="en-US" dirty="0"/>
                  <a:t>得分的本质是计算 </a:t>
                </a:r>
                <a:r>
                  <a:rPr lang="en-US" altLang="zh-CN" dirty="0"/>
                  <a:t>token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对 </a:t>
                </a:r>
                <a:r>
                  <a:rPr lang="en-US" altLang="zh-CN" dirty="0"/>
                  <a:t>token j </a:t>
                </a:r>
                <a:r>
                  <a:rPr lang="zh-CN" altLang="en-US" dirty="0"/>
                  <a:t>的关注度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与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做</m:t>
                    </m:r>
                  </m:oMath>
                </a14:m>
                <a:r>
                  <a:rPr lang="zh-CN" altLang="en-US" dirty="0"/>
                  <a:t>内积，模型可以但是需要额外 “费力” 从内积结果中分离出 “位置差异” 和 “语义相关度”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1F440D-5F0F-3E5B-34D9-9B7DC6A276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4020"/>
              </a:xfrm>
              <a:blipFill>
                <a:blip r:embed="rId2"/>
                <a:stretch>
                  <a:fillRect l="-1217" t="-3523" b="-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93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E4888-304B-364B-A518-1EA3AF29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我们为什么需要</a:t>
            </a:r>
            <a:r>
              <a:rPr lang="en-US" altLang="zh-CN" b="1" dirty="0" err="1"/>
              <a:t>RoPE</a:t>
            </a:r>
            <a:r>
              <a:rPr lang="zh-CN" altLang="en-US" dirty="0"/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4B3FDF-94CE-2601-10F1-7F6C4D3F1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如果不把位置信息</a:t>
                </a:r>
                <a:r>
                  <a:rPr lang="zh-CN" altLang="en-US" b="1" dirty="0"/>
                  <a:t>加</a:t>
                </a:r>
                <a:r>
                  <a:rPr lang="zh-CN" altLang="en-US" dirty="0"/>
                  <a:t>到词嵌入向量上，而是</a:t>
                </a:r>
                <a:r>
                  <a:rPr lang="zh-CN" altLang="en-US" b="1" dirty="0"/>
                  <a:t>乘</a:t>
                </a:r>
                <a:r>
                  <a:rPr lang="zh-CN" altLang="en-US" dirty="0"/>
                  <a:t>上去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这就是</a:t>
                </a:r>
                <a:r>
                  <a:rPr lang="en-US" altLang="zh-CN" dirty="0" err="1"/>
                  <a:t>RoPE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给定位置为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位置为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词嵌入向量与绝对位置信息相乘，得到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这时候我们再来计算一下两个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之间的关注度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altLang="zh-CN" dirty="0"/>
                  <a:t>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altLang="zh-CN" dirty="0"/>
                  <a:t>&gt;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	= Re[(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altLang="zh-CN" dirty="0"/>
                  <a:t>)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altLang="zh-CN" dirty="0"/>
                  <a:t>)*]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	= Re[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altLang="zh-CN" dirty="0"/>
                  <a:t>]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4B3FDF-94CE-2601-10F1-7F6C4D3F1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3622720-7C40-3E54-98BB-988A3CAC7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81" y="4434460"/>
            <a:ext cx="2058415" cy="205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8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5D07E-0CDF-F3C6-FC3E-07E669B3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我们为什么需要</a:t>
            </a:r>
            <a:r>
              <a:rPr lang="en-US" altLang="zh-CN" b="1" dirty="0" err="1"/>
              <a:t>RoPE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B7DCDC-DCFC-3B32-02C2-207089B3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8994"/>
          </a:xfrm>
        </p:spPr>
        <p:txBody>
          <a:bodyPr>
            <a:normAutofit/>
          </a:bodyPr>
          <a:lstStyle/>
          <a:p>
            <a:r>
              <a:rPr lang="zh-CN" altLang="en-US" dirty="0"/>
              <a:t>为什么叫旋转位置编码？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词嵌入向量与绝对位置信息相乘相当于把向量进行旋转</a:t>
            </a:r>
            <a:endParaRPr lang="en-US" altLang="zh-CN" dirty="0"/>
          </a:p>
          <a:p>
            <a:r>
              <a:rPr lang="en-US" altLang="zh-CN" dirty="0" err="1"/>
              <a:t>RoPE</a:t>
            </a:r>
            <a:r>
              <a:rPr lang="zh-CN" altLang="en-US" dirty="0"/>
              <a:t>的优点：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把相对位置信息显式融入注意力得分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具备外推的潜力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7E66EF-EE81-2722-8605-879D1C47C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767" y="3835122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6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0C903-1DC6-CB0F-9AC8-A0FDAD9C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b="1" dirty="0"/>
              <a:t>外推</a:t>
            </a:r>
            <a:r>
              <a:rPr lang="zh-CN" altLang="en-US" dirty="0"/>
              <a:t>？怎么</a:t>
            </a:r>
            <a:r>
              <a:rPr lang="zh-CN" altLang="en-US" b="1" dirty="0"/>
              <a:t>外推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630BD5-A54C-9853-4CB1-4F170D602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zh-CN" altLang="en-US" dirty="0"/>
              <a:t>外推就是要解决</a:t>
            </a:r>
            <a:r>
              <a:rPr lang="zh-CN" altLang="en-US" b="1" dirty="0"/>
              <a:t>训练</a:t>
            </a:r>
            <a:r>
              <a:rPr lang="zh-CN" altLang="en-US" dirty="0"/>
              <a:t>和</a:t>
            </a:r>
            <a:r>
              <a:rPr lang="zh-CN" altLang="en-US" b="1" dirty="0"/>
              <a:t>预测</a:t>
            </a:r>
            <a:r>
              <a:rPr lang="zh-CN" altLang="en-US" dirty="0"/>
              <a:t>长度不一致的问题</a:t>
            </a:r>
            <a:endParaRPr lang="en-US" altLang="zh-CN" dirty="0"/>
          </a:p>
          <a:p>
            <a:r>
              <a:rPr lang="zh-CN" altLang="en-US" dirty="0"/>
              <a:t>两个成因：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预测的时候用到了没训练过的位置编码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预测的时候注意力机制处理的</a:t>
            </a:r>
            <a:r>
              <a:rPr lang="en-US" altLang="zh-CN" dirty="0"/>
              <a:t>token</a:t>
            </a:r>
            <a:r>
              <a:rPr lang="zh-CN" altLang="en-US" dirty="0"/>
              <a:t>远超训练时候的</a:t>
            </a:r>
            <a:endParaRPr lang="en-US" altLang="zh-CN" dirty="0"/>
          </a:p>
          <a:p>
            <a:r>
              <a:rPr lang="zh-CN" altLang="en-US" dirty="0"/>
              <a:t>一个解决办法：“超强基线模型”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局部</a:t>
            </a:r>
            <a:r>
              <a:rPr lang="en-US" altLang="zh-CN" dirty="0"/>
              <a:t>attention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掩码，预测时让每个</a:t>
            </a:r>
            <a:r>
              <a:rPr lang="en-US" altLang="zh-CN" dirty="0"/>
              <a:t>token</a:t>
            </a:r>
            <a:r>
              <a:rPr lang="zh-CN" altLang="en-US" dirty="0"/>
              <a:t>只能看到训练长度个</a:t>
            </a:r>
            <a:r>
              <a:rPr lang="en-US" altLang="zh-CN" dirty="0"/>
              <a:t>token</a:t>
            </a:r>
          </a:p>
          <a:p>
            <a:r>
              <a:rPr lang="zh-CN" altLang="en-US" dirty="0"/>
              <a:t>实际效果有限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可能的原因：开头的几个</a:t>
            </a:r>
            <a:r>
              <a:rPr lang="en-US" altLang="zh-CN" dirty="0"/>
              <a:t>token</a:t>
            </a:r>
            <a:r>
              <a:rPr lang="zh-CN" altLang="en-US" dirty="0"/>
              <a:t>很重要，不能</a:t>
            </a:r>
            <a:r>
              <a:rPr lang="en-US" altLang="zh-CN" dirty="0"/>
              <a:t>mask</a:t>
            </a:r>
            <a:r>
              <a:rPr lang="zh-CN" altLang="en-US" dirty="0"/>
              <a:t>掉</a:t>
            </a:r>
          </a:p>
        </p:txBody>
      </p:sp>
    </p:spTree>
    <p:extLst>
      <p:ext uri="{BB962C8B-B14F-4D97-AF65-F5344CB8AC3E}">
        <p14:creationId xmlns:p14="http://schemas.microsoft.com/office/powerpoint/2010/main" val="382562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CA6CA-8058-A31D-C487-A8270D4E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AF39D-0923-0E6D-3D30-7C4EBAD20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b="1" dirty="0"/>
              <a:t>外推</a:t>
            </a:r>
            <a:r>
              <a:rPr lang="zh-CN" altLang="en-US" dirty="0"/>
              <a:t>？怎么</a:t>
            </a:r>
            <a:r>
              <a:rPr lang="zh-CN" altLang="en-US" b="1" dirty="0"/>
              <a:t>外推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A0CBE-8D73-F186-7994-3A725D7F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527282"/>
          </a:xfrm>
        </p:spPr>
        <p:txBody>
          <a:bodyPr>
            <a:normAutofit/>
          </a:bodyPr>
          <a:lstStyle/>
          <a:p>
            <a:r>
              <a:rPr lang="zh-CN" altLang="en-US" dirty="0"/>
              <a:t>那还有哪些外推方法呢？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线性缩放（位置内插 </a:t>
            </a:r>
            <a:r>
              <a:rPr lang="en-US" altLang="zh-CN" dirty="0"/>
              <a:t>Positional Interpolation</a:t>
            </a:r>
            <a:r>
              <a:rPr lang="zh-CN" altLang="en-US" dirty="0"/>
              <a:t>）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NTK-aware Scaled </a:t>
            </a:r>
            <a:r>
              <a:rPr lang="en-US" altLang="zh-CN" dirty="0" err="1"/>
              <a:t>RoPE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NTK-by-parts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YaRN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Leaky </a:t>
            </a:r>
            <a:r>
              <a:rPr lang="en-US" altLang="zh-CN" dirty="0" err="1"/>
              <a:t>ReRoPE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 err="1"/>
              <a:t>ReRoPE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884371-9D5A-A365-087B-1D5FDFE73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600" y="3906641"/>
            <a:ext cx="10953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4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470CF-AE5D-96BA-6159-285CF587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b="1" dirty="0"/>
              <a:t>外推</a:t>
            </a:r>
            <a:r>
              <a:rPr lang="zh-CN" altLang="en-US" dirty="0"/>
              <a:t>？怎么</a:t>
            </a:r>
            <a:r>
              <a:rPr lang="zh-CN" altLang="en-US" b="1" dirty="0"/>
              <a:t>外推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B61DE3-8C43-DBF5-E59C-8A3C5FE3C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527282"/>
          </a:xfrm>
        </p:spPr>
        <p:txBody>
          <a:bodyPr>
            <a:normAutofit/>
          </a:bodyPr>
          <a:lstStyle/>
          <a:p>
            <a:r>
              <a:rPr lang="zh-CN" altLang="en-US" dirty="0"/>
              <a:t>那还有哪些外推方法呢？</a:t>
            </a:r>
            <a:endParaRPr lang="en-US" altLang="zh-CN" dirty="0"/>
          </a:p>
          <a:p>
            <a:r>
              <a:rPr lang="zh-CN" altLang="en-US" dirty="0"/>
              <a:t>线性缩放（位置内插 </a:t>
            </a:r>
            <a:r>
              <a:rPr lang="en-US" altLang="zh-CN" dirty="0"/>
              <a:t>Positional Interpolation</a:t>
            </a:r>
            <a:r>
              <a:rPr lang="zh-CN" altLang="en-US" dirty="0"/>
              <a:t>）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将超长的位置按比例压缩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压缩了邻近</a:t>
            </a:r>
            <a:r>
              <a:rPr lang="en-US" altLang="zh-CN" dirty="0"/>
              <a:t>Token</a:t>
            </a:r>
            <a:r>
              <a:rPr lang="zh-CN" altLang="en-US" dirty="0"/>
              <a:t>的距离，严重扰乱了模型的局部分辨率</a:t>
            </a:r>
            <a:endParaRPr lang="en-US" altLang="zh-CN" dirty="0"/>
          </a:p>
          <a:p>
            <a:r>
              <a:rPr lang="zh-CN" altLang="en-US" dirty="0"/>
              <a:t>外推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from 1—1—1—1—1—1—1</a:t>
            </a:r>
          </a:p>
          <a:p>
            <a:pPr marL="0" indent="0">
              <a:buNone/>
            </a:pPr>
            <a:r>
              <a:rPr lang="en-US" altLang="zh-CN" dirty="0"/>
              <a:t>	to     1——1——1——1——1——1——1</a:t>
            </a:r>
          </a:p>
          <a:p>
            <a:r>
              <a:rPr lang="zh-CN" altLang="en-US" dirty="0"/>
              <a:t>内插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from 1—1—1—1—1—1—1</a:t>
            </a:r>
          </a:p>
          <a:p>
            <a:pPr marL="0" indent="0">
              <a:buNone/>
            </a:pPr>
            <a:r>
              <a:rPr lang="en-US" altLang="zh-CN" dirty="0"/>
              <a:t>	to     1-1-1-1-1-1-1</a:t>
            </a:r>
          </a:p>
        </p:txBody>
      </p:sp>
    </p:spTree>
    <p:extLst>
      <p:ext uri="{BB962C8B-B14F-4D97-AF65-F5344CB8AC3E}">
        <p14:creationId xmlns:p14="http://schemas.microsoft.com/office/powerpoint/2010/main" val="333885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F5908-3498-F219-640C-703287CA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DBB6D-816D-BB5C-98DF-5037C991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b="1" dirty="0"/>
              <a:t>外推</a:t>
            </a:r>
            <a:r>
              <a:rPr lang="zh-CN" altLang="en-US" dirty="0"/>
              <a:t>？怎么</a:t>
            </a:r>
            <a:r>
              <a:rPr lang="zh-CN" altLang="en-US" b="1" dirty="0"/>
              <a:t>外推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46E22E-2F05-8959-5571-1B7F110A4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8682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NTK-aware Scaled </a:t>
            </a:r>
            <a:r>
              <a:rPr lang="en-US" altLang="zh-CN" dirty="0" err="1"/>
              <a:t>RoPE</a:t>
            </a:r>
            <a:r>
              <a:rPr lang="en-US" altLang="zh-CN" dirty="0"/>
              <a:t>    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b="1" dirty="0"/>
              <a:t>低频内插，高频外推 </a:t>
            </a:r>
            <a:r>
              <a:rPr lang="zh-CN" altLang="en-US" dirty="0"/>
              <a:t>将外推压力平摊到每一个维度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 </a:t>
            </a:r>
            <a:r>
              <a:rPr lang="en-US" altLang="zh-CN" dirty="0" err="1"/>
              <a:t>RoPE</a:t>
            </a:r>
            <a:r>
              <a:rPr lang="en-US" altLang="zh-CN" dirty="0"/>
              <a:t> </a:t>
            </a:r>
            <a:r>
              <a:rPr lang="zh-CN" altLang="en-US" dirty="0"/>
              <a:t>中，维度越高→频率越低→波长越长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训练位置范围：</a:t>
            </a:r>
            <a:r>
              <a:rPr lang="zh-CN" altLang="en-US" sz="1400" dirty="0"/>
              <a:t>高频</a:t>
            </a:r>
            <a:r>
              <a:rPr lang="en-US" altLang="zh-CN" dirty="0"/>
              <a:t>[0 ---- 511]</a:t>
            </a:r>
            <a:r>
              <a:rPr lang="zh-CN" altLang="en-US" sz="1400" dirty="0"/>
              <a:t>低频</a:t>
            </a:r>
            <a:r>
              <a:rPr lang="en-US" altLang="zh-CN" dirty="0"/>
              <a:t>  (</a:t>
            </a:r>
            <a:r>
              <a:rPr lang="en-US" altLang="zh-CN" dirty="0" err="1"/>
              <a:t>L_train</a:t>
            </a:r>
            <a:r>
              <a:rPr lang="en-US" altLang="zh-CN" dirty="0"/>
              <a:t>=512)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推理位置范围：</a:t>
            </a:r>
            <a:r>
              <a:rPr lang="zh-CN" altLang="en-US" sz="1400" dirty="0"/>
              <a:t>高频</a:t>
            </a:r>
            <a:r>
              <a:rPr lang="en-US" altLang="zh-CN" dirty="0"/>
              <a:t>[0 -------------- 2047]</a:t>
            </a:r>
            <a:r>
              <a:rPr lang="zh-CN" altLang="en-US" sz="1400" dirty="0"/>
              <a:t>低频    </a:t>
            </a:r>
            <a:r>
              <a:rPr lang="en-US" altLang="zh-CN" dirty="0"/>
              <a:t>(</a:t>
            </a:r>
            <a:r>
              <a:rPr lang="en-US" altLang="zh-CN" dirty="0" err="1"/>
              <a:t>L_infer</a:t>
            </a:r>
            <a:r>
              <a:rPr lang="en-US" altLang="zh-CN" dirty="0"/>
              <a:t>=2048)</a:t>
            </a:r>
          </a:p>
          <a:p>
            <a:r>
              <a:rPr lang="zh-CN" altLang="en-US" dirty="0"/>
              <a:t>低频维度的波长极长，采取内插，压缩全局位置</a:t>
            </a:r>
            <a:endParaRPr lang="en-US" altLang="zh-CN" dirty="0"/>
          </a:p>
          <a:p>
            <a:r>
              <a:rPr lang="zh-CN" altLang="en-US" dirty="0"/>
              <a:t>高频维度的波长极短，采取外推，保留局部位置精细差异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高频</a:t>
            </a:r>
            <a:r>
              <a:rPr lang="en-US" altLang="zh-CN" dirty="0"/>
              <a:t>1—1—1—1—1—1—1—1—1—1</a:t>
            </a:r>
            <a:r>
              <a:rPr lang="zh-CN" altLang="en-US" dirty="0"/>
              <a:t>低频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高频</a:t>
            </a:r>
            <a:r>
              <a:rPr lang="en-US" altLang="zh-CN" dirty="0"/>
              <a:t>1——</a:t>
            </a:r>
            <a:r>
              <a:rPr lang="zh-CN" altLang="en-US" dirty="0"/>
              <a:t> </a:t>
            </a:r>
            <a:r>
              <a:rPr lang="en-US" altLang="zh-CN" dirty="0"/>
              <a:t>1——1-1-1-1-1-1-1-1-1-1</a:t>
            </a:r>
            <a:r>
              <a:rPr lang="zh-CN" altLang="en-US" dirty="0"/>
              <a:t>低频                          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958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A60CF-D8E9-9E36-F2FC-CD9A6B84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b="1" dirty="0"/>
              <a:t>外推</a:t>
            </a:r>
            <a:r>
              <a:rPr lang="zh-CN" altLang="en-US" dirty="0"/>
              <a:t>？怎么</a:t>
            </a:r>
            <a:r>
              <a:rPr lang="zh-CN" altLang="en-US" b="1" dirty="0"/>
              <a:t>外推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088348-92CB-399D-4F62-88EBD3C40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470721"/>
          </a:xfrm>
        </p:spPr>
        <p:txBody>
          <a:bodyPr>
            <a:normAutofit/>
          </a:bodyPr>
          <a:lstStyle/>
          <a:p>
            <a:r>
              <a:rPr lang="en-US" altLang="zh-CN" dirty="0"/>
              <a:t>NTK-aware Scaled </a:t>
            </a:r>
            <a:r>
              <a:rPr lang="en-US" altLang="zh-CN" dirty="0" err="1"/>
              <a:t>RoPE</a:t>
            </a:r>
            <a:r>
              <a:rPr lang="en-US" altLang="zh-CN" dirty="0"/>
              <a:t> </a:t>
            </a:r>
            <a:r>
              <a:rPr lang="zh-CN" altLang="en-US" dirty="0"/>
              <a:t>存在的问题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波长大于原最大序列长度的那些低频分量，我们对他们进行了外推，会引入一些从未见过的旋转角度，这些旋转角度对应的正余弦值在训练过程中模型也从未见过</a:t>
            </a:r>
            <a:endParaRPr lang="en-US" altLang="zh-CN" dirty="0"/>
          </a:p>
          <a:p>
            <a:r>
              <a:rPr lang="zh-CN" altLang="en-US" dirty="0"/>
              <a:t>解决办法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波长大于训练长度（低频），就只做内插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波长很短（高频），就完全外推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介于中间，就沿用</a:t>
            </a:r>
            <a:r>
              <a:rPr lang="en-US" altLang="zh-CN" dirty="0"/>
              <a:t>NTK-aware Scaled </a:t>
            </a:r>
            <a:r>
              <a:rPr lang="en-US" altLang="zh-CN" dirty="0" err="1"/>
              <a:t>RoPE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这就是</a:t>
            </a:r>
            <a:r>
              <a:rPr lang="en-US" altLang="zh-CN" b="1" dirty="0"/>
              <a:t>NTK-by-parts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ACDBDA-7BA4-D989-8B42-4B4C746E5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1520" y="4480726"/>
            <a:ext cx="20955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7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0F661-6117-78B1-8A12-B00EA667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b="1" dirty="0"/>
              <a:t>外推</a:t>
            </a:r>
            <a:r>
              <a:rPr lang="zh-CN" altLang="en-US" dirty="0"/>
              <a:t>？怎么</a:t>
            </a:r>
            <a:r>
              <a:rPr lang="zh-CN" altLang="en-US" b="1" dirty="0"/>
              <a:t>外推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6BD8D-5257-B9FC-9F5C-8D71E3A3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YaRN</a:t>
            </a:r>
            <a:r>
              <a:rPr lang="en-US" altLang="zh-CN" dirty="0"/>
              <a:t> Yet another </a:t>
            </a:r>
            <a:r>
              <a:rPr lang="en-US" altLang="zh-CN" dirty="0" err="1"/>
              <a:t>RoPE</a:t>
            </a:r>
            <a:r>
              <a:rPr lang="en-US" altLang="zh-CN" dirty="0"/>
              <a:t> extension method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</a:t>
            </a:r>
            <a:r>
              <a:rPr lang="en-US" altLang="zh-CN" dirty="0" err="1"/>
              <a:t>YaRN</a:t>
            </a:r>
            <a:r>
              <a:rPr lang="en-US" altLang="zh-CN" dirty="0"/>
              <a:t> = NTK-by-parts + attention-scaling</a:t>
            </a:r>
          </a:p>
          <a:p>
            <a:pPr marL="0" indent="0">
              <a:buNone/>
            </a:pPr>
            <a:r>
              <a:rPr lang="en-US" altLang="zh-CN" dirty="0"/>
              <a:t>	 attention-scaling</a:t>
            </a:r>
            <a:r>
              <a:rPr lang="zh-CN" altLang="en-US" dirty="0"/>
              <a:t>就是</a:t>
            </a:r>
            <a:r>
              <a:rPr lang="en-US" altLang="zh-CN" dirty="0"/>
              <a:t>attention score</a:t>
            </a:r>
            <a:r>
              <a:rPr lang="zh-CN" altLang="en-US" dirty="0"/>
              <a:t>除以常数</a:t>
            </a:r>
            <a:r>
              <a:rPr lang="en-US" altLang="zh-CN" dirty="0"/>
              <a:t>t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56D869-D834-5B36-2FE3-37E7E73E717D}"/>
              </a:ext>
            </a:extLst>
          </p:cNvPr>
          <p:cNvPicPr>
            <a:picLocks/>
          </p:cNvPicPr>
          <p:nvPr/>
        </p:nvPicPr>
        <p:blipFill>
          <a:blip r:embed="rId2"/>
          <a:srcRect b="6821"/>
          <a:stretch>
            <a:fillRect/>
          </a:stretch>
        </p:blipFill>
        <p:spPr>
          <a:xfrm>
            <a:off x="838200" y="2301936"/>
            <a:ext cx="8964892" cy="210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7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79B64-6677-E66F-4C6B-9F183CB06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b="1" dirty="0"/>
              <a:t>外推</a:t>
            </a:r>
            <a:r>
              <a:rPr lang="zh-CN" altLang="en-US" dirty="0"/>
              <a:t>？怎么</a:t>
            </a:r>
            <a:r>
              <a:rPr lang="zh-CN" altLang="en-US" b="1" dirty="0"/>
              <a:t>外推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C3F734-AB19-7464-216B-61C820B6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94056" cy="4351338"/>
          </a:xfrm>
        </p:spPr>
        <p:txBody>
          <a:bodyPr/>
          <a:lstStyle/>
          <a:p>
            <a:r>
              <a:rPr lang="en-US" altLang="zh-CN" dirty="0"/>
              <a:t>Leaky </a:t>
            </a:r>
            <a:r>
              <a:rPr lang="en-US" altLang="zh-CN" dirty="0" err="1"/>
              <a:t>ReRoPE</a:t>
            </a:r>
            <a:endParaRPr lang="en-US" altLang="zh-CN" dirty="0"/>
          </a:p>
          <a:p>
            <a:r>
              <a:rPr lang="zh-CN" altLang="en-US" dirty="0"/>
              <a:t>只要</a:t>
            </a:r>
            <a:r>
              <a:rPr lang="en-US" altLang="zh-CN" dirty="0"/>
              <a:t>w</a:t>
            </a:r>
            <a:r>
              <a:rPr lang="zh-CN" altLang="en-US" dirty="0"/>
              <a:t>选定的是小于训练长度的，那么通过控制</a:t>
            </a:r>
            <a:r>
              <a:rPr lang="en-US" altLang="zh-CN" dirty="0"/>
              <a:t>k</a:t>
            </a:r>
            <a:r>
              <a:rPr lang="zh-CN" altLang="en-US" dirty="0"/>
              <a:t>，我们就可以在精确保持了局域性的前提下，使得所有位置编码不超过训练长度，简单直接地结合了直接外推和位置内插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73F4C9-0110-9A2D-85E0-82196A1DA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56" y="1517715"/>
            <a:ext cx="7196915" cy="480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0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D39CA-1AD4-1CB5-F975-74F678A2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b="1" dirty="0"/>
              <a:t>外推</a:t>
            </a:r>
            <a:r>
              <a:rPr lang="zh-CN" altLang="en-US" dirty="0"/>
              <a:t>？怎么</a:t>
            </a:r>
            <a:r>
              <a:rPr lang="zh-CN" altLang="en-US" b="1" dirty="0"/>
              <a:t>外推</a:t>
            </a:r>
            <a:r>
              <a:rPr lang="zh-CN" altLang="en-US" dirty="0"/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8A3E43-83C0-AA7E-971F-73F794DCD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375581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→ ∞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i="1" dirty="0">
                    <a:latin typeface="Cambria Math" panose="02040503050406030204" pitchFamily="18" charset="0"/>
                  </a:rPr>
                  <a:t>	</a:t>
                </a:r>
                <a:r>
                  <a:rPr lang="en-US" altLang="zh-CN" dirty="0"/>
                  <a:t>Leaky </a:t>
                </a:r>
                <a:r>
                  <a:rPr lang="en-US" altLang="zh-CN" dirty="0" err="1"/>
                  <a:t>ReRoPE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变成</a:t>
                </a:r>
                <a:r>
                  <a:rPr lang="en-US" altLang="zh-CN" b="1" dirty="0" err="1"/>
                  <a:t>ReRoPE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这样，不管输入长度是多少，它的位置编码范围都不超过</a:t>
                </a:r>
                <a:r>
                  <a:rPr lang="en-US" altLang="zh-CN" dirty="0"/>
                  <a:t>w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有可能支持任意长度的</a:t>
                </a:r>
                <a:r>
                  <a:rPr lang="en-US" altLang="zh-CN" dirty="0"/>
                  <a:t>Context</a:t>
                </a:r>
              </a:p>
              <a:p>
                <a:pPr marL="0" indent="0">
                  <a:buNone/>
                </a:pP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8A3E43-83C0-AA7E-971F-73F794DCD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375581" cy="4351338"/>
              </a:xfrm>
              <a:blipFill>
                <a:blip r:embed="rId2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1F1790F5-C449-C890-B931-824379419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720" y="1385580"/>
            <a:ext cx="7092226" cy="52314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D1262E7-296D-3E56-58C6-85D4E4EA8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661" y="-19014"/>
            <a:ext cx="2319137" cy="176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3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997</Words>
  <Application>Microsoft Office PowerPoint</Application>
  <PresentationFormat>宽屏</PresentationFormat>
  <Paragraphs>104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Cambria Math</vt:lpstr>
      <vt:lpstr>Office 主题​​</vt:lpstr>
      <vt:lpstr>零基础 学透 旋转位置编码RoPE 及其外推方法</vt:lpstr>
      <vt:lpstr>三个问题： 我们为什么需要位置编码？ 我们为什么需要RoPE？ 什么是外推？怎么外推？</vt:lpstr>
      <vt:lpstr>我们为什么需要位置编码？</vt:lpstr>
      <vt:lpstr>我们为什么需要位置编码？</vt:lpstr>
      <vt:lpstr>我们为什么需要RoPE？</vt:lpstr>
      <vt:lpstr>我们为什么需要RoPE？</vt:lpstr>
      <vt:lpstr>我们为什么需要RoPE？</vt:lpstr>
      <vt:lpstr>什么是外推？怎么外推？</vt:lpstr>
      <vt:lpstr>什么是外推？怎么外推？</vt:lpstr>
      <vt:lpstr>什么是外推？怎么外推？</vt:lpstr>
      <vt:lpstr>什么是外推？怎么外推？</vt:lpstr>
      <vt:lpstr>什么是外推？怎么外推？</vt:lpstr>
      <vt:lpstr>什么是外推？怎么外推？</vt:lpstr>
      <vt:lpstr>什么是外推？怎么外推？</vt:lpstr>
      <vt:lpstr>什么是外推？怎么外推？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6</cp:revision>
  <dcterms:created xsi:type="dcterms:W3CDTF">2025-08-17T08:36:46Z</dcterms:created>
  <dcterms:modified xsi:type="dcterms:W3CDTF">2025-09-15T13:25:26Z</dcterms:modified>
</cp:coreProperties>
</file>