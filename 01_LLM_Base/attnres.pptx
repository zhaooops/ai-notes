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72B53-A9AB-CFD7-9CFC-8E9B0BBA6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C0204C-88B3-8E76-C67B-F2D76BB22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A398D9-0492-66EE-4728-3BFD86E58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7F4A9F-FCC9-4376-5388-2A5A3516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7D1178-0700-E9E9-F772-5B182AF0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02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A84A6-8795-2B64-43EA-10EC0C9D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5C3A12-B0C2-2338-8696-B0E57A991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89346-71E5-F5F8-7CB5-E49029A6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133EF-DC7F-38F0-10BA-8EB83A73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3AFE50-C5C5-210D-E153-A818CDC7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7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61191-978A-2A87-230E-B56F28CA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2AD0C5-6E82-AC4F-E78F-1F5440F98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4A1AFA-4101-84F2-D234-5E07DD20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86A313-DBC8-F2AE-45D6-130FCCCA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CB020F-A97E-A858-7ED6-C73F331E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45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E02AD-3887-58E4-DDCC-3320654B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070BF9-7AF8-3AD7-10A1-7C18D36DD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137544-F609-D840-032A-231260CD2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11E508-2B48-6AFE-B25A-56A9ACDC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1D321E-6BE1-6CCD-A352-9535A1DA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69552F-B9A7-43F1-12F7-61FA87E4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702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C32E8-2649-8A7F-037F-07FC48978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D23C59-6E44-75A4-DF23-CC3DF31A1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449186-E634-FCCC-716D-CE0CB6F3A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94A1A7-DAD6-BFA0-0D22-5CE57E0C7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39F1C2-D8D8-B6C0-F4F8-CB59A48ED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78F5A8-E21E-C95E-B446-28F16AB1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F7D5BF-07D2-FC65-CEC5-3EFABA18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023721-9E65-25F8-A83E-B23B6174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628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1D05A-A2A6-A7CD-006B-194082F4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B9DEE3-F1BB-277C-CE15-BB6E3CD0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428921-47D8-3823-0D00-49E23E1ED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1C9A3D-1CC4-F2AA-28EF-FBF01480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33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7778D4-B4BF-018C-2222-B9139CE61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FBB460-5068-B968-4A51-722EA9236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374E4B-A48B-6E8C-B8B9-41C2C76A1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20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91C8C-4A4C-1224-29F9-C961B7F4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E2A7-A121-39F7-9FE9-3E1A54C7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2A5F63-B0E2-02A9-AA2F-1B26E7668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2D82E5-C0C2-65CB-2181-BD9F47346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8B040D-D8BE-9F37-DABC-F676F40F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EB53DE-15EA-6C0D-5EED-A6302D27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25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56DD8-B77B-5FCC-A59E-14A19328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36BA14-97BF-C064-6108-EE879FF73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C9880A-C6D7-ECFE-BB59-59AA36B8A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1E0B07-33FF-F742-9AAB-18317966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A57BD2-D278-379A-7311-8A25FBA0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24AAC-1073-AA52-57C3-99A25AB7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78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44B10-B3D7-3E3D-C3BA-63FEF6FA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628E1F-E751-2E00-99A4-8297AC5EF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9E4BE-5A3B-7A3D-CA06-8750CD61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37E047-BB05-E43E-16CF-93886727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7200F-C237-F566-6E7E-723633C9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35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8E26D2-6D6C-A1FF-70F2-8EE1D012F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102CD5-FB0A-6CE6-5BEB-474E85B0C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DDBACC-992C-1B03-B192-F7D68199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2C1907-5220-F644-7BAF-3A48CB03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93AC62-944B-D61D-8110-B422E37B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29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101F91-5C1B-17F3-2718-3BFBBBD9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996593-171F-EBBE-073C-91FED0A02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ACAE1-B4D0-9E63-BF43-7630DEC6F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12BBD-C938-446A-ACE1-EED5F986C4C7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A7F38A-B5F6-1647-3769-F6605792E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3F3101-8FA2-C66C-87BC-D90C0FA3B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B33C3-E893-4883-9156-F34DD925E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93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7D3FE-A692-A77B-CBE7-B5B82A14B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8469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zh-CN" altLang="en-US" sz="14000" dirty="0"/>
              <a:t>注意力残差</a:t>
            </a:r>
            <a:br>
              <a:rPr lang="en-US" altLang="zh-CN" sz="4800" dirty="0"/>
            </a:br>
            <a:r>
              <a:rPr lang="zh-CN" altLang="en-US" sz="4800" dirty="0"/>
              <a:t>‘</a:t>
            </a:r>
            <a:r>
              <a:rPr lang="zh-CN" altLang="en-US" sz="4900" dirty="0"/>
              <a:t>把注意力机制</a:t>
            </a:r>
            <a:r>
              <a:rPr lang="zh-CN" altLang="en-US" sz="5300" dirty="0"/>
              <a:t>顺时针</a:t>
            </a:r>
            <a:r>
              <a:rPr lang="zh-CN" altLang="en-US" sz="4900" dirty="0"/>
              <a:t>旋转 </a:t>
            </a:r>
            <a:r>
              <a:rPr lang="en-US" altLang="zh-CN" sz="4900" dirty="0"/>
              <a:t>90 </a:t>
            </a:r>
            <a:r>
              <a:rPr lang="zh-CN" altLang="en-US" sz="4900" dirty="0"/>
              <a:t>度’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ECF3A1-D3D8-60E4-CF43-26AE0A45E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509455"/>
            <a:ext cx="9144000" cy="993912"/>
          </a:xfrm>
        </p:spPr>
        <p:txBody>
          <a:bodyPr>
            <a:normAutofit/>
          </a:bodyPr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7C9063-A93E-7BF4-3D44-458C7285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436" y="4302112"/>
            <a:ext cx="5857125" cy="5698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D24BC3-38CD-EFC2-D717-FD018B941A46}"/>
              </a:ext>
            </a:extLst>
          </p:cNvPr>
          <p:cNvPicPr>
            <a:picLocks/>
          </p:cNvPicPr>
          <p:nvPr/>
        </p:nvPicPr>
        <p:blipFill>
          <a:blip r:embed="rId3"/>
          <a:srcRect t="10937" r="12422"/>
          <a:stretch>
            <a:fillRect/>
          </a:stretch>
        </p:blipFill>
        <p:spPr>
          <a:xfrm>
            <a:off x="4169998" y="354633"/>
            <a:ext cx="3852003" cy="87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0B7AE-AD03-32A5-48C2-C4796DD6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F55B4A-BD9B-0524-911B-CA0A49F85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传统残差连接</a:t>
            </a:r>
            <a:endParaRPr lang="en-US" altLang="zh-CN" dirty="0"/>
          </a:p>
          <a:p>
            <a:r>
              <a:rPr lang="en-US" altLang="zh-CN" dirty="0" err="1"/>
              <a:t>PreNorm</a:t>
            </a:r>
            <a:r>
              <a:rPr lang="en-US" altLang="zh-CN" dirty="0"/>
              <a:t> Dilution</a:t>
            </a:r>
          </a:p>
          <a:p>
            <a:r>
              <a:rPr lang="en-US" altLang="zh-CN" dirty="0"/>
              <a:t>Full Attention Residuals</a:t>
            </a:r>
          </a:p>
          <a:p>
            <a:r>
              <a:rPr lang="en-US" altLang="zh-CN" dirty="0"/>
              <a:t>Block Attention Residuals</a:t>
            </a:r>
          </a:p>
          <a:p>
            <a:r>
              <a:rPr lang="zh-CN" altLang="en-US" dirty="0"/>
              <a:t>注意力残差与</a:t>
            </a:r>
            <a:r>
              <a:rPr lang="en-US" altLang="zh-CN" dirty="0"/>
              <a:t>HC </a:t>
            </a:r>
            <a:r>
              <a:rPr lang="en-US" altLang="zh-CN" dirty="0" err="1"/>
              <a:t>mHC</a:t>
            </a:r>
            <a:r>
              <a:rPr lang="zh-CN" altLang="en-US" dirty="0"/>
              <a:t>的对比</a:t>
            </a:r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85537F1-D125-F954-4D41-FFFD360E1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814724"/>
              </p:ext>
            </p:extLst>
          </p:nvPr>
        </p:nvGraphicFramePr>
        <p:xfrm>
          <a:off x="8116478" y="489980"/>
          <a:ext cx="3541728" cy="3032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41728">
                  <a:extLst>
                    <a:ext uri="{9D8B030D-6E8A-4147-A177-3AD203B41FA5}">
                      <a16:colId xmlns:a16="http://schemas.microsoft.com/office/drawing/2014/main" val="1564779226"/>
                    </a:ext>
                  </a:extLst>
                </a:gridCol>
              </a:tblGrid>
              <a:tr h="3500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800" b="1" u="none" strike="noStrike" dirty="0">
                          <a:effectLst/>
                        </a:rPr>
                        <a:t>感谢</a:t>
                      </a:r>
                      <a:endParaRPr lang="en-US" altLang="zh-CN" sz="2800" b="1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2800" u="none" strike="noStrike" dirty="0">
                          <a:effectLst/>
                        </a:rPr>
                        <a:t>创新路西</a:t>
                      </a:r>
                      <a:r>
                        <a:rPr lang="en-US" altLang="zh-CN" sz="2800" u="none" strike="noStrike" dirty="0">
                          <a:effectLst/>
                        </a:rPr>
                        <a:t>AI</a:t>
                      </a:r>
                      <a:r>
                        <a:rPr lang="zh-CN" altLang="en-US" sz="2800" u="none" strike="noStrike" dirty="0">
                          <a:effectLst/>
                        </a:rPr>
                        <a:t>的产品经理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6857126"/>
                  </a:ext>
                </a:extLst>
              </a:tr>
              <a:tr h="3500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800" u="none" strike="noStrike">
                          <a:effectLst/>
                        </a:rPr>
                        <a:t>迷途小白喲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46198505"/>
                  </a:ext>
                </a:extLst>
              </a:tr>
              <a:tr h="3500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W0ND3RFULHE4VEN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49383388"/>
                  </a:ext>
                </a:extLst>
              </a:tr>
              <a:tr h="3500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800" u="none" strike="noStrike">
                          <a:effectLst/>
                        </a:rPr>
                        <a:t>畜禽哥哥最爱的美娜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28781104"/>
                  </a:ext>
                </a:extLst>
              </a:tr>
              <a:tr h="3500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800" u="none" strike="noStrike">
                          <a:effectLst/>
                        </a:rPr>
                        <a:t>阿萨李逍遥张小凡</a:t>
                      </a:r>
                      <a:endParaRPr lang="zh-CN" alt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8815980"/>
                  </a:ext>
                </a:extLst>
              </a:tr>
              <a:tr h="3500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800" u="none" strike="noStrike" dirty="0">
                          <a:effectLst/>
                        </a:rPr>
                        <a:t>蕾西亚万岁啊我透</a:t>
                      </a:r>
                      <a:endParaRPr lang="zh-CN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99499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61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2999D-BC9F-4DC1-070D-0D40E6A65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传统残差连接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FE9D7D-C203-D7BD-2074-71A8B91996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𝕕</m:t>
                        </m:r>
                      </m:sup>
                    </m:sSup>
                  </m:oMath>
                </a14:m>
                <a:r>
                  <a:rPr lang="zh-CN" altLang="en-US" dirty="0"/>
                  <a:t>是进入第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/>
                  <a:t>层的隐状态，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dirty="0"/>
                  <a:t>是该层变换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标准残差为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过往所有层的输出相加</a:t>
                </a:r>
                <a:endParaRPr lang="en-US" altLang="zh-CN" dirty="0"/>
              </a:p>
              <a:p>
                <a:r>
                  <a:rPr lang="zh-CN" altLang="en-US" dirty="0"/>
                  <a:t>方便梯度回传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nary>
                      <m:naryPr>
                        <m:chr m:val="∏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CFE9D7D-C203-D7BD-2074-71A8B9199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8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92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F1193-703C-6065-740A-B5515F2EF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传统残差连接的问题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F3BF7-B32B-9E0A-D1C5-7DCC3C956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是无差别地相加</a:t>
            </a:r>
            <a:endParaRPr lang="en-US" altLang="zh-CN" dirty="0"/>
          </a:p>
          <a:p>
            <a:r>
              <a:rPr lang="zh-CN" altLang="en-US" dirty="0"/>
              <a:t>与当前主流模型的其他部分很不对称</a:t>
            </a:r>
            <a:endParaRPr lang="en-US" altLang="zh-CN" dirty="0"/>
          </a:p>
          <a:p>
            <a:r>
              <a:rPr lang="zh-CN" altLang="en-US" dirty="0"/>
              <a:t>序列维度上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注意力机制 决定模型更关注哪些</a:t>
            </a:r>
            <a:r>
              <a:rPr lang="en-US" altLang="zh-CN" dirty="0"/>
              <a:t>token</a:t>
            </a:r>
          </a:p>
          <a:p>
            <a:r>
              <a:rPr lang="zh-CN" altLang="en-US" dirty="0"/>
              <a:t>专家维度上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MoE</a:t>
            </a:r>
            <a:r>
              <a:rPr lang="en-US" altLang="zh-CN" dirty="0"/>
              <a:t> router</a:t>
            </a:r>
            <a:r>
              <a:rPr lang="zh-CN" altLang="en-US" dirty="0"/>
              <a:t>决定每次使用哪些专家</a:t>
            </a:r>
            <a:endParaRPr lang="en-US" altLang="zh-CN" dirty="0"/>
          </a:p>
          <a:p>
            <a:r>
              <a:rPr lang="zh-CN" altLang="en-US" dirty="0"/>
              <a:t>唯独模型深度这一维度上还是固定加法</a:t>
            </a:r>
          </a:p>
        </p:txBody>
      </p:sp>
    </p:spTree>
    <p:extLst>
      <p:ext uri="{BB962C8B-B14F-4D97-AF65-F5344CB8AC3E}">
        <p14:creationId xmlns:p14="http://schemas.microsoft.com/office/powerpoint/2010/main" val="342331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65A3A-003B-4B5C-1D17-6AB8C345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PreNorm</a:t>
            </a:r>
            <a:r>
              <a:rPr lang="en-US" altLang="zh-CN" dirty="0"/>
              <a:t> Dilution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D7ADA4-94A2-D4EB-5F5B-90226E3E0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</p:spPr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pt-BR" altLang="zh-CN" i="0" dirty="0" smtClean="0">
                            <a:latin typeface="Cambria Math" panose="02040503050406030204" pitchFamily="18" charset="0"/>
                          </a:rPr>
                          <m:t>Norm</m:t>
                        </m:r>
                        <m:d>
                          <m:d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每一层残差流都加入增量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每层的相对贡献会越来越小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D7ADA4-94A2-D4EB-5F5B-90226E3E0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603375"/>
              </a:xfrm>
              <a:blipFill>
                <a:blip r:embed="rId2"/>
                <a:stretch>
                  <a:fillRect l="-1043" t="-3409" b="-6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71FE81AD-1E6B-A22A-820F-14B2DC761199}"/>
              </a:ext>
            </a:extLst>
          </p:cNvPr>
          <p:cNvPicPr>
            <a:picLocks/>
          </p:cNvPicPr>
          <p:nvPr/>
        </p:nvPicPr>
        <p:blipFill>
          <a:blip r:embed="rId3"/>
          <a:srcRect r="51757"/>
          <a:stretch>
            <a:fillRect/>
          </a:stretch>
        </p:blipFill>
        <p:spPr>
          <a:xfrm>
            <a:off x="6258434" y="650449"/>
            <a:ext cx="2838433" cy="584242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D3F349D-DB6F-3F4A-DD67-16BC1CBE400B}"/>
              </a:ext>
            </a:extLst>
          </p:cNvPr>
          <p:cNvPicPr>
            <a:picLocks/>
          </p:cNvPicPr>
          <p:nvPr/>
        </p:nvPicPr>
        <p:blipFill>
          <a:blip r:embed="rId3"/>
          <a:srcRect l="52569" r="486"/>
          <a:stretch>
            <a:fillRect/>
          </a:stretch>
        </p:blipFill>
        <p:spPr>
          <a:xfrm>
            <a:off x="9096867" y="650449"/>
            <a:ext cx="2762054" cy="584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D1E68-5A9A-065E-B841-1BEE023A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Full Attention Residuals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5D63FDCF-5DA5-5756-B3F9-A8C82F723C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5224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altLang="zh-CN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改成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 dirty="0" err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  <m:sup>
                                    <m: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bSup>
                                <m:r>
                                  <m:rPr>
                                    <m:nor/>
                                  </m:rPr>
                                  <a:rPr lang="en-US" altLang="zh-CN" i="0" dirty="0" err="1" smtClean="0">
                                    <a:latin typeface="Cambria Math" panose="02040503050406030204" pitchFamily="18" charset="0"/>
                                  </a:rPr>
                                  <m:t>RMSNorm</m:t>
                                </m:r>
                                <m:d>
                                  <m:d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err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 dirty="0" err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i="1" dirty="0" err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 dirty="0" err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 dirty="0" err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  <m:sup>
                                        <m: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bSup>
                                    <m:r>
                                      <m:rPr>
                                        <m:nor/>
                                      </m:rPr>
                                      <a:rPr lang="en-US" altLang="zh-CN" i="0" dirty="0" err="1" smtClean="0">
                                        <a:latin typeface="Cambria Math" panose="02040503050406030204" pitchFamily="18" charset="0"/>
                                      </a:rPr>
                                      <m:t>RMSNorm</m:t>
                                    </m:r>
                                    <m:d>
                                      <m:dPr>
                                        <m:ctrlP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 dirty="0" err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 dirty="0" err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 dirty="0" err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每一层都有自己的偏好向量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第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/>
                  <a:t>层想要从历史里“找什么类型的信息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dirty="0"/>
                  <a:t>不是输入依赖的，不看当前</a:t>
                </a:r>
                <a:r>
                  <a:rPr lang="en-US" altLang="zh-CN" dirty="0"/>
                  <a:t>token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如果用当前 </a:t>
                </a:r>
                <a:r>
                  <a:rPr lang="en-US" altLang="zh-CN" dirty="0"/>
                  <a:t>hidden state </a:t>
                </a:r>
                <a:r>
                  <a:rPr lang="zh-CN" altLang="en-US" dirty="0"/>
                  <a:t>生成 </a:t>
                </a:r>
                <a:r>
                  <a:rPr lang="en-US" altLang="zh-CN" dirty="0"/>
                  <a:t>query</a:t>
                </a:r>
                <a:r>
                  <a:rPr lang="zh-CN" altLang="en-US" dirty="0"/>
                  <a:t>，会再好一点，但会更贵、推理更慢，所以默认不用</a:t>
                </a:r>
              </a:p>
            </p:txBody>
          </p:sp>
        </mc:Choice>
        <mc:Fallback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5D63FDCF-5DA5-5756-B3F9-A8C82F723C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52247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40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0B359-4651-B50D-F056-659EA0D0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模型深度其实就是另一种时间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A58435-0857-3497-AA5F-F1E182727A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RNN</a:t>
                </a:r>
                <a:r>
                  <a:rPr lang="zh-CN" altLang="en-US" dirty="0"/>
                  <a:t>到第 </a:t>
                </a:r>
                <a:r>
                  <a:rPr lang="en-US" altLang="zh-CN" dirty="0"/>
                  <a:t>t </a:t>
                </a:r>
                <a:r>
                  <a:rPr lang="zh-CN" altLang="en-US" dirty="0"/>
                  <a:t>个时间步只能拿到上一个压缩状态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长距离依赖信息难记，信息被压缩稀释</a:t>
                </a:r>
                <a:endParaRPr lang="en-US" altLang="zh-CN" dirty="0"/>
              </a:p>
              <a:p>
                <a:r>
                  <a:rPr lang="zh-CN" altLang="en-US" dirty="0"/>
                  <a:t>解决方法就是注意力机制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不再只依赖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/>
                  <a:t>这个压缩包，而是直接看所有过去 </a:t>
                </a:r>
                <a:r>
                  <a:rPr lang="en-US" altLang="zh-CN" dirty="0"/>
                  <a:t>token</a:t>
                </a:r>
              </a:p>
              <a:p>
                <a:r>
                  <a:rPr lang="en-US" altLang="zh-CN" dirty="0"/>
                  <a:t>RNN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attention  </a:t>
                </a:r>
                <a:r>
                  <a:rPr lang="zh-CN" altLang="en-US" dirty="0"/>
                  <a:t>传统残差连接与注意力残差</a:t>
                </a:r>
                <a:endParaRPr lang="en-US" altLang="zh-CN" dirty="0"/>
              </a:p>
              <a:p>
                <a:r>
                  <a:rPr lang="zh-CN" altLang="en-US" dirty="0"/>
                  <a:t>传统残差连接的递归  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全部过去层信息都被压在这个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en-US" altLang="zh-CN" i="1"/>
                          <m:t>h</m:t>
                        </m:r>
                      </m:e>
                      <m:sub>
                        <m:r>
                          <a:rPr lang="zh-CN" altLang="en-US" i="1"/>
                          <m:t>𝑙</m:t>
                        </m:r>
                      </m:sub>
                    </m:sSub>
                  </m:oMath>
                </a14:m>
                <a:r>
                  <a:rPr lang="zh-CN" altLang="en-US" dirty="0"/>
                  <a:t>里</a:t>
                </a:r>
                <a:endParaRPr lang="en-US" altLang="zh-CN" dirty="0"/>
              </a:p>
              <a:p>
                <a:r>
                  <a:rPr lang="en-US" altLang="zh-CN" dirty="0"/>
                  <a:t>layer index </a:t>
                </a:r>
                <a14:m>
                  <m:oMath xmlns:m="http://schemas.openxmlformats.org/officeDocument/2006/math">
                    <m:r>
                      <a:rPr lang="zh-CN" altLang="en-US" i="1"/>
                      <m:t>𝑙</m:t>
                    </m:r>
                  </m:oMath>
                </a14:m>
                <a:r>
                  <a:rPr lang="zh-CN" altLang="en-US" dirty="0"/>
                  <a:t>就像 </a:t>
                </a:r>
                <a:r>
                  <a:rPr lang="en-US" altLang="zh-CN" dirty="0"/>
                  <a:t>time step </a:t>
                </a:r>
                <a14:m>
                  <m:oMath xmlns:m="http://schemas.openxmlformats.org/officeDocument/2006/math">
                    <m:r>
                      <a:rPr lang="zh-CN" altLang="en-US" i="1"/>
                      <m:t>𝑡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A58435-0857-3497-AA5F-F1E182727A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68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17B37-068D-183A-D850-A1ECD648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  </a:t>
            </a:r>
            <a:r>
              <a:rPr lang="en-US" altLang="zh-CN" dirty="0" err="1"/>
              <a:t>mHC</a:t>
            </a:r>
            <a:r>
              <a:rPr lang="en-US" altLang="zh-CN" dirty="0"/>
              <a:t>  </a:t>
            </a:r>
            <a:r>
              <a:rPr lang="zh-CN" altLang="en-US" dirty="0"/>
              <a:t>注意力残差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DE5215-7961-77EB-0295-3C3C9D6597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定义统一的深度混合矩阵 </a:t>
                </a:r>
                <a14:m>
                  <m:oMath xmlns:m="http://schemas.openxmlformats.org/officeDocument/2006/math">
                    <m:r>
                      <a:rPr lang="zh-CN" altLang="en-US" i="1"/>
                      <m:t>𝑀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/>
                        </m:ctrlPr>
                      </m:sSubPr>
                      <m:e>
                        <m:r>
                          <a:rPr lang="ar-AE" altLang="zh-CN" i="1"/>
                          <m:t>h</m:t>
                        </m:r>
                      </m:e>
                      <m:sub>
                        <m:r>
                          <a:rPr lang="zh-CN" altLang="ar-AE" i="1"/>
                          <m:t>𝑙</m:t>
                        </m:r>
                      </m:sub>
                    </m:sSub>
                    <m:r>
                      <a:rPr lang="ar-AE" altLang="zh-CN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ar-AE" altLang="zh-CN" i="1"/>
                        </m:ctrlPr>
                      </m:naryPr>
                      <m:sub>
                        <m:r>
                          <a:rPr lang="zh-CN" altLang="ar-AE" i="1"/>
                          <m:t>𝑖</m:t>
                        </m:r>
                        <m:r>
                          <a:rPr lang="ar-AE" altLang="zh-CN"/>
                          <m:t>=</m:t>
                        </m:r>
                        <m:r>
                          <a:rPr lang="ar-AE" altLang="zh-CN"/>
                          <m:t>0</m:t>
                        </m:r>
                      </m:sub>
                      <m:sup>
                        <m:r>
                          <a:rPr lang="zh-CN" altLang="ar-AE" i="1"/>
                          <m:t>𝑙</m:t>
                        </m:r>
                        <m:r>
                          <a:rPr lang="ar-AE" altLang="zh-CN"/>
                          <m:t>−</m:t>
                        </m:r>
                        <m:r>
                          <a:rPr lang="ar-AE" altLang="zh-CN"/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ar-AE" altLang="zh-CN" i="1"/>
                            </m:ctrlPr>
                          </m:sSubPr>
                          <m:e>
                            <m:r>
                              <a:rPr lang="zh-CN" altLang="ar-AE" i="1"/>
                              <m:t>𝑀</m:t>
                            </m:r>
                          </m:e>
                          <m:sub>
                            <m:r>
                              <a:rPr lang="zh-CN" altLang="ar-AE" i="1"/>
                              <m:t>𝑖</m:t>
                            </m:r>
                            <m:r>
                              <a:rPr lang="ar-AE" altLang="zh-CN"/>
                              <m:t>→</m:t>
                            </m:r>
                            <m:r>
                              <a:rPr lang="zh-CN" altLang="ar-AE" i="1"/>
                              <m:t>𝑙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altLang="zh-CN" i="1"/>
                        </m:ctrlPr>
                      </m:sSubPr>
                      <m:e>
                        <m:r>
                          <a:rPr lang="zh-CN" altLang="ar-AE" i="1"/>
                          <m:t>𝑣</m:t>
                        </m:r>
                      </m:e>
                      <m:sub>
                        <m:r>
                          <a:rPr lang="zh-CN" altLang="ar-AE" i="1"/>
                          <m:t>𝑖</m:t>
                        </m:r>
                      </m:sub>
                    </m:sSub>
                  </m:oMath>
                </a14:m>
                <a:endParaRPr lang="ar-AE" altLang="zh-CN" dirty="0"/>
              </a:p>
              <a:p>
                <a:r>
                  <a:rPr lang="zh-CN" altLang="en-US" dirty="0"/>
                  <a:t>传统残差连接：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𝑀</m:t>
                        </m:r>
                      </m:e>
                      <m:sub>
                        <m:r>
                          <a:rPr lang="zh-CN" altLang="en-US" i="1"/>
                          <m:t>𝑖</m:t>
                        </m:r>
                        <m:r>
                          <a:rPr lang="zh-CN" altLang="en-US"/>
                          <m:t>→</m:t>
                        </m:r>
                        <m:r>
                          <a:rPr lang="zh-CN" altLang="en-US" i="1"/>
                          <m:t>𝑙</m:t>
                        </m:r>
                      </m:sub>
                    </m:sSub>
                    <m:r>
                      <a:rPr lang="zh-CN" altLang="en-US"/>
                      <m:t>=</m:t>
                    </m:r>
                    <m:r>
                      <a:rPr lang="zh-CN" altLang="en-US"/>
                      <m:t>1</m:t>
                    </m:r>
                  </m:oMath>
                </a14:m>
                <a:endParaRPr lang="zh-CN" altLang="en-US" dirty="0"/>
              </a:p>
              <a:p>
                <a:r>
                  <a:rPr lang="en-US" altLang="zh-CN" dirty="0"/>
                  <a:t>HC</a:t>
                </a:r>
                <a:r>
                  <a:rPr lang="zh-CN" altLang="en-US" dirty="0"/>
                  <a:t>与</a:t>
                </a:r>
                <a:r>
                  <a:rPr lang="en-US" altLang="zh-CN" dirty="0" err="1"/>
                  <a:t>mHC</a:t>
                </a:r>
                <a:r>
                  <a:rPr lang="zh-CN" altLang="en-US" dirty="0"/>
                  <a:t>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𝐻</m:t>
                        </m:r>
                      </m:e>
                      <m:sub>
                        <m:r>
                          <a:rPr lang="zh-CN" altLang="en-US" i="1"/>
                          <m:t>𝑙</m:t>
                        </m:r>
                      </m:sub>
                    </m:sSub>
                    <m:r>
                      <a:rPr lang="zh-CN" altLang="en-US"/>
                      <m:t>=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𝐻</m:t>
                        </m:r>
                      </m:e>
                      <m:sub>
                        <m:r>
                          <a:rPr lang="zh-CN" altLang="en-US" i="1"/>
                          <m:t>𝑙</m:t>
                        </m:r>
                        <m:r>
                          <a:rPr lang="zh-CN" altLang="en-US"/>
                          <m:t>−</m:t>
                        </m:r>
                        <m:r>
                          <a:rPr lang="zh-CN" altLang="en-US"/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𝐴</m:t>
                        </m:r>
                      </m:e>
                      <m:sub>
                        <m:r>
                          <a:rPr lang="zh-CN" altLang="en-US" i="1"/>
                          <m:t>𝑙</m:t>
                        </m:r>
                      </m:sub>
                    </m:sSub>
                    <m:r>
                      <a:rPr lang="zh-CN" altLang="en-US"/>
                      <m:t>+</m:t>
                    </m:r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𝑓</m:t>
                        </m:r>
                      </m:e>
                      <m:sub>
                        <m:r>
                          <a:rPr lang="zh-CN" altLang="en-US" i="1"/>
                          <m:t>𝑙</m:t>
                        </m:r>
                        <m:r>
                          <a:rPr lang="zh-CN" altLang="en-US"/>
                          <m:t>−</m:t>
                        </m:r>
                        <m:r>
                          <a:rPr lang="zh-CN" altLang="en-US"/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i="1"/>
                        </m:ctrlPr>
                      </m:dPr>
                      <m:e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𝐻</m:t>
                            </m:r>
                          </m:e>
                          <m:sub>
                            <m:r>
                              <a:rPr lang="zh-CN" altLang="en-US" i="1"/>
                              <m:t>𝑙</m:t>
                            </m:r>
                            <m:r>
                              <a:rPr lang="zh-CN" altLang="en-US"/>
                              <m:t>−</m:t>
                            </m:r>
                            <m:r>
                              <a:rPr lang="zh-CN" altLang="en-US"/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/>
                            </m:ctrlPr>
                          </m:sSubPr>
                          <m:e>
                            <m:r>
                              <a:rPr lang="zh-CN" altLang="en-US" i="1"/>
                              <m:t>𝛼</m:t>
                            </m:r>
                          </m:e>
                          <m:sub>
                            <m:r>
                              <a:rPr lang="zh-CN" altLang="en-US" i="1"/>
                              <m:t>𝑙</m:t>
                            </m:r>
                            <m:r>
                              <a:rPr lang="zh-CN" altLang="en-US"/>
                              <m:t>−</m:t>
                            </m:r>
                            <m:r>
                              <a:rPr lang="zh-CN" altLang="en-US"/>
                              <m:t>1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zh-CN" altLang="en-US" i="1"/>
                        </m:ctrlPr>
                      </m:sSubSupPr>
                      <m:e>
                        <m:r>
                          <a:rPr lang="zh-CN" altLang="en-US" i="1"/>
                          <m:t>𝛽</m:t>
                        </m:r>
                      </m:e>
                      <m:sub>
                        <m:r>
                          <a:rPr lang="zh-CN" altLang="en-US" i="1"/>
                          <m:t>𝑙</m:t>
                        </m:r>
                        <m:r>
                          <a:rPr lang="zh-CN" altLang="en-US"/>
                          <m:t>−</m:t>
                        </m:r>
                        <m:r>
                          <a:rPr lang="zh-CN" altLang="en-US"/>
                          <m:t>1</m:t>
                        </m:r>
                      </m:sub>
                      <m:sup>
                        <m:r>
                          <a:rPr lang="zh-CN" altLang="en-US"/>
                          <m:t>⊤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注意力残差：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r>
                          <a:rPr lang="zh-CN" altLang="en-US" i="1"/>
                          <m:t>𝑀</m:t>
                        </m:r>
                      </m:e>
                      <m:sub>
                        <m:r>
                          <a:rPr lang="zh-CN" altLang="en-US" i="1"/>
                          <m:t>𝑖</m:t>
                        </m:r>
                        <m:r>
                          <a:rPr lang="zh-CN" altLang="en-US"/>
                          <m:t>→</m:t>
                        </m:r>
                        <m:r>
                          <a:rPr lang="zh-CN" altLang="en-US" i="1"/>
                          <m:t>𝑙</m:t>
                        </m:r>
                      </m:sub>
                    </m:sSub>
                    <m:r>
                      <a:rPr lang="zh-CN" altLang="en-US"/>
                      <m:t>=</m:t>
                    </m:r>
                    <m:f>
                      <m:fPr>
                        <m:ctrlPr>
                          <a:rPr lang="zh-CN" altLang="en-US" i="1"/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/>
                          <m:t>exp</m:t>
                        </m:r>
                        <m:r>
                          <a:rPr lang="zh-CN" altLang="en-US"/>
                          <m:t>⁡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/>
                                </m:ctrlPr>
                              </m:sSubSupPr>
                              <m:e>
                                <m:r>
                                  <a:rPr lang="zh-CN" altLang="en-US" i="1"/>
                                  <m:t>𝑤</m:t>
                                </m:r>
                              </m:e>
                              <m:sub>
                                <m:r>
                                  <a:rPr lang="zh-CN" altLang="en-US" i="1"/>
                                  <m:t>𝑙</m:t>
                                </m:r>
                              </m:sub>
                              <m:sup>
                                <m:r>
                                  <a:rPr lang="zh-CN" altLang="en-US"/>
                                  <m:t>⊤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altLang="en-US"/>
                              <m:t>RMSNorm</m:t>
                            </m:r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r>
                                      <a:rPr lang="zh-CN" altLang="en-US" i="1"/>
                                      <m:t>𝑣</m:t>
                                    </m:r>
                                  </m:e>
                                  <m:sub>
                                    <m:r>
                                      <a:rPr lang="zh-CN" altLang="en-US" i="1"/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zh-CN" altLang="en-US" i="1"/>
                            </m:ctrlPr>
                          </m:naryPr>
                          <m:sub>
                            <m:r>
                              <a:rPr lang="zh-CN" altLang="en-US" i="1"/>
                              <m:t>𝑗</m:t>
                            </m:r>
                            <m:r>
                              <a:rPr lang="zh-CN" altLang="en-US"/>
                              <m:t>&lt;</m:t>
                            </m:r>
                            <m:r>
                              <a:rPr lang="zh-CN" altLang="en-US" i="1"/>
                              <m:t>𝑙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zh-CN" altLang="en-US"/>
                              <m:t>exp</m:t>
                            </m:r>
                          </m:e>
                        </m:nary>
                        <m:r>
                          <a:rPr lang="zh-CN" altLang="en-US"/>
                          <m:t>⁡</m:t>
                        </m:r>
                        <m:d>
                          <m:dPr>
                            <m:ctrlPr>
                              <a:rPr lang="zh-CN" altLang="en-US" i="1"/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/>
                                </m:ctrlPr>
                              </m:sSubSupPr>
                              <m:e>
                                <m:r>
                                  <a:rPr lang="zh-CN" altLang="en-US" i="1"/>
                                  <m:t>𝑤</m:t>
                                </m:r>
                              </m:e>
                              <m:sub>
                                <m:r>
                                  <a:rPr lang="zh-CN" altLang="en-US" i="1"/>
                                  <m:t>𝑙</m:t>
                                </m:r>
                              </m:sub>
                              <m:sup>
                                <m:r>
                                  <a:rPr lang="zh-CN" altLang="en-US"/>
                                  <m:t>⊤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altLang="en-US"/>
                              <m:t>RMSNorm</m:t>
                            </m:r>
                            <m:d>
                              <m:dPr>
                                <m:ctrlPr>
                                  <a:rPr lang="zh-CN" altLang="en-US" i="1"/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r>
                                      <a:rPr lang="zh-CN" altLang="en-US" i="1"/>
                                      <m:t>𝑣</m:t>
                                    </m:r>
                                  </m:e>
                                  <m:sub>
                                    <m:r>
                                      <a:rPr lang="zh-CN" altLang="en-US" i="1"/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直接对所有历史层应用注意力机制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DE5215-7961-77EB-0295-3C3C9D659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02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B376B-AA15-9F30-1642-B23B3462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 Attention Residuals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6ACD61-2C68-9C70-3958-C73D264E01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把 </a:t>
                </a:r>
                <a14:m>
                  <m:oMath xmlns:m="http://schemas.openxmlformats.org/officeDocument/2006/math">
                    <m:r>
                      <a:rPr lang="zh-CN" altLang="en-US" i="1"/>
                      <m:t>𝐿</m:t>
                    </m:r>
                  </m:oMath>
                </a14:m>
                <a:r>
                  <a:rPr lang="zh-CN" altLang="en-US" dirty="0"/>
                  <a:t>层分成 </a:t>
                </a:r>
                <a14:m>
                  <m:oMath xmlns:m="http://schemas.openxmlformats.org/officeDocument/2006/math">
                    <m:r>
                      <a:rPr lang="zh-CN" altLang="en-US" i="1"/>
                      <m:t>𝑁</m:t>
                    </m:r>
                  </m:oMath>
                </a14:m>
                <a:r>
                  <a:rPr lang="zh-CN" altLang="en-US" dirty="0"/>
                  <a:t>个 </a:t>
                </a:r>
                <a:r>
                  <a:rPr lang="en-US" altLang="zh-CN" dirty="0"/>
                  <a:t>block</a:t>
                </a:r>
                <a:r>
                  <a:rPr lang="zh-CN" altLang="en-US" dirty="0"/>
                  <a:t>，每个 </a:t>
                </a:r>
                <a:r>
                  <a:rPr lang="en-US" altLang="zh-CN" dirty="0"/>
                  <a:t>block </a:t>
                </a:r>
                <a:r>
                  <a:rPr lang="zh-CN" altLang="en-US" dirty="0"/>
                  <a:t>内部先用普通加法做局部累加：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/>
                        </m:ctrlPr>
                      </m:sSubPr>
                      <m:e>
                        <m:r>
                          <a:rPr lang="zh-CN" altLang="ar-AE" i="1"/>
                          <m:t>𝑏</m:t>
                        </m:r>
                      </m:e>
                      <m:sub>
                        <m:r>
                          <a:rPr lang="zh-CN" altLang="ar-AE" i="1"/>
                          <m:t>𝑛</m:t>
                        </m:r>
                      </m:sub>
                    </m:sSub>
                    <m:r>
                      <a:rPr lang="ar-AE" altLang="zh-CN"/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altLang="zh-CN" i="1"/>
                        </m:ctrlPr>
                      </m:naryPr>
                      <m:sub>
                        <m:r>
                          <a:rPr lang="zh-CN" altLang="ar-AE" i="1"/>
                          <m:t>𝑗</m:t>
                        </m:r>
                        <m:r>
                          <a:rPr lang="ar-AE" altLang="zh-CN"/>
                          <m:t>∈</m:t>
                        </m:r>
                        <m:sSub>
                          <m:sSubPr>
                            <m:ctrlPr>
                              <a:rPr lang="ar-AE" altLang="zh-CN" i="1"/>
                            </m:ctrlPr>
                          </m:sSubPr>
                          <m:e>
                            <m:r>
                              <a:rPr lang="zh-CN" altLang="ar-AE" i="1"/>
                              <m:t>𝐵</m:t>
                            </m:r>
                          </m:e>
                          <m:sub>
                            <m:r>
                              <a:rPr lang="zh-CN" altLang="ar-AE" i="1"/>
                              <m:t>𝑛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ar-AE" altLang="zh-CN" i="1"/>
                            </m:ctrlPr>
                          </m:sSubPr>
                          <m:e>
                            <m:r>
                              <a:rPr lang="zh-CN" altLang="ar-AE" i="1"/>
                              <m:t>𝑓</m:t>
                            </m:r>
                          </m:e>
                          <m:sub>
                            <m:r>
                              <a:rPr lang="zh-CN" altLang="ar-AE" i="1"/>
                              <m:t>𝑗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ar-AE" altLang="zh-CN" i="1"/>
                        </m:ctrlPr>
                      </m:dPr>
                      <m:e>
                        <m:sSub>
                          <m:sSubPr>
                            <m:ctrlPr>
                              <a:rPr lang="ar-AE" altLang="zh-CN" i="1"/>
                            </m:ctrlPr>
                          </m:sSubPr>
                          <m:e>
                            <m:r>
                              <a:rPr lang="ar-AE" altLang="zh-CN" i="1"/>
                              <m:t>h</m:t>
                            </m:r>
                          </m:e>
                          <m:sub>
                            <m:r>
                              <a:rPr lang="zh-CN" altLang="ar-AE" i="1"/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ar-AE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block </a:t>
                </a:r>
                <a:r>
                  <a:rPr lang="zh-CN" altLang="en-US" dirty="0"/>
                  <a:t>内的前 </a:t>
                </a:r>
                <a14:m>
                  <m:oMath xmlns:m="http://schemas.openxmlformats.org/officeDocument/2006/math">
                    <m:r>
                      <a:rPr lang="zh-CN" altLang="en-US" i="1"/>
                      <m:t>𝑖</m:t>
                    </m:r>
                  </m:oMath>
                </a14:m>
                <a:r>
                  <a:rPr lang="zh-CN" altLang="en-US" dirty="0"/>
                  <a:t>层部分和记为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/>
                        </m:ctrlPr>
                      </m:sSubSupPr>
                      <m:e>
                        <m:r>
                          <a:rPr lang="zh-CN" altLang="ar-AE" i="1"/>
                          <m:t>𝑏</m:t>
                        </m:r>
                      </m:e>
                      <m:sub>
                        <m:r>
                          <a:rPr lang="zh-CN" altLang="ar-AE" i="1"/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ar-AE" altLang="zh-CN" i="1"/>
                            </m:ctrlPr>
                          </m:dPr>
                          <m:e>
                            <m:r>
                              <a:rPr lang="zh-CN" altLang="ar-AE" i="1"/>
                              <m:t>𝑖</m:t>
                            </m:r>
                          </m:e>
                        </m:d>
                      </m:sup>
                    </m:sSubSup>
                  </m:oMath>
                </a14:m>
                <a:endParaRPr lang="ar-AE" altLang="zh-CN" dirty="0"/>
              </a:p>
              <a:p>
                <a:r>
                  <a:rPr lang="en-US" altLang="zh-CN" dirty="0"/>
                  <a:t>block</a:t>
                </a:r>
                <a:r>
                  <a:rPr lang="zh-CN" altLang="en-US" dirty="0"/>
                  <a:t>内仍是递归累加，</a:t>
                </a:r>
                <a:r>
                  <a:rPr lang="en-US" altLang="zh-CN" dirty="0"/>
                  <a:t>block</a:t>
                </a:r>
                <a:r>
                  <a:rPr lang="zh-CN" altLang="en-US" dirty="0"/>
                  <a:t>间用注意力检索</a:t>
                </a:r>
                <a:endParaRPr lang="en-US" altLang="zh-CN" dirty="0"/>
              </a:p>
              <a:p>
                <a:r>
                  <a:rPr lang="zh-CN" altLang="en-US" dirty="0"/>
                  <a:t>把 </a:t>
                </a:r>
                <a:r>
                  <a:rPr lang="en-US" altLang="zh-CN" dirty="0"/>
                  <a:t>memory / communication </a:t>
                </a:r>
                <a:r>
                  <a:rPr lang="zh-CN" altLang="en-US" dirty="0"/>
                  <a:t>从 </a:t>
                </a:r>
                <a14:m>
                  <m:oMath xmlns:m="http://schemas.openxmlformats.org/officeDocument/2006/math">
                    <m:r>
                      <a:rPr lang="zh-CN" altLang="en-US" i="1"/>
                      <m:t>𝑂</m:t>
                    </m:r>
                    <m:d>
                      <m:dPr>
                        <m:ctrlPr>
                          <a:rPr lang="ar-AE" altLang="zh-CN" i="1"/>
                        </m:ctrlPr>
                      </m:dPr>
                      <m:e>
                        <m:r>
                          <a:rPr lang="zh-CN" altLang="ar-AE" i="1"/>
                          <m:t>𝐿𝑑</m:t>
                        </m:r>
                      </m:e>
                    </m:d>
                  </m:oMath>
                </a14:m>
                <a:r>
                  <a:rPr lang="zh-CN" altLang="en-US" dirty="0"/>
                  <a:t>降到 </a:t>
                </a:r>
                <a14:m>
                  <m:oMath xmlns:m="http://schemas.openxmlformats.org/officeDocument/2006/math">
                    <m:r>
                      <a:rPr lang="zh-CN" altLang="en-US" i="1"/>
                      <m:t>𝑂</m:t>
                    </m:r>
                    <m:d>
                      <m:dPr>
                        <m:ctrlPr>
                          <a:rPr lang="ar-AE" altLang="zh-CN" i="1"/>
                        </m:ctrlPr>
                      </m:dPr>
                      <m:e>
                        <m:r>
                          <a:rPr lang="zh-CN" altLang="ar-AE" i="1"/>
                          <m:t>𝑁𝑑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实验表明 </a:t>
                </a:r>
                <a14:m>
                  <m:oMath xmlns:m="http://schemas.openxmlformats.org/officeDocument/2006/math">
                    <m:r>
                      <a:rPr lang="zh-CN" altLang="en-US" i="1"/>
                      <m:t>𝑁</m:t>
                    </m:r>
                    <m:r>
                      <a:rPr lang="zh-CN" altLang="en-US"/>
                      <m:t>≈</m:t>
                    </m:r>
                    <m:r>
                      <a:rPr lang="en-US" altLang="zh-CN"/>
                      <m:t>8</m:t>
                    </m:r>
                  </m:oMath>
                </a14:m>
                <a:r>
                  <a:rPr lang="zh-CN" altLang="en-US" dirty="0"/>
                  <a:t>已经能拿回大部分收益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6ACD61-2C68-9C70-3958-C73D264E01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678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07C74-D099-C110-F738-BEED985C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HC/</a:t>
            </a:r>
            <a:r>
              <a:rPr lang="en-US" altLang="zh-CN" dirty="0" err="1"/>
              <a:t>mHC</a:t>
            </a:r>
            <a:r>
              <a:rPr lang="en-US" altLang="zh-CN" dirty="0"/>
              <a:t> </a:t>
            </a:r>
            <a:r>
              <a:rPr lang="zh-CN" altLang="en-US" dirty="0"/>
              <a:t>是在把</a:t>
            </a:r>
            <a:r>
              <a:rPr lang="en-US" altLang="zh-CN" dirty="0"/>
              <a:t>residual stream</a:t>
            </a:r>
            <a:r>
              <a:rPr lang="zh-CN" altLang="en-US" dirty="0"/>
              <a:t>做复杂</a:t>
            </a:r>
            <a:br>
              <a:rPr lang="zh-CN" altLang="en-US" dirty="0"/>
            </a:br>
            <a:r>
              <a:rPr lang="en-US" altLang="zh-CN" dirty="0" err="1"/>
              <a:t>AttnRes</a:t>
            </a:r>
            <a:r>
              <a:rPr lang="en-US" altLang="zh-CN" dirty="0"/>
              <a:t> </a:t>
            </a:r>
            <a:r>
              <a:rPr lang="zh-CN" altLang="en-US" dirty="0"/>
              <a:t>是在把</a:t>
            </a:r>
            <a:r>
              <a:rPr lang="en-US" altLang="zh-CN" dirty="0"/>
              <a:t>depth</a:t>
            </a:r>
            <a:r>
              <a:rPr lang="zh-CN" altLang="en-US" dirty="0"/>
              <a:t>变成 </a:t>
            </a:r>
            <a:r>
              <a:rPr lang="en-US" altLang="zh-CN" dirty="0"/>
              <a:t>attention </a:t>
            </a:r>
            <a:r>
              <a:rPr lang="zh-CN" altLang="en-US" dirty="0"/>
              <a:t>轴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A46267-15DF-740D-DD0B-2BB23419EBAD}"/>
              </a:ext>
            </a:extLst>
          </p:cNvPr>
          <p:cNvPicPr>
            <a:picLocks/>
          </p:cNvPicPr>
          <p:nvPr/>
        </p:nvPicPr>
        <p:blipFill>
          <a:blip r:embed="rId2"/>
          <a:srcRect t="19923"/>
          <a:stretch>
            <a:fillRect/>
          </a:stretch>
        </p:blipFill>
        <p:spPr>
          <a:xfrm>
            <a:off x="621045" y="1690688"/>
            <a:ext cx="1094990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9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528</Words>
  <Application>Microsoft Office PowerPoint</Application>
  <PresentationFormat>宽屏</PresentationFormat>
  <Paragraphs>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Arial</vt:lpstr>
      <vt:lpstr>Calibri</vt:lpstr>
      <vt:lpstr>Cambria Math</vt:lpstr>
      <vt:lpstr>Office 主题​​</vt:lpstr>
      <vt:lpstr>注意力残差 ‘把注意力机制顺时针旋转 90 度’</vt:lpstr>
      <vt:lpstr>主要内容</vt:lpstr>
      <vt:lpstr>传统残差连接</vt:lpstr>
      <vt:lpstr>传统残差连接的问题</vt:lpstr>
      <vt:lpstr>PreNorm Dilution</vt:lpstr>
      <vt:lpstr>Full Attention Residuals</vt:lpstr>
      <vt:lpstr>模型深度其实就是另一种时间</vt:lpstr>
      <vt:lpstr>HC  mHC  注意力残差</vt:lpstr>
      <vt:lpstr>Block Attention Residuals</vt:lpstr>
      <vt:lpstr>HC/mHC 是在把residual stream做复杂 AttnRes 是在把depth变成 attention 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1</cp:revision>
  <dcterms:created xsi:type="dcterms:W3CDTF">2026-03-17T02:16:55Z</dcterms:created>
  <dcterms:modified xsi:type="dcterms:W3CDTF">2026-03-17T07:56:12Z</dcterms:modified>
</cp:coreProperties>
</file>