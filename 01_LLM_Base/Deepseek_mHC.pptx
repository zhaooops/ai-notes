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钰哲 赵" initials="钰赵" lastIdx="1" clrIdx="0">
    <p:extLst>
      <p:ext uri="{19B8F6BF-5375-455C-9EA6-DF929625EA0E}">
        <p15:presenceInfo xmlns:p15="http://schemas.microsoft.com/office/powerpoint/2012/main" userId="f3300543e4769e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D5996-133B-0B8B-CF40-30D3BC529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3258A8-0DA7-BF92-A107-2A84FC9CA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EA92BF-222F-0BE9-DAB8-80869599F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16FC7-540B-43E2-FF94-67EAF408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66269-D331-5E70-FDB2-B3B82C9E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024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9759C5-979C-5CCD-D579-98A8C7006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3C360F-F1BE-4989-FACF-946A26111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CE35F1-B6C1-8C1E-93DB-FD4861E3E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71164-2E2A-5548-51DC-0FE8CD7F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42137-A046-BE68-E3DF-4C64CDEC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61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9E4E7-131F-0E2C-E868-9A0CCE191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01B547-52E1-F814-FAD1-3A6681819D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D37F63-A671-B568-57EC-B4DBB53B8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DE986B-958E-C0C8-A464-C51ECCE9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CADBF2-4277-2C4E-7D64-87DC962E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33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9E418-04A6-94DB-00BD-CA62605B8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73BF1-B2BC-46B5-03B9-38F4822716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4E778D-A21D-ACC4-CEF8-3D0D29CC5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9E1567-70E6-8225-4629-39F034FD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0998B9-4986-502C-6CC5-A5A95836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A82FE-F4D4-F70D-AC91-1FE50F19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7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250F0-38FF-247E-B63E-C0DFA3D1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39E8F7-1EA8-386E-3E97-AB37CE9A6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2FAA39-8D00-351E-4B0C-3B55CD556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51CE77-04D1-83E5-DE28-AD278AB50B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E7B0F6-C9CD-71FA-D886-2AA6FE0AE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817344-B804-1ED8-05C3-2C110183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6E30C1C-CED1-3C37-96C4-101261D8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5655A33-60EA-C7AF-4F8A-92367212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52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68B529-3FDB-4474-9534-8DAD740F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321DE9F-1ABF-2B6A-2CCE-34F5A001F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28FEA1-E0EB-C95B-6CA7-3B0EBF97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F5C369-AA08-2E51-AECD-E62E9A72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50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5B3F69-D33C-BD68-7F6D-0FE14BAC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98BEC3-F478-B8D0-D114-E7521D02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5D5A58-DC7F-22A2-5DD7-FFE2FFEB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09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DFC49A-5BC8-A164-E163-D812F757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AD81DC-FF1B-E859-B1C7-CACF9086B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503951-B41E-FF01-F7EE-057FBBDEA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011703-BEC0-68C7-8F01-64347268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48FC62-D5C0-6285-74B8-B504C9ECD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1FD2D7-DBC4-E8B8-B844-ECB8849A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93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01C94-ACA1-538E-C9DA-622D40734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961DE6-4685-0A59-1F3B-F984DC68E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7BFFE-49FB-0089-671F-79CB1B009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F609B2-C64D-7415-001E-156A051D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32E759-1B52-2C20-BA9E-94726A21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725C45-1CC2-741A-B359-90B845B2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185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D1132-FD1C-3CC0-223E-9D08E640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112856-4EDD-1FFB-0FC9-400B448F3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D37CB-73F0-2C11-99F9-CD5B62C8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27846-3C8C-9DD3-851C-06E2960B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806DC8-A895-5D7D-33EC-C820666E6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26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8FDE2D-8DD3-A23B-9C09-F2A42091B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1B3FF2-2649-E291-3ED5-686297F57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EFE85-13C4-BB23-62D6-7993A1F2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06D0C3-B00A-4970-2F2C-15964615F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720942-8174-96EE-0999-9705CCEC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382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ADD71C-26ED-FD79-1914-6B54134D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9D5C1-CFDB-F7EF-86F3-4856FA6C6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EACB6D-5B4F-179D-5CD9-63C2B7CB11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25823-83B9-48B2-BC3B-8FE06F6A35A0}" type="datetimeFigureOut">
              <a:rPr lang="zh-CN" altLang="en-US" smtClean="0"/>
              <a:t>2026/1/2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3CD7C9-41C9-A102-2C41-B0CAB85A2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3D238B-6A86-C605-EB72-217FAF1DF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C86D0-FA85-4F28-A672-3332EF374F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107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1AAF2-73EB-9268-A763-12613D1E0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93075"/>
          </a:xfrm>
        </p:spPr>
        <p:txBody>
          <a:bodyPr>
            <a:normAutofit/>
          </a:bodyPr>
          <a:lstStyle/>
          <a:p>
            <a:r>
              <a:rPr lang="en-US" altLang="zh-CN" sz="9600" dirty="0"/>
              <a:t>    Deepseek</a:t>
            </a:r>
            <a:br>
              <a:rPr lang="en-US" altLang="zh-CN" sz="9600" dirty="0"/>
            </a:br>
            <a:r>
              <a:rPr lang="en-US" altLang="zh-CN" sz="9600" b="1" dirty="0">
                <a:latin typeface="+mn-ea"/>
                <a:ea typeface="+mn-ea"/>
              </a:rPr>
              <a:t>mHC</a:t>
            </a:r>
            <a:r>
              <a:rPr lang="zh-CN" altLang="en-US" sz="9600" dirty="0">
                <a:latin typeface="+mn-ea"/>
                <a:ea typeface="+mn-ea"/>
              </a:rPr>
              <a:t>技术解读</a:t>
            </a:r>
            <a:br>
              <a:rPr lang="en-US" altLang="zh-CN" dirty="0"/>
            </a:br>
            <a:r>
              <a:rPr lang="zh-CN" altLang="en-US" sz="2800" dirty="0"/>
              <a:t>从</a:t>
            </a:r>
            <a:r>
              <a:rPr lang="zh-CN" altLang="en-US" sz="2800" b="1" dirty="0"/>
              <a:t>传统残差连接</a:t>
            </a:r>
            <a:r>
              <a:rPr lang="zh-CN" altLang="en-US" sz="2800" dirty="0"/>
              <a:t>到字节跳动的</a:t>
            </a:r>
            <a:r>
              <a:rPr lang="en-US" altLang="zh-CN" sz="2800" b="1" dirty="0"/>
              <a:t>HC</a:t>
            </a:r>
            <a:r>
              <a:rPr lang="zh-CN" altLang="en-US" sz="2800" dirty="0"/>
              <a:t>到</a:t>
            </a:r>
            <a:r>
              <a:rPr lang="en-US" altLang="zh-CN" sz="2800" dirty="0"/>
              <a:t>Deepseek</a:t>
            </a:r>
            <a:r>
              <a:rPr lang="zh-CN" altLang="en-US" sz="2800" dirty="0"/>
              <a:t>的</a:t>
            </a:r>
            <a:r>
              <a:rPr lang="en-US" altLang="zh-CN" sz="2800" b="1" dirty="0"/>
              <a:t>mHC</a:t>
            </a:r>
            <a:endParaRPr lang="zh-CN" altLang="en-US" sz="28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4AF292-255D-2776-DFF7-D7A01274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93277"/>
            <a:ext cx="9144000" cy="742361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7" name="图片 6" descr="卡通画&#10;&#10;AI 生成的内容可能不正确。">
            <a:extLst>
              <a:ext uri="{FF2B5EF4-FFF2-40B4-BE49-F238E27FC236}">
                <a16:creationId xmlns:a16="http://schemas.microsoft.com/office/drawing/2014/main" id="{50EBC536-788B-E3D8-333F-164EE402A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933" y="1602557"/>
            <a:ext cx="1161042" cy="92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25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028EC-ED04-574C-0B72-6376486E1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1C750A-EE0D-F43A-4DB1-160FDB8E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传统残差连接</a:t>
            </a:r>
            <a:endParaRPr lang="en-US" altLang="zh-CN" dirty="0"/>
          </a:p>
          <a:p>
            <a:r>
              <a:rPr lang="zh-CN" altLang="en-US" dirty="0"/>
              <a:t>字节跳动的</a:t>
            </a:r>
            <a:r>
              <a:rPr lang="en-US" altLang="zh-CN" dirty="0"/>
              <a:t>Hyper-Connections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扩展了残差流的宽度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但可能出现连乘爆炸的问题</a:t>
            </a:r>
            <a:endParaRPr lang="en-US" altLang="zh-CN" dirty="0"/>
          </a:p>
          <a:p>
            <a:r>
              <a:rPr lang="en-US" altLang="zh-CN" dirty="0"/>
              <a:t>Deepseek</a:t>
            </a:r>
            <a:r>
              <a:rPr lang="zh-CN" altLang="en-US" dirty="0"/>
              <a:t>的</a:t>
            </a:r>
            <a:r>
              <a:rPr lang="en-US" altLang="zh-CN" dirty="0"/>
              <a:t>mHC</a:t>
            </a:r>
          </a:p>
          <a:p>
            <a:pPr marL="0" indent="0">
              <a:buNone/>
            </a:pPr>
            <a:r>
              <a:rPr lang="en-US" altLang="zh-CN" dirty="0"/>
              <a:t>	Birkhoff</a:t>
            </a:r>
            <a:r>
              <a:rPr lang="zh-CN" altLang="en-US" dirty="0"/>
              <a:t>多胞形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Sinkhorn-Knopp </a:t>
            </a:r>
            <a:r>
              <a:rPr lang="zh-CN" altLang="en-US" dirty="0"/>
              <a:t>算法</a:t>
            </a:r>
          </a:p>
        </p:txBody>
      </p:sp>
    </p:spTree>
    <p:extLst>
      <p:ext uri="{BB962C8B-B14F-4D97-AF65-F5344CB8AC3E}">
        <p14:creationId xmlns:p14="http://schemas.microsoft.com/office/powerpoint/2010/main" val="324921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ED2FD-CEF4-3531-71E8-0A6FAAC56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残差连接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EEA97F-2472-D998-70E1-748D71CE20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03115"/>
                <a:ext cx="10515600" cy="154047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b="0" dirty="0"/>
                  <a:t>表示第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层的输入，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b="0" dirty="0"/>
                  <a:t>表示第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b="0" dirty="0"/>
                  <a:t>层的输入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ℱ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层函数，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𝒲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𝓁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层的权重参数</a:t>
                </a:r>
                <a:endParaRPr lang="en-US" altLang="zh-CN" b="0" dirty="0"/>
              </a:p>
              <a:p>
                <a:r>
                  <a:rPr lang="zh-CN" altLang="en-US" dirty="0"/>
                  <a:t>我们把残差连接公式递归展开，可以得到：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EEA97F-2472-D998-70E1-748D71CE20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03115"/>
                <a:ext cx="10515600" cy="1540474"/>
              </a:xfrm>
              <a:blipFill>
                <a:blip r:embed="rId2"/>
                <a:stretch>
                  <a:fillRect l="-1043" t="-6719" b="-79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Image of ">
            <a:extLst>
              <a:ext uri="{FF2B5EF4-FFF2-40B4-BE49-F238E27FC236}">
                <a16:creationId xmlns:a16="http://schemas.microsoft.com/office/drawing/2014/main" id="{0FB6B62E-E958-18C2-2F5B-9F4F950A1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 descr="卡通人物&#10;&#10;AI 生成的内容可能不正确。">
            <a:extLst>
              <a:ext uri="{FF2B5EF4-FFF2-40B4-BE49-F238E27FC236}">
                <a16:creationId xmlns:a16="http://schemas.microsoft.com/office/drawing/2014/main" id="{DBA54061-C7C7-074D-3A9E-351F6F7B8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218" y="3567905"/>
            <a:ext cx="3095115" cy="9888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A60300A-9920-C1C0-EC26-120851B90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69" y="4572000"/>
            <a:ext cx="11496261" cy="1073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50DFB4E5-A1C6-AB24-D163-FF7376576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5660264"/>
                <a:ext cx="10515600" cy="9754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恒等映射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维持了大规模训练里的稳定性和效率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50DFB4E5-A1C6-AB24-D163-FF7376576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660264"/>
                <a:ext cx="10515600" cy="975403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F7AD8B99-DC79-85B2-1EEE-14DE38BD0DE2}"/>
              </a:ext>
            </a:extLst>
          </p:cNvPr>
          <p:cNvSpPr txBox="1"/>
          <p:nvPr/>
        </p:nvSpPr>
        <p:spPr>
          <a:xfrm>
            <a:off x="9349776" y="0"/>
            <a:ext cx="284839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Kaiming He, Xiangyu Zhang, Shaoqing Ren, and Jian Sun. Deep residual learning for image recognition. In Proceedings of the IEEE conference on computer vision and pattern recognition, 2016.</a:t>
            </a:r>
            <a:endParaRPr lang="zh-CN" altLang="en-US" sz="1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BB111EC-C5EA-4CBE-53C7-E28BFCD09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215" y="310259"/>
            <a:ext cx="4230369" cy="230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6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EC5DE0-EE2D-FA62-9395-FDE63F2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2024 </a:t>
            </a:r>
            <a:r>
              <a:rPr lang="zh-CN" altLang="en-US" dirty="0"/>
              <a:t>字节跳动提出</a:t>
            </a:r>
            <a:r>
              <a:rPr lang="en-US" altLang="zh-CN" dirty="0"/>
              <a:t>Hyper-Connections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8982A-53D3-ADFD-A242-C5941838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312702"/>
            <a:ext cx="10515600" cy="2465215"/>
          </a:xfrm>
        </p:spPr>
        <p:txBody>
          <a:bodyPr/>
          <a:lstStyle/>
          <a:p>
            <a:r>
              <a:rPr lang="en-US" altLang="zh-CN" dirty="0"/>
              <a:t>Hyper-Connections</a:t>
            </a:r>
            <a:r>
              <a:rPr lang="zh-CN" altLang="en-US" dirty="0"/>
              <a:t>对传统残差连接做了修改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将残差通道的宽度扩展</a:t>
            </a:r>
            <a:r>
              <a:rPr lang="en-US" altLang="zh-CN" dirty="0"/>
              <a:t>n</a:t>
            </a:r>
            <a:r>
              <a:rPr lang="zh-CN" altLang="en-US" dirty="0"/>
              <a:t>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并引入可学习的线性变换来管理这些通道</a:t>
            </a:r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D50CCC1A-48AE-AE3B-BBDF-3BC583424FDE}"/>
              </a:ext>
            </a:extLst>
          </p:cNvPr>
          <p:cNvPicPr>
            <a:picLocks/>
          </p:cNvPicPr>
          <p:nvPr/>
        </p:nvPicPr>
        <p:blipFill>
          <a:blip r:embed="rId2"/>
          <a:srcRect b="82414"/>
          <a:stretch>
            <a:fillRect/>
          </a:stretch>
        </p:blipFill>
        <p:spPr>
          <a:xfrm>
            <a:off x="618360" y="1690688"/>
            <a:ext cx="10955279" cy="526050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51882CC3-22B7-F16D-2378-E7BE092FFCA8}"/>
              </a:ext>
            </a:extLst>
          </p:cNvPr>
          <p:cNvPicPr>
            <a:picLocks/>
          </p:cNvPicPr>
          <p:nvPr/>
        </p:nvPicPr>
        <p:blipFill>
          <a:blip r:embed="rId2"/>
          <a:srcRect t="37384"/>
          <a:stretch>
            <a:fillRect/>
          </a:stretch>
        </p:blipFill>
        <p:spPr>
          <a:xfrm>
            <a:off x="618360" y="2291643"/>
            <a:ext cx="10955279" cy="187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6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B9FB9-D514-8A52-BCD2-41EDCD76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</a:t>
            </a:r>
            <a:r>
              <a:rPr lang="zh-CN" altLang="en-US" dirty="0"/>
              <a:t>扩展了残差流的宽度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0AEDE8-CA09-3106-1A70-C610CF571C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66077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传统残差连接里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b="0" dirty="0"/>
                  <a:t>表示第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层的输入，这是一个</a:t>
                </a:r>
                <a:r>
                  <a:rPr lang="en-US" altLang="zh-CN" b="0" dirty="0"/>
                  <a:t>d</a:t>
                </a:r>
                <a:r>
                  <a:rPr lang="zh-CN" altLang="en-US" b="0" dirty="0"/>
                  <a:t>维的列向量</a:t>
                </a:r>
                <a:endParaRPr lang="en-US" altLang="zh-CN" b="0" dirty="0"/>
              </a:p>
              <a:p>
                <a:r>
                  <a:rPr lang="zh-CN" altLang="en-US" dirty="0"/>
                  <a:t>我们觉得仅仅用一个向量在深层网络中传递信息，带宽太窄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希望在这个高速公路上同时并行传输多个版本的信息</a:t>
                </a:r>
                <a:endParaRPr lang="en-US" altLang="zh-CN" b="0" dirty="0"/>
              </a:p>
              <a:p>
                <a:r>
                  <a:rPr lang="zh-CN" altLang="en-US" dirty="0"/>
                  <a:t>字节跳动的</a:t>
                </a:r>
                <a:r>
                  <a:rPr lang="en-US" altLang="zh-CN" dirty="0"/>
                  <a:t>Hyper-Connections</a:t>
                </a:r>
                <a:r>
                  <a:rPr lang="zh-CN" altLang="en-US" dirty="0"/>
                  <a:t>里面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b="0" dirty="0"/>
                  <a:t>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zh-CN" altLang="en-US" b="0" dirty="0"/>
                  <a:t>层的输入是一个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b="0" dirty="0"/>
                  <a:t>维的矩阵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b="0" dirty="0"/>
                  <a:t>是由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个不同的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b="0" dirty="0"/>
                  <a:t>维列向量拼接得来的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30AEDE8-CA09-3106-1A70-C610CF571C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660776"/>
              </a:xfrm>
              <a:blipFill>
                <a:blip r:embed="rId2"/>
                <a:stretch>
                  <a:fillRect l="-1043" t="-2995" b="-13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30BE2BD-3482-5138-01C2-97CC77970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2" y="5621338"/>
            <a:ext cx="11565835" cy="72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BDA60-9618-1F1E-24D9-B521C7D80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2DF103-FFCB-81FB-BA96-1F57D328DF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305879"/>
                <a:ext cx="10515600" cy="1013638"/>
              </a:xfrm>
            </p:spPr>
            <p:txBody>
              <a:bodyPr/>
              <a:lstStyle/>
              <a:p>
                <a:r>
                  <a:rPr lang="zh-CN" altLang="en-US" dirty="0"/>
                  <a:t>初始化的时候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矩阵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（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dirty="0"/>
                  <a:t>由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维向量复制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份而来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2DF103-FFCB-81FB-BA96-1F57D328DF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305879"/>
                <a:ext cx="10515600" cy="1013638"/>
              </a:xfrm>
              <a:blipFill>
                <a:blip r:embed="rId2"/>
                <a:stretch>
                  <a:fillRect l="-1043" t="-10778" b="-13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430D1F8D-3CE7-29E5-01E1-EB5242CE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78" y="1458803"/>
            <a:ext cx="11695043" cy="767036"/>
          </a:xfrm>
          <a:prstGeom prst="rect">
            <a:avLst/>
          </a:prstGeom>
        </p:spPr>
      </p:pic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4ACA5050-F992-74D1-20D2-77A0D5A68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931" y="2169881"/>
            <a:ext cx="1348087" cy="16970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D3DD1F2-26A4-338F-9EBA-62876093BB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922" y="3344216"/>
            <a:ext cx="4049526" cy="497969"/>
          </a:xfrm>
          <a:prstGeom prst="rect">
            <a:avLst/>
          </a:prstGeom>
        </p:spPr>
      </p:pic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67F123A-9AF7-12AE-1959-C76928089EE7}"/>
              </a:ext>
            </a:extLst>
          </p:cNvPr>
          <p:cNvSpPr txBox="1">
            <a:spLocks/>
          </p:cNvSpPr>
          <p:nvPr/>
        </p:nvSpPr>
        <p:spPr>
          <a:xfrm>
            <a:off x="838199" y="3946925"/>
            <a:ext cx="10515600" cy="2752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HC</a:t>
            </a:r>
            <a:r>
              <a:rPr lang="zh-CN" altLang="en-US" dirty="0"/>
              <a:t>里的残差项不再是直接相加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而是乘上了一个可以动态调整的矩阵</a:t>
            </a:r>
            <a:endParaRPr lang="en-US" altLang="zh-CN" dirty="0"/>
          </a:p>
          <a:p>
            <a:r>
              <a:rPr lang="en-US" altLang="zh-CN" dirty="0"/>
              <a:t>HC</a:t>
            </a:r>
            <a:r>
              <a:rPr lang="zh-CN" altLang="en-US" dirty="0"/>
              <a:t>的新信息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对</a:t>
            </a:r>
            <a:r>
              <a:rPr lang="en-US" altLang="zh-CN" dirty="0"/>
              <a:t>n</a:t>
            </a:r>
            <a:r>
              <a:rPr lang="zh-CN" altLang="en-US" dirty="0"/>
              <a:t>个通道的输入进行加权聚合到一个通道通过层函数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然后再广播回</a:t>
            </a:r>
            <a:r>
              <a:rPr lang="en-US" altLang="zh-CN" dirty="0"/>
              <a:t>n</a:t>
            </a:r>
            <a:r>
              <a:rPr lang="zh-CN" altLang="en-US" dirty="0"/>
              <a:t>个通道成为新信息</a:t>
            </a:r>
          </a:p>
        </p:txBody>
      </p:sp>
    </p:spTree>
    <p:extLst>
      <p:ext uri="{BB962C8B-B14F-4D97-AF65-F5344CB8AC3E}">
        <p14:creationId xmlns:p14="http://schemas.microsoft.com/office/powerpoint/2010/main" val="276141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1A9FF0-70D0-3CFF-1554-99B20E5E0E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070514"/>
              </a:xfrm>
            </p:spPr>
            <p:txBody>
              <a:bodyPr/>
              <a:lstStyle/>
              <a:p>
                <a:r>
                  <a:rPr lang="zh-CN" altLang="en-US" dirty="0"/>
                  <a:t>这里的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dirty="0"/>
                  <a:t>行数为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，列数为隐藏层维度</a:t>
                </a:r>
                <a:r>
                  <a:rPr lang="en-US" altLang="zh-CN" dirty="0"/>
                  <a:t>d</a:t>
                </a:r>
              </a:p>
              <a:p>
                <a:r>
                  <a:rPr lang="en-US" altLang="zh-CN" dirty="0"/>
                  <a:t>HC</a:t>
                </a:r>
                <a:r>
                  <a:rPr lang="zh-CN" altLang="en-US" dirty="0"/>
                  <a:t>里的三个</a:t>
                </a:r>
                <a:r>
                  <a:rPr lang="en-US" altLang="zh-CN" dirty="0"/>
                  <a:t>H</a:t>
                </a:r>
                <a:r>
                  <a:rPr lang="zh-CN" altLang="en-US" dirty="0"/>
                  <a:t>矩阵 </a:t>
                </a:r>
                <a:r>
                  <a:rPr lang="en-US" altLang="zh-CN" dirty="0"/>
                  <a:t>res post pre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都是可训练的</a:t>
                </a:r>
                <a:endParaRPr lang="en-US" altLang="zh-CN" dirty="0"/>
              </a:p>
              <a:p>
                <a:r>
                  <a:rPr lang="zh-CN" altLang="en-US" dirty="0"/>
                  <a:t>递归展开一下：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A1A9FF0-70D0-3CFF-1554-99B20E5E0E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070514"/>
              </a:xfrm>
              <a:blipFill>
                <a:blip r:embed="rId2"/>
                <a:stretch>
                  <a:fillRect l="-1043" t="-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953A74AD-32A2-C501-D201-22BDC623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69" y="608168"/>
            <a:ext cx="8319052" cy="885613"/>
          </a:xfrm>
          <a:prstGeom prst="rect">
            <a:avLst/>
          </a:prstGeom>
        </p:spPr>
      </p:pic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BE913108-132B-1F2B-5DB3-47D9CAB5F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106" y="3916017"/>
            <a:ext cx="4890330" cy="878783"/>
          </a:xfrm>
          <a:prstGeom prst="rect">
            <a:avLst/>
          </a:prstGeom>
        </p:spPr>
      </p:pic>
      <p:pic>
        <p:nvPicPr>
          <p:cNvPr id="11" name="图片 10" descr="卡通人物&#10;&#10;AI 生成的内容可能不正确。">
            <a:extLst>
              <a:ext uri="{FF2B5EF4-FFF2-40B4-BE49-F238E27FC236}">
                <a16:creationId xmlns:a16="http://schemas.microsoft.com/office/drawing/2014/main" id="{BC73041D-AE5F-0E27-E01E-D50FB0309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655" y="3896139"/>
            <a:ext cx="3597067" cy="486090"/>
          </a:xfrm>
          <a:prstGeom prst="rect">
            <a:avLst/>
          </a:prstGeom>
        </p:spPr>
      </p:pic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81C85421-6A17-F1AB-4BF5-497D2D1F18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8180" y="4814678"/>
            <a:ext cx="2737091" cy="416207"/>
          </a:xfrm>
          <a:prstGeom prst="rect">
            <a:avLst/>
          </a:prstGeom>
        </p:spPr>
      </p:pic>
      <p:pic>
        <p:nvPicPr>
          <p:cNvPr id="15" name="图片 14" descr="卡通人物&#10;&#10;AI 生成的内容可能不正确。">
            <a:extLst>
              <a:ext uri="{FF2B5EF4-FFF2-40B4-BE49-F238E27FC236}">
                <a16:creationId xmlns:a16="http://schemas.microsoft.com/office/drawing/2014/main" id="{E020615C-2859-575A-98C2-D66731C576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8180" y="5270641"/>
            <a:ext cx="2717364" cy="37701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1B946CF-19F0-32DF-0867-713DAF554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1212" y="5250763"/>
            <a:ext cx="4490626" cy="40107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BD456A8-6B17-89C9-2942-F1D74BE03F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6862" y="5736853"/>
            <a:ext cx="5015019" cy="37148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E4D1ADF-4823-228E-97C6-68D3DFCA97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2212" y="6172938"/>
            <a:ext cx="4738121" cy="35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3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CB40C-A642-BC02-19DE-67347D73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传统残差连接与</a:t>
            </a:r>
            <a:r>
              <a:rPr lang="en-US" altLang="zh-CN" dirty="0"/>
              <a:t>HC</a:t>
            </a:r>
            <a:r>
              <a:rPr lang="zh-CN" altLang="en-US" dirty="0"/>
              <a:t>的区别：累加与累乘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C575B8-BB97-ED8F-17C3-27361175B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34432"/>
            <a:ext cx="10515600" cy="2417469"/>
          </a:xfrm>
        </p:spPr>
        <p:txBody>
          <a:bodyPr/>
          <a:lstStyle/>
          <a:p>
            <a:r>
              <a:rPr lang="zh-CN" altLang="en-US" dirty="0"/>
              <a:t>传统残差连接里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恒等映射</a:t>
            </a:r>
            <a:endParaRPr lang="en-US" altLang="zh-CN" dirty="0"/>
          </a:p>
          <a:p>
            <a:r>
              <a:rPr lang="en-US" altLang="zh-CN" dirty="0"/>
              <a:t>Hyper-Connections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复合映射</a:t>
            </a:r>
            <a:endParaRPr lang="en-US" altLang="zh-CN" dirty="0"/>
          </a:p>
        </p:txBody>
      </p:sp>
      <p:pic>
        <p:nvPicPr>
          <p:cNvPr id="4" name="图片 3" descr="卡通人物&#10;&#10;AI 生成的内容可能不正确。">
            <a:extLst>
              <a:ext uri="{FF2B5EF4-FFF2-40B4-BE49-F238E27FC236}">
                <a16:creationId xmlns:a16="http://schemas.microsoft.com/office/drawing/2014/main" id="{36C2AF46-6594-2038-AE01-5E42C0DB9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953" y="1459307"/>
            <a:ext cx="3354768" cy="1013641"/>
          </a:xfrm>
          <a:prstGeom prst="rect">
            <a:avLst/>
          </a:prstGeom>
        </p:spPr>
      </p:pic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E9268F12-9FE0-F775-6368-8ABCD6DD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953" y="2722229"/>
            <a:ext cx="4985360" cy="10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0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A8CADB8-1778-3934-FFC8-F701DBD74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9" y="0"/>
            <a:ext cx="120845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38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132784-23A9-7809-63A8-45C84F12B0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93503"/>
                <a:ext cx="10515600" cy="3483459"/>
              </a:xfrm>
            </p:spPr>
            <p:txBody>
              <a:bodyPr/>
              <a:lstStyle/>
              <a:p>
                <a:r>
                  <a:rPr lang="en-US" altLang="zh-CN" dirty="0"/>
                  <a:t>deepseek</a:t>
                </a:r>
                <a:r>
                  <a:rPr lang="zh-CN" altLang="en-US" dirty="0"/>
                  <a:t>认为这样的复合映射不好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可能会导致无界的信号放大和衰减</a:t>
                </a:r>
                <a:endParaRPr lang="en-US" altLang="zh-CN" dirty="0"/>
              </a:p>
              <a:p>
                <a:r>
                  <a:rPr lang="zh-CN" altLang="en-US" dirty="0"/>
                  <a:t>无约束的矩阵连乘会闯祸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需要对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𝑟𝑒𝑠</m:t>
                        </m:r>
                      </m:sup>
                    </m:sSup>
                  </m:oMath>
                </a14:m>
                <a:r>
                  <a:rPr lang="zh-CN" altLang="en-US" dirty="0"/>
                  <a:t>加上约束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让他守规矩，避免连乘爆炸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2132784-23A9-7809-63A8-45C84F12B0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93503"/>
                <a:ext cx="10515600" cy="3483459"/>
              </a:xfrm>
              <a:blipFill>
                <a:blip r:embed="rId2"/>
                <a:stretch>
                  <a:fillRect l="-1043" t="-33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6F063E8-E0BD-445C-7592-D7FD3B1E4EEF}"/>
              </a:ext>
            </a:extLst>
          </p:cNvPr>
          <p:cNvPicPr>
            <a:picLocks/>
          </p:cNvPicPr>
          <p:nvPr/>
        </p:nvPicPr>
        <p:blipFill>
          <a:blip r:embed="rId3"/>
          <a:srcRect t="9628"/>
          <a:stretch>
            <a:fillRect/>
          </a:stretch>
        </p:blipFill>
        <p:spPr>
          <a:xfrm>
            <a:off x="248478" y="1113257"/>
            <a:ext cx="11695043" cy="101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1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F92CD-9E11-907A-6930-EE6C7607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Birkhoff</a:t>
            </a:r>
            <a:r>
              <a:rPr lang="zh-CN" altLang="en-US" dirty="0"/>
              <a:t>多胞形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5AC982-8D23-6CA4-85BC-7036047E5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494291"/>
            <a:ext cx="10515600" cy="1550936"/>
          </a:xfrm>
        </p:spPr>
        <p:txBody>
          <a:bodyPr/>
          <a:lstStyle/>
          <a:p>
            <a:r>
              <a:rPr lang="zh-CN" altLang="en-US" dirty="0"/>
              <a:t>每一行加起来是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每一列加起来是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元素均非负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CA11A86-7EC3-17A9-FA7B-AA165F8F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3" y="4199065"/>
            <a:ext cx="11655287" cy="7074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BCA9EC-181E-1482-FB52-C798184EA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1542550"/>
            <a:ext cx="10515600" cy="592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092A641A-9F45-D4E1-9A4E-38A2FF4301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7" y="5076628"/>
                <a:ext cx="10515600" cy="15509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把原本无约束的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𝑟𝑒𝑠</m:t>
                        </m:r>
                      </m:sup>
                    </m:sSup>
                  </m:oMath>
                </a14:m>
                <a:r>
                  <a:rPr lang="zh-CN" altLang="en-US" dirty="0"/>
                  <a:t>强行投影到</a:t>
                </a:r>
                <a:r>
                  <a:rPr lang="en-US" altLang="zh-CN" dirty="0"/>
                  <a:t>Birkhoff</a:t>
                </a:r>
                <a:r>
                  <a:rPr lang="zh-CN" altLang="en-US" dirty="0"/>
                  <a:t>多胞形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这样的数学限制就解决了连乘爆炸的问题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8" name="内容占位符 2">
                <a:extLst>
                  <a:ext uri="{FF2B5EF4-FFF2-40B4-BE49-F238E27FC236}">
                    <a16:creationId xmlns:a16="http://schemas.microsoft.com/office/drawing/2014/main" id="{092A641A-9F45-D4E1-9A4E-38A2FF430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7" y="5076628"/>
                <a:ext cx="10515600" cy="1550936"/>
              </a:xfrm>
              <a:prstGeom prst="rect">
                <a:avLst/>
              </a:prstGeom>
              <a:blipFill>
                <a:blip r:embed="rId4"/>
                <a:stretch>
                  <a:fillRect l="-986" t="-70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320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EA255-14D0-907E-5CCF-13EEDA49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为什么是</a:t>
            </a:r>
            <a:r>
              <a:rPr lang="en-US" altLang="zh-CN" dirty="0"/>
              <a:t>Birkhoff</a:t>
            </a:r>
            <a:r>
              <a:rPr lang="zh-CN" altLang="en-US" dirty="0"/>
              <a:t>多胞形？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8733EB-C83A-D04B-B509-E471245BF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0" y="1518347"/>
            <a:ext cx="11744739" cy="1127251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42BD0F63-842E-26FE-19DA-A0E6B9E3C037}"/>
              </a:ext>
            </a:extLst>
          </p:cNvPr>
          <p:cNvPicPr>
            <a:picLocks/>
          </p:cNvPicPr>
          <p:nvPr/>
        </p:nvPicPr>
        <p:blipFill>
          <a:blip r:embed="rId3"/>
          <a:srcRect t="5235"/>
          <a:stretch>
            <a:fillRect/>
          </a:stretch>
        </p:blipFill>
        <p:spPr>
          <a:xfrm>
            <a:off x="223629" y="2864676"/>
            <a:ext cx="11744739" cy="1425429"/>
          </a:xfrm>
          <a:prstGeom prst="rect">
            <a:avLst/>
          </a:prstGeom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914355C7-C712-320F-49C4-75990847E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9183"/>
            <a:ext cx="10515600" cy="2146141"/>
          </a:xfrm>
        </p:spPr>
        <p:txBody>
          <a:bodyPr/>
          <a:lstStyle/>
          <a:p>
            <a:r>
              <a:rPr lang="en-US" altLang="zh-CN" dirty="0"/>
              <a:t>Birkhoff</a:t>
            </a:r>
            <a:r>
              <a:rPr lang="zh-CN" altLang="en-US" dirty="0"/>
              <a:t>多胞形谱范数不大于</a:t>
            </a:r>
            <a:r>
              <a:rPr lang="en-US" altLang="zh-CN" dirty="0"/>
              <a:t>1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信号不会无限放大</a:t>
            </a:r>
            <a:endParaRPr lang="en-US" altLang="zh-CN" dirty="0"/>
          </a:p>
          <a:p>
            <a:r>
              <a:rPr lang="en-US" altLang="zh-CN" dirty="0"/>
              <a:t>Birkhoff</a:t>
            </a:r>
            <a:r>
              <a:rPr lang="zh-CN" altLang="en-US" dirty="0"/>
              <a:t>多胞形对矩阵乘法封闭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连乘后的矩阵依旧在我们的安全区里</a:t>
            </a:r>
          </a:p>
        </p:txBody>
      </p:sp>
    </p:spTree>
    <p:extLst>
      <p:ext uri="{BB962C8B-B14F-4D97-AF65-F5344CB8AC3E}">
        <p14:creationId xmlns:p14="http://schemas.microsoft.com/office/powerpoint/2010/main" val="84028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4418B9-C731-6823-4C1C-3DFEFEFBE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为什么是</a:t>
            </a:r>
            <a:r>
              <a:rPr lang="en-US" altLang="zh-CN" dirty="0"/>
              <a:t>Birkhoff</a:t>
            </a:r>
            <a:r>
              <a:rPr lang="zh-CN" altLang="en-US" dirty="0"/>
              <a:t>多胞形？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23053A-C420-CDE3-9F8A-0399A69A9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53527"/>
                <a:ext cx="10515600" cy="2123436"/>
              </a:xfrm>
            </p:spPr>
            <p:txBody>
              <a:bodyPr/>
              <a:lstStyle/>
              <a:p>
                <a:r>
                  <a:rPr lang="en-US" altLang="zh-CN" dirty="0"/>
                  <a:t>Birkhoff </a:t>
                </a:r>
                <a:r>
                  <a:rPr lang="zh-CN" altLang="en-US" dirty="0"/>
                  <a:t>多胞形是置换矩阵的凸包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左乘置换矩阵就是只做行与行的交换，不融合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Birkhoff </a:t>
                </a:r>
                <a:r>
                  <a:rPr lang="zh-CN" altLang="en-US" dirty="0"/>
                  <a:t>多胞形里的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𝑟𝑒𝑠</m:t>
                        </m:r>
                      </m:sup>
                    </m:sSup>
                  </m:oMath>
                </a14:m>
                <a:r>
                  <a:rPr lang="zh-CN" altLang="en-US" dirty="0"/>
                  <a:t>就是多个置换矩阵的加权平均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这意味着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𝑟𝑒𝑠</m:t>
                        </m:r>
                      </m:sup>
                    </m:s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是在做</m:t>
                    </m:r>
                  </m:oMath>
                </a14:m>
                <a:r>
                  <a:rPr lang="zh-CN" altLang="en-US" dirty="0"/>
                  <a:t>一种能量守恒的特征融合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423053A-C420-CDE3-9F8A-0399A69A9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53527"/>
                <a:ext cx="10515600" cy="2123436"/>
              </a:xfrm>
              <a:blipFill>
                <a:blip r:embed="rId2"/>
                <a:stretch>
                  <a:fillRect l="-1043" t="-5460" b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ADE593E9-9D09-7555-D0C0-E0D69A8C5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30" y="1690688"/>
            <a:ext cx="11744739" cy="151495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B619A6D-D1FD-C3DB-B877-91FB5FFED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30" y="3205645"/>
            <a:ext cx="11744739" cy="66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8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F6CE0-271A-925C-5EE5-2A22411D8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能量守恒的特征融合</a:t>
            </a:r>
          </a:p>
        </p:txBody>
      </p:sp>
      <p:sp>
        <p:nvSpPr>
          <p:cNvPr id="8" name="AutoShape 2" descr="Image of ">
            <a:extLst>
              <a:ext uri="{FF2B5EF4-FFF2-40B4-BE49-F238E27FC236}">
                <a16:creationId xmlns:a16="http://schemas.microsoft.com/office/drawing/2014/main" id="{35938A3F-5681-E5ED-0D4C-2F6A13DA42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7231287-2A2E-C929-BE6B-6CFE1A3C6AA1}"/>
              </a:ext>
            </a:extLst>
          </p:cNvPr>
          <p:cNvPicPr>
            <a:picLocks/>
          </p:cNvPicPr>
          <p:nvPr/>
        </p:nvPicPr>
        <p:blipFill>
          <a:blip r:embed="rId2"/>
          <a:srcRect t="16220"/>
          <a:stretch>
            <a:fillRect/>
          </a:stretch>
        </p:blipFill>
        <p:spPr>
          <a:xfrm>
            <a:off x="1915916" y="1521005"/>
            <a:ext cx="8360167" cy="516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985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C8606-E5AB-AB0E-A4FA-E884E7D25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Sinkhorn-Knopp 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5E0BA-90E0-6407-E8E5-02A90078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0653"/>
            <a:ext cx="10515600" cy="3139124"/>
          </a:xfrm>
        </p:spPr>
        <p:txBody>
          <a:bodyPr>
            <a:normAutofit/>
          </a:bodyPr>
          <a:lstStyle/>
          <a:p>
            <a:r>
              <a:rPr lang="zh-CN" altLang="en-US" dirty="0"/>
              <a:t>神经网络可能输出负数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Birkhoff</a:t>
            </a:r>
            <a:r>
              <a:rPr lang="zh-CN" altLang="en-US" dirty="0"/>
              <a:t>多胞形的硬性要求是非负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因此</a:t>
            </a:r>
            <a:r>
              <a:rPr lang="en-US" altLang="zh-CN" dirty="0"/>
              <a:t>Sinkhorn-Knopp</a:t>
            </a:r>
            <a:r>
              <a:rPr lang="zh-CN" altLang="en-US" dirty="0"/>
              <a:t>首先通过指数运算</a:t>
            </a:r>
            <a:r>
              <a:rPr lang="zh-CN" altLang="en-US" b="1" dirty="0"/>
              <a:t>把所有元素变为正值</a:t>
            </a:r>
            <a:endParaRPr lang="en-US" altLang="zh-CN" b="1" dirty="0"/>
          </a:p>
          <a:p>
            <a:r>
              <a:rPr lang="zh-CN" altLang="en-US" dirty="0"/>
              <a:t>然后进行迭代归一化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b="1" dirty="0"/>
              <a:t>交替缩放</a:t>
            </a:r>
            <a:r>
              <a:rPr lang="zh-CN" altLang="en-US" dirty="0"/>
              <a:t>行和列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使其和为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AE0FBB-F507-ABF4-9CEE-BB99E701A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10" y="1463285"/>
            <a:ext cx="11692379" cy="102201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0702E17-0F6C-1E72-F022-E258A713D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10" y="5759777"/>
            <a:ext cx="11786647" cy="1010490"/>
          </a:xfrm>
          <a:prstGeom prst="rect">
            <a:avLst/>
          </a:prstGeom>
        </p:spPr>
      </p:pic>
      <p:pic>
        <p:nvPicPr>
          <p:cNvPr id="7" name="图片 6" descr="图片包含 图示&#10;&#10;AI 生成的内容可能不正确。">
            <a:extLst>
              <a:ext uri="{FF2B5EF4-FFF2-40B4-BE49-F238E27FC236}">
                <a16:creationId xmlns:a16="http://schemas.microsoft.com/office/drawing/2014/main" id="{13AD032D-F3D3-474B-0E0A-59CA551A7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413" y="5083408"/>
            <a:ext cx="3658111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1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9F7EF31-5E19-0094-7F31-307C177F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417212"/>
            <a:ext cx="9753600" cy="5324475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7C7D9402-3AFF-8A93-3218-9792A2EA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对比总结</a:t>
            </a:r>
          </a:p>
        </p:txBody>
      </p:sp>
    </p:spTree>
    <p:extLst>
      <p:ext uri="{BB962C8B-B14F-4D97-AF65-F5344CB8AC3E}">
        <p14:creationId xmlns:p14="http://schemas.microsoft.com/office/powerpoint/2010/main" val="208948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644</Words>
  <Application>Microsoft Office PowerPoint</Application>
  <PresentationFormat>宽屏</PresentationFormat>
  <Paragraphs>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等线 Light</vt:lpstr>
      <vt:lpstr>Arial</vt:lpstr>
      <vt:lpstr>Cambria Math</vt:lpstr>
      <vt:lpstr>Office 主题​​</vt:lpstr>
      <vt:lpstr>    Deepseek mHC技术解读 从传统残差连接到字节跳动的HC到Deepseek的mHC</vt:lpstr>
      <vt:lpstr>主要内容</vt:lpstr>
      <vt:lpstr>残差连接</vt:lpstr>
      <vt:lpstr>2024 字节跳动提出Hyper-Connections</vt:lpstr>
      <vt:lpstr>HC扩展了残差流的宽度</vt:lpstr>
      <vt:lpstr>HC</vt:lpstr>
      <vt:lpstr>PowerPoint 演示文稿</vt:lpstr>
      <vt:lpstr>传统残差连接与HC的区别：累加与累乘 </vt:lpstr>
      <vt:lpstr>PowerPoint 演示文稿</vt:lpstr>
      <vt:lpstr>PowerPoint 演示文稿</vt:lpstr>
      <vt:lpstr>Birkhoff多胞形</vt:lpstr>
      <vt:lpstr>为什么是Birkhoff多胞形？</vt:lpstr>
      <vt:lpstr>为什么是Birkhoff多胞形？</vt:lpstr>
      <vt:lpstr>能量守恒的特征融合</vt:lpstr>
      <vt:lpstr>Sinkhorn-Knopp 算法</vt:lpstr>
      <vt:lpstr>对比总结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4</cp:revision>
  <dcterms:created xsi:type="dcterms:W3CDTF">2026-01-02T07:55:09Z</dcterms:created>
  <dcterms:modified xsi:type="dcterms:W3CDTF">2026-01-02T14:10:09Z</dcterms:modified>
</cp:coreProperties>
</file>