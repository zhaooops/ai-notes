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C364DB-B5F1-4B78-B212-BBD72A4BC93B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E425B-21BB-4827-8AD1-4455CC1A4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59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E425B-21BB-4827-8AD1-4455CC1A4D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902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13235D-EF75-E491-8851-D2D678EB6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A44256C-E36A-B306-C208-C29FE14CB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042341-9E8C-A48B-E1A9-CEBA4A177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8E7F6B-9BFC-87E4-617C-B329EE3D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683C5A-0C89-321E-6EA9-4FCDC6866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924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A511D-3377-9700-E106-807165831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496672-D00D-BD57-0C04-44EDE9EAA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6E3B3-CF9E-05DE-D062-B8F13EA2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CDB55-D3A9-FF2B-D862-C35C99C7F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8CC877-216E-BEC7-2E83-97DB9DC2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56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DEA22-44D9-4BB1-451A-05FD77C63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6A80E0-DF8F-A615-B42E-1167BCE76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491EB6-C234-1D78-0B17-8A750500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3FD104-9D9E-7ECC-97B5-D3034B8FE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9829F5-72BE-E981-49D7-A4CD31E3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439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D2B45-DB60-C838-2551-F41AD1E51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9D8EC-C4F0-416F-D235-3BF2D5E454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3205F6-A144-2F7F-1A7D-78F58102C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97AFAE-0A18-0656-3BB4-AF91F7616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AAEF25-EE40-259A-DD6C-789060D7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4C1D96B-CA15-C2CA-4404-8ED2767A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70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CC19D-AC8B-48C8-8064-F40DF6B62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34F5CC-63FF-6B7C-0274-9E1AC6F3F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C4BE28-81E9-C2CD-C6D0-E233FD9D2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32D740-82E7-D92A-FAB0-49C6BC4B24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6F1D2E-A113-418B-1B26-2244B3FB8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2F3558-DC6F-B63E-366A-302898FB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62EA69-0C16-0FC7-3307-7BE73A1E8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519F7E-3191-0FE6-3689-801E441B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009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54870E-E1CC-89EB-3ED7-DD094DEE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1129B4-21AC-046A-A372-3CBE469DD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C1D36C2-7FD5-C929-0D23-649A23F6F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06F033-DC24-92D4-6FD0-A7E35DD5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769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1F775D2-188B-1567-55A9-3BBC351D7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80BC17-87C3-06ED-B9B2-A208DEF9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4B5424-8357-B0FF-596A-B40093165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54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B7A208-292B-19A5-8DD6-483AFCC4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58A422-7E06-74E3-0668-55A966A5B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4F5DA8-8EC0-4AD6-6728-233268B8C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8EB3E3-AFC9-8F5E-85B7-C357CB2B9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384994-E898-0DC6-6B76-46127FC1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C13E72-3BD8-6CDD-0390-A506EBBDF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74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BA7E34-B887-B05E-D66A-97A87449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4DBDC7-21D4-2ABB-4839-818FEC98E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FBA86A-C59C-51AB-AFD7-5BBAA8683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81224E-D913-BA0C-03B6-EAD1077E3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60DE3E-5689-0798-2ABB-69B1E40E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3C2FD0-A3D9-AD0E-E092-5025AB6F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72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BA17A0-6E7E-6F86-F1B4-9F13B0D20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436E84-E6ED-7347-AFB7-EA86FA543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4D8F6-6D10-5BDC-0D74-B5783193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1E0F5-8D4A-CD28-791E-63D90F3E3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603438-9C88-4D53-EAF9-ABAE1EB4C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342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0FAB90-86B0-28A5-07B5-8F6F8150DA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7325DA-EA7B-E2AB-2258-A3E7002B4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940C58-7C30-25C2-0A36-848BA6717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B5805-4417-8122-4C3B-ABA2C001C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877FFC-BE54-DFDC-6DA7-1BF90A8F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087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864413-08ED-76E9-A852-9B3A41722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91DB8D-5057-E897-55D2-473B9DBF3F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23C4E0-6A79-B48B-464F-21304FF13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B39DD-5181-4176-9251-837DBDAE4149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BECC65-053B-64EE-2F68-A2E56674E6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2E559D-DF44-4756-ED81-78A2C739E0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65645-DDC3-4374-A8B0-3C7AF49ED9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61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62445B-F446-2AEA-3D53-AFFA7F1111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无约束的矩阵</a:t>
            </a:r>
            <a:r>
              <a:rPr lang="zh-CN" altLang="en-US" b="1" dirty="0"/>
              <a:t>低秩近似</a:t>
            </a:r>
            <a:br>
              <a:rPr lang="en-US" altLang="zh-CN" b="1" dirty="0"/>
            </a:br>
            <a:r>
              <a:rPr lang="zh-CN" altLang="en-US" b="1" dirty="0"/>
              <a:t>伪逆</a:t>
            </a:r>
            <a:r>
              <a:rPr lang="zh-CN" altLang="en-US" dirty="0"/>
              <a:t>与</a:t>
            </a:r>
            <a:r>
              <a:rPr lang="en-US" altLang="zh-CN" b="1" dirty="0"/>
              <a:t>SVD</a:t>
            </a:r>
            <a:r>
              <a:rPr lang="zh-CN" altLang="en-US" b="1" dirty="0"/>
              <a:t>奇异值分解</a:t>
            </a:r>
            <a:br>
              <a:rPr lang="en-US" altLang="zh-CN" dirty="0"/>
            </a:br>
            <a:r>
              <a:rPr lang="en-US" altLang="zh-CN" dirty="0" err="1"/>
              <a:t>LoRA</a:t>
            </a:r>
            <a:r>
              <a:rPr lang="zh-CN" altLang="en-US" dirty="0"/>
              <a:t>微调和</a:t>
            </a:r>
            <a:r>
              <a:rPr lang="en-US" altLang="zh-CN" dirty="0"/>
              <a:t>MLA</a:t>
            </a:r>
            <a:r>
              <a:rPr lang="zh-CN" altLang="en-US" dirty="0"/>
              <a:t>的数学基础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0171FC-509C-8B99-18CD-FDA9B48C39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F98F89-F16A-254E-22F4-B705ACFC0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4429919"/>
            <a:ext cx="2286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80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239449-2170-42B2-2970-7204BB44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F043E1-C1F1-8CFF-42F6-E4FEC39ED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矩阵的范数</a:t>
            </a:r>
            <a:endParaRPr lang="en-US" altLang="zh-CN" dirty="0"/>
          </a:p>
          <a:p>
            <a:r>
              <a:rPr lang="en-US" altLang="zh-CN" dirty="0"/>
              <a:t>Frobenius</a:t>
            </a:r>
            <a:r>
              <a:rPr lang="zh-CN" altLang="en-US" dirty="0"/>
              <a:t>范数</a:t>
            </a:r>
            <a:endParaRPr lang="en-US" altLang="zh-CN" dirty="0"/>
          </a:p>
          <a:p>
            <a:r>
              <a:rPr lang="zh-CN" altLang="en-US" dirty="0"/>
              <a:t>伪逆（广义逆）</a:t>
            </a:r>
            <a:endParaRPr lang="en-US" altLang="zh-CN" dirty="0"/>
          </a:p>
          <a:p>
            <a:r>
              <a:rPr lang="zh-CN" altLang="en-US" dirty="0"/>
              <a:t>最优化求伪逆</a:t>
            </a:r>
            <a:endParaRPr lang="en-US" altLang="zh-CN" dirty="0"/>
          </a:p>
          <a:p>
            <a:r>
              <a:rPr lang="en-US" altLang="zh-CN" dirty="0"/>
              <a:t>SVD</a:t>
            </a:r>
            <a:r>
              <a:rPr lang="zh-CN" altLang="en-US" dirty="0"/>
              <a:t>分解求低秩近似</a:t>
            </a:r>
            <a:endParaRPr lang="en-US" altLang="zh-CN" dirty="0"/>
          </a:p>
          <a:p>
            <a:r>
              <a:rPr lang="en-US" altLang="zh-CN" dirty="0"/>
              <a:t>Eckart-Young-Mirsky </a:t>
            </a:r>
            <a:r>
              <a:rPr lang="zh-CN" altLang="en-US" dirty="0"/>
              <a:t>定理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170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A4A25-9276-C837-F6AD-D9970CAC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矩阵的范数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ED1D83-12E4-DDFD-0340-2A7DA6A03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54613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范数是向量或矩阵的一种度量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范数是将矩阵映射为非负实数的函数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满足正定性，齐次性，三角不等式，则称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是矩阵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</a:t>
                </a:r>
                <a:r>
                  <a:rPr lang="zh-CN" altLang="en-US" b="1" dirty="0"/>
                  <a:t>范数</a:t>
                </a:r>
                <a:endParaRPr lang="en-US" altLang="zh-CN" b="1" dirty="0"/>
              </a:p>
              <a:p>
                <a:r>
                  <a:rPr lang="en-US" altLang="zh-CN" dirty="0"/>
                  <a:t>Frobenius</a:t>
                </a:r>
                <a:r>
                  <a:rPr lang="zh-CN" altLang="en-US" dirty="0"/>
                  <a:t>范数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nary>
                      </m:e>
                    </m:ra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把矩阵的所有元素的平方加起来，开根号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简称</a:t>
                </a:r>
                <a:r>
                  <a:rPr lang="en-US" altLang="zh-CN" dirty="0"/>
                  <a:t>F</a:t>
                </a:r>
                <a:r>
                  <a:rPr lang="zh-CN" altLang="en-US" dirty="0"/>
                  <a:t>范数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ED1D83-12E4-DDFD-0340-2A7DA6A03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546136"/>
              </a:xfrm>
              <a:blipFill>
                <a:blip r:embed="rId2"/>
                <a:stretch>
                  <a:fillRect l="-1043" t="-19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24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1E554-76C0-8C30-B012-903DB111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正交变换不改变 </a:t>
            </a:r>
            <a:r>
              <a:rPr lang="en-US" altLang="zh-CN" dirty="0"/>
              <a:t>F </a:t>
            </a:r>
            <a:r>
              <a:rPr lang="zh-CN" altLang="en-US" dirty="0"/>
              <a:t>范数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9FA731-EB50-C117-D986-432592C4E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4855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proof</a:t>
                </a:r>
                <a:r>
                  <a:rPr lang="zh-CN" altLang="en-US" b="0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zh-CN" altLang="en-US" b="0" dirty="0"/>
                  <a:t>展开，其主对角线上元素为第</a:t>
                </a:r>
                <a:r>
                  <a:rPr lang="en-US" altLang="zh-CN" b="0" dirty="0" err="1"/>
                  <a:t>i</a:t>
                </a:r>
                <a:r>
                  <a:rPr lang="zh-CN" altLang="en-US" b="0" dirty="0"/>
                  <a:t>行元素平方和，再对主对角线上元素求和即得到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对任意矩阵</a:t>
                </a:r>
                <a14:m>
                  <m:oMath xmlns:m="http://schemas.openxmlformats.org/officeDocument/2006/math">
                    <m:r>
                      <a:rPr lang="zh-CN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lit/>
                      </m:rP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，左乘或右乘正交阵均称为正交变换</a:t>
                </a:r>
                <a:endParaRPr lang="en-US" altLang="zh-CN" b="0" dirty="0"/>
              </a:p>
              <a:p>
                <a:r>
                  <a:rPr lang="zh-CN" altLang="en-US" b="0" dirty="0"/>
                  <a:t>以左乘正交阵为例来证明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𝑄𝐴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𝑄𝐴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𝑄𝐴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𝑡𝑟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右乘正交阵的情况同理可证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89FA731-EB50-C117-D986-432592C4E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48552"/>
              </a:xfrm>
              <a:blipFill>
                <a:blip r:embed="rId2"/>
                <a:stretch>
                  <a:fillRect l="-1217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228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7A37B-6AB6-DF6D-7F0B-79BBAE194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广义逆（伪逆）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B80BE5-6D4E-F654-D017-AD24A95960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33841" cy="4351338"/>
              </a:xfrm>
            </p:spPr>
            <p:txBody>
              <a:bodyPr/>
              <a:lstStyle/>
              <a:p>
                <a:r>
                  <a:rPr lang="zh-CN" altLang="en-US" dirty="0"/>
                  <a:t>逆矩阵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若矩阵</a:t>
                </a:r>
                <a:r>
                  <a:rPr lang="en-US" altLang="zh-CN" dirty="0"/>
                  <a:t>AB=M</a:t>
                </a:r>
                <a:r>
                  <a:rPr lang="zh-CN" altLang="en-US" dirty="0"/>
                  <a:t>，且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为可逆的方阵，则有</a:t>
                </a:r>
                <a:r>
                  <a:rPr lang="en-US" altLang="zh-CN" dirty="0"/>
                  <a:t>B=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dirty="0"/>
                  <a:t>称为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那如果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不可逆呢？甚至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不是方阵呢？</a:t>
                </a:r>
                <a:endParaRPr lang="en-US" altLang="zh-CN" dirty="0"/>
              </a:p>
              <a:p>
                <a:r>
                  <a:rPr lang="zh-CN" altLang="en-US" dirty="0"/>
                  <a:t>广义逆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1920</a:t>
                </a:r>
                <a:r>
                  <a:rPr lang="zh-CN" altLang="en-US" dirty="0"/>
                  <a:t>年</a:t>
                </a:r>
                <a:r>
                  <a:rPr lang="en-US" altLang="zh-CN" dirty="0"/>
                  <a:t>Moore</a:t>
                </a:r>
                <a:r>
                  <a:rPr lang="zh-CN" altLang="en-US" dirty="0"/>
                  <a:t>提出广义逆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1954</a:t>
                </a:r>
                <a:r>
                  <a:rPr lang="zh-CN" altLang="en-US" dirty="0"/>
                  <a:t>年</a:t>
                </a:r>
                <a:r>
                  <a:rPr lang="en-US" altLang="zh-CN" dirty="0"/>
                  <a:t>Penrose</a:t>
                </a:r>
                <a:r>
                  <a:rPr lang="zh-CN" altLang="en-US" dirty="0"/>
                  <a:t>独立地给出了更完备的定义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	</a:t>
                </a:r>
                <a:r>
                  <a:rPr lang="zh-CN" altLang="en-US" dirty="0"/>
                  <a:t>这四个等式存在唯一解，这个解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就是矩阵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的伪逆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		《A GENERALIZED INVERSE FOR MATRICES》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3B80BE5-6D4E-F654-D017-AD24A95960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33841" cy="4351338"/>
              </a:xfrm>
              <a:blipFill>
                <a:blip r:embed="rId2"/>
                <a:stretch>
                  <a:fillRect l="-930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A4CBA5B1-E2C0-83E7-05E4-991AEDC30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580" y="4919183"/>
            <a:ext cx="1715692" cy="163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42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6590D9-ED25-7DC4-08CE-3269691F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另一种方式求伪逆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FB84BB-9A99-7224-DA19-1A26B6EDD7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696965"/>
              </a:xfrm>
            </p:spPr>
            <p:txBody>
              <a:bodyPr/>
              <a:lstStyle/>
              <a:p>
                <a:r>
                  <a:rPr lang="zh-CN" altLang="en-US" dirty="0"/>
                  <a:t>在已知矩阵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的情况下，求出一个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使得</a:t>
                </a:r>
                <a:r>
                  <a:rPr lang="en-US" altLang="zh-CN" dirty="0"/>
                  <a:t>AB</a:t>
                </a:r>
                <a:r>
                  <a:rPr lang="zh-CN" altLang="en-US" dirty="0"/>
                  <a:t>与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间误差最小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A</a:t>
                </a:r>
                <a:r>
                  <a:rPr lang="zh-CN" altLang="en-US" dirty="0"/>
                  <a:t>的伪逆</a:t>
                </a:r>
                <a:r>
                  <a:rPr lang="en-US" altLang="zh-CN" dirty="0"/>
                  <a:t>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其中</a:t>
                </a:r>
                <a:r>
                  <a:rPr lang="pt-BR" altLang="zh-CN" dirty="0"/>
                  <a:t>A∈Rn×r,B∈Rr×m,M∈Rn×m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上式的运算结果是一个使得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b="0" dirty="0"/>
                  <a:t>最小的矩阵</a:t>
                </a:r>
                <a:r>
                  <a:rPr lang="en-US" altLang="zh-CN" b="0" dirty="0"/>
                  <a:t>B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为使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b="0" dirty="0"/>
                  <a:t>最小，求</a:t>
                </a:r>
                <a:r>
                  <a:rPr lang="en-US" altLang="zh-CN" b="0" dirty="0"/>
                  <a:t>L</a:t>
                </a:r>
                <a:r>
                  <a:rPr lang="zh-CN" altLang="en-US" b="0" dirty="0"/>
                  <a:t>对矩阵</a:t>
                </a:r>
                <a:r>
                  <a:rPr lang="en-US" altLang="zh-CN" b="0" dirty="0"/>
                  <a:t>B</a:t>
                </a:r>
                <a:r>
                  <a:rPr lang="zh-CN" altLang="en-US" b="0" dirty="0"/>
                  <a:t>的导数</a:t>
                </a:r>
                <a:endParaRPr lang="en-US" altLang="zh-CN" b="0" dirty="0"/>
              </a:p>
              <a:p>
                <a:r>
                  <a:rPr lang="zh-CN" altLang="en-US" dirty="0"/>
                  <a:t>标量函数</a:t>
                </a:r>
                <a:r>
                  <a:rPr lang="en-US" altLang="zh-CN" dirty="0"/>
                  <a:t>f</a:t>
                </a:r>
                <a:r>
                  <a:rPr lang="zh-CN" altLang="en-US" dirty="0"/>
                  <a:t>的矩阵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</a:t>
                </a:r>
                <a:r>
                  <a:rPr lang="zh-CN" altLang="en-US" b="1" dirty="0"/>
                  <a:t>导数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FFB84BB-9A99-7224-DA19-1A26B6EDD7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696965"/>
              </a:xfrm>
              <a:blipFill>
                <a:blip r:embed="rId2"/>
                <a:stretch>
                  <a:fillRect l="-1043" t="-1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679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943E29A-8528-D9C8-3F3B-BB2D46D9E1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0" dirty="0"/>
                  <a:t>求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b="0" dirty="0"/>
                  <a:t>对矩阵</a:t>
                </a:r>
                <a:r>
                  <a:rPr lang="en-US" altLang="zh-CN" b="0" dirty="0"/>
                  <a:t>B</a:t>
                </a:r>
                <a:r>
                  <a:rPr lang="zh-CN" altLang="en-US" b="0" dirty="0"/>
                  <a:t>的导数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943E29A-8528-D9C8-3F3B-BB2D46D9E1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A710D0-AF87-D887-AE85-7CF25E6C6B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链式法则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令</a:t>
                </a:r>
                <a:r>
                  <a:rPr lang="en-US" altLang="zh-CN" dirty="0"/>
                  <a:t>E=AB-M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b="0" dirty="0"/>
                  <a:t>这里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代表</m:t>
                    </m:r>
                  </m:oMath>
                </a14:m>
                <a:r>
                  <a:rPr lang="zh-CN" altLang="en-US" b="0" dirty="0"/>
                  <a:t>矩阵</a:t>
                </a:r>
                <a:r>
                  <a:rPr lang="en-US" altLang="zh-CN" b="0" dirty="0"/>
                  <a:t>E</a:t>
                </a:r>
                <a:r>
                  <a:rPr lang="zh-CN" altLang="en-US" b="0" dirty="0"/>
                  <a:t>在</a:t>
                </a:r>
                <a:r>
                  <a:rPr lang="en-US" altLang="zh-CN" b="0" dirty="0"/>
                  <a:t>(</a:t>
                </a:r>
                <a:r>
                  <a:rPr lang="en-US" altLang="zh-CN" b="0" dirty="0" err="1"/>
                  <a:t>k,l</a:t>
                </a:r>
                <a:r>
                  <a:rPr lang="en-US" altLang="zh-CN" b="0" dirty="0"/>
                  <a:t>)</a:t>
                </a:r>
                <a:r>
                  <a:rPr lang="zh-CN" altLang="en-US" dirty="0"/>
                  <a:t>位置的元素，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代表</m:t>
                    </m:r>
                  </m:oMath>
                </a14:m>
                <a:r>
                  <a:rPr lang="zh-CN" altLang="en-US" b="0" dirty="0"/>
                  <a:t>矩阵</a:t>
                </a:r>
                <a:r>
                  <a:rPr lang="en-US" altLang="zh-CN" dirty="0"/>
                  <a:t>B</a:t>
                </a:r>
                <a:r>
                  <a:rPr lang="zh-CN" altLang="en-US" b="0" dirty="0"/>
                  <a:t>在</a:t>
                </a:r>
                <a:r>
                  <a:rPr lang="en-US" altLang="zh-CN" b="0" dirty="0"/>
                  <a:t>(</a:t>
                </a:r>
                <a:r>
                  <a:rPr lang="en-US" altLang="zh-CN" b="0" dirty="0" err="1"/>
                  <a:t>k</a:t>
                </a:r>
                <a:r>
                  <a:rPr lang="en-US" altLang="zh-CN" dirty="0" err="1"/>
                  <a:t>i,j</a:t>
                </a:r>
                <a:r>
                  <a:rPr lang="en-US" altLang="zh-CN" b="0" dirty="0"/>
                  <a:t>)</a:t>
                </a:r>
                <a:r>
                  <a:rPr lang="zh-CN" altLang="en-US" dirty="0"/>
                  <a:t>位置的元素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接下来分别求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3A710D0-AF87-D887-AE85-7CF25E6C6B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0498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3A2CC04-A3FA-9262-0FA2-3040B2CC62E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/>
                <a:r>
                  <a:rPr lang="en-US" altLang="zh-CN" b="0" dirty="0"/>
                  <a:t> </a:t>
                </a:r>
                <a:r>
                  <a:rPr lang="zh-CN" altLang="en-US" b="0" dirty="0"/>
                  <a:t>求</a:t>
                </a:r>
                <a:r>
                  <a:rPr lang="zh-CN" altLang="en-US" dirty="0"/>
                  <a:t>第一部分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3A2CC04-A3FA-9262-0FA2-3040B2CC62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2B87953-5119-DE4E-BCDF-3712EB39D5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由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以及</m:t>
                    </m:r>
                  </m:oMath>
                </a14:m>
                <a:r>
                  <a:rPr lang="en-US" altLang="zh-CN" dirty="0"/>
                  <a:t>F</a:t>
                </a:r>
                <a:r>
                  <a:rPr lang="zh-CN" altLang="en-US" dirty="0"/>
                  <a:t>范数的定义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b="0" dirty="0"/>
                  <a:t>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多元函数对一个元求偏导，只有</a:t>
                </a:r>
                <a:r>
                  <a:rPr lang="en-US" altLang="zh-CN" dirty="0"/>
                  <a:t>(</a:t>
                </a:r>
                <a:r>
                  <a:rPr lang="en-US" altLang="zh-CN" dirty="0" err="1"/>
                  <a:t>I,j</a:t>
                </a:r>
                <a:r>
                  <a:rPr lang="en-US" altLang="zh-CN" dirty="0"/>
                  <a:t>)=(</a:t>
                </a:r>
                <a:r>
                  <a:rPr lang="en-US" altLang="zh-CN" dirty="0" err="1"/>
                  <a:t>k,l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时，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b="0" dirty="0"/>
                  <a:t>才不为</a:t>
                </a:r>
                <a:r>
                  <a:rPr lang="en-US" altLang="zh-CN" b="0" dirty="0"/>
                  <a:t>0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也就是说，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关于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导数</m:t>
                    </m:r>
                  </m:oMath>
                </a14:m>
                <a:r>
                  <a:rPr lang="zh-CN" altLang="en-US" dirty="0"/>
                  <a:t>就是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关于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b="0" dirty="0"/>
                  <a:t>导数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altLang="zh-CN" b="0" dirty="0"/>
                  <a:t>  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2B87953-5119-DE4E-BCDF-3712EB39D5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55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C660357-8FF5-D61A-CB5D-E273C363A37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求第二部分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C660357-8FF5-D61A-CB5D-E273C363A3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523BC9-516F-1F5F-8308-5C5184293E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235051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E=AB-M </a:t>
                </a:r>
                <a:r>
                  <a:rPr lang="zh-CN" altLang="en-US" dirty="0"/>
                  <a:t>而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是常数矩阵，与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无关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因此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endParaRPr lang="en-US" altLang="zh-CN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b="0" dirty="0"/>
                  <a:t>在</a:t>
                </a:r>
                <a:r>
                  <a:rPr lang="en-US" altLang="zh-CN" b="0" dirty="0"/>
                  <a:t>(</a:t>
                </a:r>
                <a:r>
                  <a:rPr lang="en-US" altLang="zh-CN" b="0" dirty="0" err="1"/>
                  <a:t>k,l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位置上的元素为？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这个元素实际上是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的第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行向量与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的第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列向量做内积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b="0" dirty="0"/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由此</a:t>
                </a:r>
                <a:r>
                  <a:rPr lang="en-US" altLang="zh-CN" b="0" dirty="0"/>
                  <a:t>E</a:t>
                </a:r>
                <a:r>
                  <a:rPr lang="zh-CN" altLang="en-US" b="0" dirty="0"/>
                  <a:t>在</a:t>
                </a:r>
                <a:r>
                  <a:rPr lang="en-US" altLang="zh-CN" b="0" dirty="0"/>
                  <a:t>(</a:t>
                </a:r>
                <a:r>
                  <a:rPr lang="en-US" altLang="zh-CN" b="0" dirty="0" err="1"/>
                  <a:t>k,l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位置的元素为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j</m:t>
                    </m:r>
                  </m:oMath>
                </a14:m>
                <a:r>
                  <a:rPr lang="zh-CN" altLang="en-US" dirty="0"/>
                  <a:t>，则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；若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j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b="0" dirty="0"/>
                  <a:t>    </a:t>
                </a:r>
                <a:r>
                  <a:rPr lang="zh-CN" altLang="en-US" b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用于判定</m:t>
                    </m:r>
                  </m:oMath>
                </a14:m>
                <a:r>
                  <a:rPr lang="en-US" altLang="zh-CN" b="0" dirty="0"/>
                  <a:t>l</a:t>
                </a:r>
                <a:r>
                  <a:rPr lang="zh-CN" altLang="en-US" b="0" dirty="0"/>
                  <a:t>与</a:t>
                </a:r>
                <a:r>
                  <a:rPr lang="en-US" altLang="zh-CN" b="0" dirty="0"/>
                  <a:t>j</a:t>
                </a:r>
                <a:r>
                  <a:rPr lang="zh-CN" altLang="en-US" b="0" dirty="0"/>
                  <a:t>是否相等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0523BC9-516F-1F5F-8308-5C5184293E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235051"/>
              </a:xfrm>
              <a:blipFill>
                <a:blip r:embed="rId4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362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8F2EB06-D03D-88A5-606D-234A2210D47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求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r>
                  <a:rPr lang="en-US" altLang="zh-CN" b="0" dirty="0"/>
                  <a:t> </a:t>
                </a:r>
                <a:endParaRPr lang="zh-CN" altLang="en-US" dirty="0"/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8F2EB06-D03D-88A5-606D-234A2210D4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B59D94-B31C-4DEA-4534-C28153CF96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78180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注意到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b="0" dirty="0"/>
                  <a:t>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在</m:t>
                    </m:r>
                  </m:oMath>
                </a14:m>
                <a:r>
                  <a:rPr lang="en-US" altLang="zh-CN" b="0" dirty="0"/>
                  <a:t>(</a:t>
                </a:r>
                <a:r>
                  <a:rPr lang="en-US" altLang="zh-CN" b="0" dirty="0" err="1"/>
                  <a:t>i,j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的元素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因此有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=2</m:t>
                    </m:r>
                    <m:sSup>
                      <m:sSup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同理，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EB59D94-B31C-4DEA-4534-C28153CF96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781807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40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E4EE9-FF7B-03FF-551D-EA29897CB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</a:t>
            </a:r>
            <a:r>
              <a:rPr lang="en-US" altLang="zh-CN" dirty="0"/>
              <a:t>min</a:t>
            </a:r>
            <a:r>
              <a:rPr lang="zh-CN" altLang="en-US" dirty="0"/>
              <a:t>，令偏导</a:t>
            </a:r>
            <a:r>
              <a:rPr lang="en-US" altLang="zh-CN" dirty="0"/>
              <a:t>=0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E8DFE8-416A-883B-30F8-2F4AE10C8D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2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b="0" dirty="0"/>
                  <a:t>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p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zh-CN" b="0" dirty="0"/>
                  <a:t> ,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只要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可逆</m:t>
                    </m:r>
                  </m:oMath>
                </a14:m>
                <a:r>
                  <a:rPr lang="zh-CN" altLang="en-US" b="0" dirty="0"/>
                  <a:t>，我们就求出了</a:t>
                </a:r>
                <a:r>
                  <a:rPr lang="en-US" altLang="zh-CN" b="0" dirty="0"/>
                  <a:t>B=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这就是我们求得的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b="0" dirty="0"/>
                  <a:t>，</a:t>
                </a:r>
                <a:r>
                  <a:rPr lang="en-US" altLang="zh-CN" b="0" dirty="0"/>
                  <a:t>A</a:t>
                </a:r>
                <a:r>
                  <a:rPr lang="zh-CN" altLang="en-US" b="0" dirty="0"/>
                  <a:t>的伪逆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以上就是给定矩阵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时，优化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b="0" dirty="0"/>
                  <a:t>的最优解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7E8DFE8-416A-883B-30F8-2F4AE10C8D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328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28648-B1F2-EB92-12A4-C80262A2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均未知的话，该怎么办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D96A68-A67B-3297-4E64-5D6F7F362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199829" cy="541416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刚才我们在已知矩阵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的情况下，求出了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r>
                  <a:rPr lang="zh-CN" altLang="en-US" dirty="0"/>
                  <a:t>现在考虑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未知时候的最优解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即求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	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其中，</a:t>
                </a:r>
                <a:r>
                  <a:rPr lang="pt-BR" altLang="zh-CN" dirty="0"/>
                  <a:t>A∈Rn×r,B∈Rr×m,M∈Rn×m,r&lt;min(n,m)</a:t>
                </a:r>
              </a:p>
              <a:p>
                <a:r>
                  <a:rPr lang="en-US" altLang="zh-CN" dirty="0"/>
                  <a:t>SVD</a:t>
                </a:r>
                <a:r>
                  <a:rPr lang="zh-CN" altLang="en-US" dirty="0"/>
                  <a:t>奇异值分解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奇异值分解在实矩阵域的定理：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对于任意矩阵</a:t>
                </a:r>
                <a:r>
                  <a:rPr lang="en-US" altLang="zh-CN" dirty="0"/>
                  <a:t>M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zh-CN" altLang="en-US" b="0" dirty="0"/>
                  <a:t>，都能找到</a:t>
                </a:r>
                <a:r>
                  <a:rPr lang="en-US" altLang="zh-CN" b="0" dirty="0"/>
                  <a:t>M=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其中</a:t>
                </a:r>
                <a:r>
                  <a:rPr lang="en-US" altLang="zh-CN" dirty="0"/>
                  <a:t>U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、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正交阵，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b="0" dirty="0"/>
                  <a:t>非负对角阵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对角线元素称为奇异值，默认从大到小排序</a:t>
                </a: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9D96A68-A67B-3297-4E64-5D6F7F362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199829" cy="5414161"/>
              </a:xfrm>
              <a:blipFill>
                <a:blip r:embed="rId2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99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BC913558-049E-49AF-2E16-E4BEB475C1A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用</a:t>
                </a:r>
                <a:r>
                  <a:rPr lang="en-US" altLang="zh-CN" dirty="0"/>
                  <a:t>SVD</a:t>
                </a:r>
                <a:r>
                  <a:rPr lang="zh-CN" altLang="en-US" dirty="0"/>
                  <a:t>求解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BC913558-049E-49AF-2E16-E4BEB475C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b="-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E4668B-E82C-CCCE-DE18-48608F282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将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分解为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𝐴𝐵𝑉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		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  <m:sup>
                                        <m:r>
                                          <a:rPr lang="en-US" altLang="zh-CN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𝐴𝐵𝑉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		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𝐴𝐵𝑉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pPr marL="0" indent="0">
                  <a:buNone/>
                </a:pPr>
                <a:endParaRPr lang="en-US" altLang="zh-CN" b="0" dirty="0"/>
              </a:p>
              <a:p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E4668B-E82C-CCCE-DE18-48608F282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781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692BB-5F5A-6A91-130E-A15495074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问题被化简了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FCBCC6-301E-24B2-60EA-710E0E4456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571581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低秩近似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低秩近似的目标是求“</a:t>
                </a:r>
                <a:r>
                  <a:rPr lang="en-US" altLang="zh-CN" dirty="0"/>
                  <a:t>M</a:t>
                </a:r>
                <a:r>
                  <a:rPr lang="zh-CN" altLang="en-US" dirty="0"/>
                  <a:t>的最优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秩近似”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即求秩不超过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的矩阵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，使得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b="0" dirty="0"/>
                  <a:t>最小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矩阵的秩分解性质：秩为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的矩阵可分解为 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dirty="0"/>
                  <a:t>列满秩矩阵” 与 “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行满秩矩阵” 的乘积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因此问题可以转化为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由刚才的</a:t>
                </a:r>
                <a:r>
                  <a:rPr lang="en-US" altLang="zh-CN" b="0" dirty="0"/>
                  <a:t>SVD</a:t>
                </a:r>
                <a:r>
                  <a:rPr lang="zh-CN" altLang="en-US" b="0" dirty="0"/>
                  <a:t>分解，我们进一步把问题转化为了：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𝑎𝑟𝑔𝑚𝑖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𝐴𝐵𝑉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FCBCC6-301E-24B2-60EA-710E0E4456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5715818"/>
              </a:xfrm>
              <a:blipFill>
                <a:blip r:embed="rId2"/>
                <a:stretch>
                  <a:fillRect l="-1217" t="-19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305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2CD7F-6E79-947C-6467-54B2BA64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问题的进一步化简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764C1B-E6B2-9E38-9372-3CF7FC6966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𝐴𝐵𝑉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我们注意到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Y</a:t>
                </a:r>
                <a:r>
                  <a:rPr lang="zh-CN" altLang="en-US" dirty="0"/>
                  <a:t>的秩与</a:t>
                </a:r>
                <a:r>
                  <a:rPr lang="en-US" altLang="zh-CN" dirty="0"/>
                  <a:t>AB</a:t>
                </a:r>
                <a:r>
                  <a:rPr lang="zh-CN" altLang="en-US" dirty="0"/>
                  <a:t>相同（正交变换不改变矩阵的秩）≤</a:t>
                </a:r>
                <a:r>
                  <a:rPr lang="en-US" altLang="zh-CN" dirty="0"/>
                  <a:t>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任意秩不超过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的矩阵</a:t>
                </a:r>
                <a:r>
                  <a:rPr lang="en-US" altLang="zh-CN" dirty="0"/>
                  <a:t>Y</a:t>
                </a:r>
                <a:r>
                  <a:rPr lang="zh-CN" altLang="en-US" dirty="0"/>
                  <a:t>，都能找到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B</a:t>
                </a:r>
                <a:r>
                  <a:rPr lang="zh-CN" altLang="en-US" dirty="0"/>
                  <a:t>，这是因为</a:t>
                </a:r>
                <a:r>
                  <a:rPr lang="en-US" altLang="zh-CN" dirty="0"/>
                  <a:t>U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V</a:t>
                </a:r>
                <a:r>
                  <a:rPr lang="zh-CN" altLang="en-US" dirty="0"/>
                  <a:t>都是可逆的，</a:t>
                </a:r>
                <a:r>
                  <a:rPr lang="en-US" altLang="zh-CN" dirty="0"/>
                  <a:t>AB=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𝑈𝑌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/>
                  <a:t>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𝑈𝑌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秩</m:t>
                    </m:r>
                  </m:oMath>
                </a14:m>
                <a:r>
                  <a:rPr lang="zh-CN" altLang="en-US" dirty="0"/>
                  <a:t>≤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，又可以分解为</a:t>
                </a:r>
                <a:r>
                  <a:rPr lang="en-US" altLang="zh-CN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dirty="0"/>
                  <a:t>B</a:t>
                </a:r>
              </a:p>
              <a:p>
                <a:r>
                  <a:rPr lang="zh-CN" altLang="en-US" dirty="0"/>
                  <a:t>由此，问题被简化成了</a:t>
                </a:r>
                <a:r>
                  <a:rPr lang="zh-CN" altLang="en-US" b="1" dirty="0"/>
                  <a:t>非负对角阵</a:t>
                </a:r>
                <a:r>
                  <a:rPr lang="en-US" altLang="zh-CN" b="1" dirty="0"/>
                  <a:t>Σ</a:t>
                </a:r>
                <a:r>
                  <a:rPr lang="zh-CN" altLang="en-US" b="1" dirty="0"/>
                  <a:t>的最优</a:t>
                </a:r>
                <a:r>
                  <a:rPr lang="en-US" altLang="zh-CN" b="1" dirty="0"/>
                  <a:t>r</a:t>
                </a:r>
                <a:r>
                  <a:rPr lang="zh-CN" altLang="en-US" b="1" dirty="0"/>
                  <a:t>秩近似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764C1B-E6B2-9E38-9372-3CF7FC6966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4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3556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98E8F-EB25-8A75-46B3-C92F40BCA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非负对角阵</a:t>
            </a:r>
            <a:r>
              <a:rPr lang="en-US" altLang="zh-CN" dirty="0"/>
              <a:t>Σ</a:t>
            </a:r>
            <a:r>
              <a:rPr lang="zh-CN" altLang="en-US" dirty="0"/>
              <a:t>的最优</a:t>
            </a:r>
            <a:r>
              <a:rPr lang="en-US" altLang="zh-CN" dirty="0"/>
              <a:t>r</a:t>
            </a:r>
            <a:r>
              <a:rPr lang="zh-CN" altLang="en-US" dirty="0"/>
              <a:t>秩近似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2AD5D4-1620-3E4A-D240-4B3568BB4D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860464" cy="528218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我们要求出一个秩≤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的矩阵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/>
                  <a:t>以最小化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其中</a:t>
                </a:r>
                <a:r>
                  <a:rPr lang="en-US" altLang="zh-CN" dirty="0"/>
                  <a:t>Σ</a:t>
                </a:r>
                <a:r>
                  <a:rPr lang="zh-CN" altLang="en-US" dirty="0"/>
                  <a:t>为已知的非负对角阵</a:t>
                </a:r>
                <a:endParaRPr lang="en-US" altLang="zh-CN" b="0" dirty="0"/>
              </a:p>
              <a:p>
                <a:r>
                  <a:rPr lang="zh-CN" altLang="en-US" dirty="0"/>
                  <a:t>当然我们考虑的是低秩近似，如果</a:t>
                </a:r>
                <a:r>
                  <a:rPr lang="en-US" altLang="zh-CN" dirty="0"/>
                  <a:t>Σ</a:t>
                </a:r>
                <a:r>
                  <a:rPr lang="zh-CN" altLang="en-US" dirty="0"/>
                  <a:t>秩≤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，那就取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zh-CN" b="0" dirty="0"/>
                  <a:t>= </a:t>
                </a:r>
                <a:r>
                  <a:rPr lang="en-US" altLang="zh-CN" dirty="0"/>
                  <a:t>Σ</a:t>
                </a:r>
                <a:r>
                  <a:rPr lang="zh-CN" altLang="en-US" dirty="0"/>
                  <a:t>，这样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zh-CN" b="0" i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zh-CN" altLang="en-US" i="1">
                        <a:latin typeface="Cambria Math" panose="02040503050406030204" pitchFamily="18" charset="0"/>
                      </a:rPr>
                      <m:t>直接为</m:t>
                    </m:r>
                  </m:oMath>
                </a14:m>
                <a:r>
                  <a:rPr lang="en-US" altLang="zh-CN" b="0" dirty="0"/>
                  <a:t>0</a:t>
                </a:r>
                <a:r>
                  <a:rPr lang="zh-CN" altLang="en-US" b="0" dirty="0"/>
                  <a:t>了，结论很显然，没有讨论价值</a:t>
                </a:r>
                <a:endParaRPr lang="en-US" altLang="zh-CN" b="0" dirty="0"/>
              </a:p>
              <a:p>
                <a:r>
                  <a:rPr lang="zh-CN" altLang="en-US" b="0" dirty="0"/>
                  <a:t>所以我们考虑</a:t>
                </a:r>
                <a:r>
                  <a:rPr lang="en-US" altLang="zh-CN" dirty="0"/>
                  <a:t>Σ</a:t>
                </a:r>
                <a:r>
                  <a:rPr lang="zh-CN" altLang="en-US" dirty="0"/>
                  <a:t>秩＞</a:t>
                </a:r>
                <a:r>
                  <a:rPr lang="en-US" altLang="zh-CN" dirty="0"/>
                  <a:t>r</a:t>
                </a:r>
                <a:r>
                  <a:rPr lang="zh-CN" altLang="en-US" dirty="0"/>
                  <a:t>的情况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为达到目标，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b="0" dirty="0"/>
                  <a:t>非对角线元素均需为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，消除非对角线误差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对角线上，保留前 </a:t>
                </a:r>
                <a:r>
                  <a:rPr lang="en-US" altLang="zh-CN" dirty="0"/>
                  <a:t>r </a:t>
                </a:r>
                <a:r>
                  <a:rPr lang="zh-CN" altLang="en-US" dirty="0"/>
                  <a:t>个最大的奇异值，其余为</a:t>
                </a:r>
                <a:r>
                  <a:rPr lang="en-US" altLang="zh-CN" dirty="0"/>
                  <a:t>0</a:t>
                </a:r>
              </a:p>
              <a:p>
                <a:r>
                  <a:rPr lang="zh-CN" altLang="en-US" b="0" dirty="0"/>
                  <a:t>结论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非负对角阵的最优</a:t>
                </a:r>
                <a:r>
                  <a:rPr lang="en-US" altLang="zh-CN" b="0" dirty="0"/>
                  <a:t>r</a:t>
                </a:r>
                <a:r>
                  <a:rPr lang="zh-CN" altLang="en-US" b="0" dirty="0"/>
                  <a:t>秩近似就是只保留对角线最大的</a:t>
                </a:r>
                <a:r>
                  <a:rPr lang="en-US" altLang="zh-CN" b="0" dirty="0"/>
                  <a:t>r</a:t>
                </a:r>
                <a:r>
                  <a:rPr lang="zh-CN" altLang="en-US" b="0" dirty="0"/>
                  <a:t>个元素的矩阵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82AD5D4-1620-3E4A-D240-4B3568BB4D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860464" cy="5282186"/>
              </a:xfrm>
              <a:blipFill>
                <a:blip r:embed="rId2"/>
                <a:stretch>
                  <a:fillRect l="-1179" b="-10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7879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F4FD79-2C9D-FCC0-0002-8B9E08C4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基于 </a:t>
            </a:r>
            <a:r>
              <a:rPr lang="en-US" altLang="zh-CN" dirty="0"/>
              <a:t>SVD </a:t>
            </a:r>
            <a:r>
              <a:rPr lang="zh-CN" altLang="en-US" dirty="0"/>
              <a:t>的</a:t>
            </a:r>
            <a:r>
              <a:rPr lang="en-US" altLang="zh-CN" b="1" dirty="0"/>
              <a:t>Eckart-Young-Mirsky </a:t>
            </a:r>
            <a:r>
              <a:rPr lang="zh-CN" altLang="en-US" b="1" dirty="0"/>
              <a:t>定理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34EBB1-54F7-D1A9-F0A0-3F4C7BFF35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/>
                  <a:t>如果</a:t>
                </a:r>
                <a:r>
                  <a:rPr lang="en-US" altLang="zh-CN" dirty="0"/>
                  <a:t>M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en-US" altLang="zh-CN" b="0" dirty="0"/>
                  <a:t>SVD</a:t>
                </a:r>
                <a:r>
                  <a:rPr lang="zh-CN" altLang="en-US" b="0" dirty="0"/>
                  <a:t>奇异值分解为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b="0" dirty="0"/>
                  <a:t>，那么</a:t>
                </a:r>
                <a:r>
                  <a:rPr lang="en-US" altLang="zh-CN" b="0" dirty="0"/>
                  <a:t>M</a:t>
                </a:r>
                <a:r>
                  <a:rPr lang="zh-CN" altLang="en-US" b="0" dirty="0"/>
                  <a:t>的最优</a:t>
                </a:r>
                <a:r>
                  <a:rPr lang="en-US" altLang="zh-CN" b="0" dirty="0"/>
                  <a:t>r</a:t>
                </a:r>
                <a:r>
                  <a:rPr lang="zh-CN" altLang="en-US" b="0" dirty="0"/>
                  <a:t>秩近似为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sSub>
                      <m:sSub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  <m:sSubSup>
                      <m:sSubSupPr>
                        <m:ctrlPr>
                          <a:rPr lang="en-US" altLang="zh-CN" b="0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 b="0" dirty="0"/>
                  <a:t> 取正交矩阵</a:t>
                </a:r>
                <a:r>
                  <a:rPr lang="en-US" altLang="zh-CN" b="0" dirty="0"/>
                  <a:t>U</a:t>
                </a:r>
                <a:r>
                  <a:rPr lang="zh-CN" altLang="en-US" b="0" dirty="0"/>
                  <a:t>的前 </a:t>
                </a:r>
                <a:r>
                  <a:rPr lang="en-US" altLang="zh-CN" b="0" dirty="0"/>
                  <a:t>r </a:t>
                </a:r>
                <a:r>
                  <a:rPr lang="zh-CN" altLang="en-US" b="0" dirty="0"/>
                  <a:t>列（保留前 </a:t>
                </a:r>
                <a:r>
                  <a:rPr lang="en-US" altLang="zh-CN" b="0" dirty="0"/>
                  <a:t>r </a:t>
                </a:r>
                <a:r>
                  <a:rPr lang="zh-CN" altLang="en-US" b="0" dirty="0"/>
                  <a:t>个 “左特征方向”）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</m:sSub>
                  </m:oMath>
                </a14:m>
                <a:r>
                  <a:rPr lang="zh-CN" altLang="en-US" b="0" dirty="0"/>
                  <a:t>取对角阵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zh-CN" altLang="en-US" b="0" dirty="0"/>
                  <a:t>的前 </a:t>
                </a:r>
                <a:r>
                  <a:rPr lang="en-US" altLang="zh-CN" b="0" dirty="0"/>
                  <a:t>r </a:t>
                </a:r>
                <a:r>
                  <a:rPr lang="zh-CN" altLang="en-US" b="0" dirty="0"/>
                  <a:t>阶对角子阵</a:t>
                </a:r>
                <a:r>
                  <a:rPr lang="en-US" altLang="zh-CN" b="0" dirty="0"/>
                  <a:t>,</a:t>
                </a:r>
                <a:r>
                  <a:rPr lang="zh-CN" altLang="en-US" b="0" dirty="0"/>
                  <a:t>保留前 </a:t>
                </a:r>
                <a:r>
                  <a:rPr lang="en-US" altLang="zh-CN" b="0" dirty="0"/>
                  <a:t>r </a:t>
                </a:r>
                <a:r>
                  <a:rPr lang="zh-CN" altLang="en-US" b="0" dirty="0"/>
                  <a:t>个最大的奇异值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,: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zh-CN" altLang="en-US" b="0" dirty="0"/>
                  <a:t>取正交矩阵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b="0" dirty="0"/>
                  <a:t>的前 </a:t>
                </a:r>
                <a:r>
                  <a:rPr lang="en-US" altLang="zh-CN" b="0" dirty="0"/>
                  <a:t>r </a:t>
                </a:r>
                <a:r>
                  <a:rPr lang="zh-CN" altLang="en-US" b="0" dirty="0"/>
                  <a:t>列（保留前 </a:t>
                </a:r>
                <a:r>
                  <a:rPr lang="en-US" altLang="zh-CN" b="0" dirty="0"/>
                  <a:t>r </a:t>
                </a:r>
                <a:r>
                  <a:rPr lang="zh-CN" altLang="en-US" b="0" dirty="0"/>
                  <a:t>个 “右特征方向”</a:t>
                </a:r>
                <a:r>
                  <a:rPr lang="en-US" altLang="zh-CN" b="0" dirty="0"/>
                  <a:t>)</a:t>
                </a:r>
              </a:p>
              <a:p>
                <a:r>
                  <a:rPr lang="zh-CN" altLang="en-US" dirty="0"/>
                  <a:t>普遍意义在于：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任何矩阵（无论是否对角、是否方阵）的最优 </a:t>
                </a:r>
                <a:r>
                  <a:rPr lang="en-US" altLang="zh-CN" dirty="0"/>
                  <a:t>r </a:t>
                </a:r>
                <a:r>
                  <a:rPr lang="zh-CN" altLang="en-US" dirty="0"/>
                  <a:t>秩近似，都可以通过其 </a:t>
                </a:r>
                <a:r>
                  <a:rPr lang="en-US" altLang="zh-CN" dirty="0"/>
                  <a:t>SVD </a:t>
                </a:r>
                <a:r>
                  <a:rPr lang="zh-CN" altLang="en-US" dirty="0"/>
                  <a:t>分解，“截取前 </a:t>
                </a:r>
                <a:r>
                  <a:rPr lang="en-US" altLang="zh-CN" dirty="0"/>
                  <a:t>r </a:t>
                </a:r>
                <a:r>
                  <a:rPr lang="zh-CN" altLang="en-US" dirty="0"/>
                  <a:t>个最大奇异值及对应方向” 得到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E34EBB1-54F7-D1A9-F0A0-3F4C7BFF35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56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1396</Words>
  <Application>Microsoft Office PowerPoint</Application>
  <PresentationFormat>宽屏</PresentationFormat>
  <Paragraphs>135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等线</vt:lpstr>
      <vt:lpstr>等线 Light</vt:lpstr>
      <vt:lpstr>Arial</vt:lpstr>
      <vt:lpstr>Cambria Math</vt:lpstr>
      <vt:lpstr>Office 主题​​</vt:lpstr>
      <vt:lpstr>无约束的矩阵低秩近似 伪逆与SVD奇异值分解 LoRA微调和MLA的数学基础</vt:lpstr>
      <vt:lpstr>主要内容</vt:lpstr>
      <vt:lpstr>矩阵的范数</vt:lpstr>
      <vt:lpstr>正交变换不改变 F 范数</vt:lpstr>
      <vt:lpstr>广义逆（伪逆）</vt:lpstr>
      <vt:lpstr>另一种方式求伪逆</vt:lpstr>
      <vt:lpstr>求〖L=|(|AB-M|)|〗_F^2对矩阵B的导数</vt:lpstr>
      <vt:lpstr> 求第一部分  ∂L/E_(k,l) </vt:lpstr>
      <vt:lpstr>求第二部分  (∂E_(k,l))/(∂B_(i,j) )</vt:lpstr>
      <vt:lpstr>求∂L/(∂B_(i,j) )=∑_(k,l)▒〖∂L/E_(k,l)   (∂E_(k,l))/(∂B_(i,j) )〗 </vt:lpstr>
      <vt:lpstr>要求min，令偏导=0</vt:lpstr>
      <vt:lpstr>A和B均未知的话，该怎么办</vt:lpstr>
      <vt:lpstr>用SVD求解argmin_(A,B) |(|AB-M|)|_F^2 </vt:lpstr>
      <vt:lpstr>问题被化简了</vt:lpstr>
      <vt:lpstr>问题的进一步化简</vt:lpstr>
      <vt:lpstr>非负对角阵Σ的最优r秩近似</vt:lpstr>
      <vt:lpstr>基于 SVD 的Eckart-Young-Mirsky 定理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2</cp:revision>
  <dcterms:created xsi:type="dcterms:W3CDTF">2025-09-18T03:00:44Z</dcterms:created>
  <dcterms:modified xsi:type="dcterms:W3CDTF">2025-09-18T07:48:15Z</dcterms:modified>
</cp:coreProperties>
</file>