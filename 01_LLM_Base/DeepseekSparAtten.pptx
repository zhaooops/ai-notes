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F4A9D-EB85-196E-23F2-758F48780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5F4547-31AE-BDD2-FC94-4C65E3CB2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0C823-0227-2945-F41C-D6B17B14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770FFF-2981-4F86-F1EF-F9CCEBD99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F35E09-9A78-FCD8-3D86-E107AD67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082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6469F-BF3F-3BC9-8021-1D36D0C75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DE337-3691-D58E-9408-803D65779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41D49F-CDBF-1939-B22C-D30A0E93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1CB26F-0045-751A-9876-FB8BA9611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FA7F3A-428E-1BAC-A5DF-627F25A1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6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245A3-2CD2-2EB0-562E-582B603D9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A6AC0C-8047-C16C-A04E-6FD0BD50F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DD2831-AFA8-954F-A092-D781899D7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2EA74-D7BD-6271-796C-6E917A9B0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1DD5A-10A9-CDAD-EB36-E448AB6E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9CC89-5FF7-1A13-F5C7-FF42B263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4EFC9-E7FB-A628-3BE9-865E9892B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D421EE-2661-D1B7-B2FC-C99F9E625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CDA2A7-CFC1-3543-1A77-857C7BF8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AFB8EF-FFC7-836C-4F81-0FA334C6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4B48F8-4B40-ED9F-6202-1EBDBFB7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836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62943-52F2-8185-0511-B87A9DA23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9618A5-4DD2-E024-4866-00AC7F44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DA8627-B8FB-B5E8-73B3-5D63BB027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86DAB1-84B8-C00B-E380-68AF544EF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9B39BE-D8CD-B20A-5B68-344A5B5FC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7A7F30-A1DC-E686-D55C-47B70284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00F50E7-8247-45C9-017A-9EF2EF25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D2C342-CB55-C255-C779-1D5E72A8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70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2CFCF-2001-627F-8B2A-DE441BA10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33E04A-BC7C-C49B-F3A4-89D8D932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A695DA-A14D-0624-A173-6440914A3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0C3715-9A4B-DDD7-91C8-D10CC926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33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88B853-5DC3-280A-F284-F2D9170A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06F84C-1B1B-D739-E716-DC14142A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2E32D0-DF08-99C8-63FE-622CB693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49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E0AC1-2F01-9676-46CC-E71ECA4B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A16346-A995-3D7F-2CEC-C19D05502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D8EC10-E3DE-C085-31D8-EA52313AA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5EFB83-4FFF-4587-F6FB-EFD323A3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9774A3-3A79-93CF-CC94-38BB68DE5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BF41B7-9AD5-4D3B-1B1D-1CD58CAA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138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A8CFAB-10DA-615D-10BD-379881FE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4B93FE-8DC0-FF70-82FE-F1A090536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E7315D-AE44-3DF0-8667-614CC5EB5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FE8C62-8C49-2411-AEB7-B5170411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AC1595-71F1-E17C-8510-217F69B8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BA159C-6BC6-5279-B05B-E6ADA344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124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2852E-50FC-6EA7-6B1F-C164A211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5AC659-B52A-4F7A-4867-1D5FB8E6F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15FBE6-B60E-4E59-D3B0-31E29759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DC24A3-0F49-7F61-281B-47D0AB979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7048F-0D2F-60BA-F086-5822F18A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77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C94324-49E3-5344-B250-7228008DD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97A983-5924-51DA-D92B-8BA8D26BD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DEF7F-77DE-9E30-93C1-352344D0B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AA402-ED9B-6246-33CA-4DBA3EE8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BFF2D9-AC26-A511-88C1-802C7179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123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F74EAA-3780-5599-63DD-701BA6EB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AA88B-2DC8-09FB-F794-56EF6CEA7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0B58B2-25C7-D2BA-76B9-D0E85381F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4532D-92BA-4DBC-B8FB-B6D5EBB18C13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E1A003-06E1-242E-55E0-B6E75A1DF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5938BC-3C61-2110-C697-9318A5322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C8227-16F9-4DF0-8D16-9D57A9CAA9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74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C15B4-DFFD-6E7E-22C1-7AC66D65C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948" y="-311085"/>
            <a:ext cx="10118103" cy="3472256"/>
          </a:xfrm>
        </p:spPr>
        <p:txBody>
          <a:bodyPr/>
          <a:lstStyle/>
          <a:p>
            <a:r>
              <a:rPr lang="en-US" altLang="zh-CN" dirty="0"/>
              <a:t>DeepSeek-V3.2-Exp</a:t>
            </a:r>
            <a:r>
              <a:rPr lang="zh-CN" altLang="en-US" dirty="0"/>
              <a:t>技术解读</a:t>
            </a:r>
            <a:br>
              <a:rPr lang="en-US" altLang="zh-CN" dirty="0"/>
            </a:br>
            <a:r>
              <a:rPr lang="zh-CN" altLang="en-US" dirty="0"/>
              <a:t>从</a:t>
            </a:r>
            <a:r>
              <a:rPr lang="zh-CN" altLang="en-US" b="1" dirty="0"/>
              <a:t>稀疏注意力</a:t>
            </a:r>
            <a:r>
              <a:rPr lang="zh-CN" altLang="en-US" dirty="0"/>
              <a:t>到</a:t>
            </a:r>
            <a:r>
              <a:rPr lang="en-US" altLang="zh-CN" b="1" dirty="0"/>
              <a:t>DSA</a:t>
            </a:r>
            <a:br>
              <a:rPr lang="en-US" altLang="zh-CN" dirty="0"/>
            </a:br>
            <a:r>
              <a:rPr lang="en-US" altLang="zh-CN" dirty="0"/>
              <a:t>DeepSeek Sparse Attention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B9AD55-F299-C060-9CC3-64B406AB7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281527"/>
            <a:ext cx="9144000" cy="1655762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1CC17F-DFD8-A8CC-830C-A16E0D218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" y="3696830"/>
            <a:ext cx="12148960" cy="34722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BDB36B-E0CC-F53E-DA54-965127D0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12" y="5040454"/>
            <a:ext cx="2507174" cy="62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29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3E270-D855-07FF-48E3-6C71360F1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1DA574-5A4F-C7E9-0CFA-1B6059223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我们为什么需要稀疏注意力</a:t>
            </a:r>
            <a:endParaRPr lang="en-US" altLang="zh-CN" dirty="0"/>
          </a:p>
          <a:p>
            <a:r>
              <a:rPr lang="zh-CN" altLang="en-US" dirty="0"/>
              <a:t>稀疏注意力（</a:t>
            </a:r>
            <a:r>
              <a:rPr lang="en-US" altLang="zh-CN" dirty="0"/>
              <a:t>Openai2019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稀疏注意力的变体（</a:t>
            </a:r>
            <a:r>
              <a:rPr lang="en-US" altLang="zh-CN" dirty="0"/>
              <a:t>CVPR2024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DeepSeek Sparse Attention </a:t>
            </a:r>
            <a:r>
              <a:rPr lang="zh-CN" altLang="en-US" dirty="0"/>
              <a:t>（</a:t>
            </a:r>
            <a:r>
              <a:rPr lang="en-US" altLang="zh-CN" dirty="0"/>
              <a:t>DeepSeek2025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740D4A-85B4-E8FA-8A72-6022800E0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362" y="3429000"/>
            <a:ext cx="22764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2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E4E7E-467D-A9ED-6696-DB204F4B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我们为什么需要稀疏注意力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3C4A26-A88C-7BF4-295D-43B28E848B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Self attention</a:t>
                </a:r>
                <a:r>
                  <a:rPr lang="zh-CN" altLang="en-US" dirty="0"/>
                  <a:t>的时间复杂度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对序列中任意两个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要计算</a:t>
                </a:r>
                <a:r>
                  <a:rPr lang="en-US" altLang="zh-CN" dirty="0"/>
                  <a:t>attention</a:t>
                </a:r>
                <a:r>
                  <a:rPr lang="zh-CN" altLang="en-US" dirty="0"/>
                  <a:t>得分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时间复杂度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空间复杂度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显存和算力需求大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无法用于长序列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3C4A26-A88C-7BF4-295D-43B28E848B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4AABD142-AABB-87FE-24E4-606E99B5B2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3686174"/>
            <a:ext cx="1890713" cy="189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2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40613-9774-BF15-E372-9FA3B33C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稀疏注意力 （</a:t>
            </a:r>
            <a:r>
              <a:rPr lang="en-US" altLang="zh-CN" dirty="0"/>
              <a:t> </a:t>
            </a:r>
            <a:r>
              <a:rPr lang="en-US" altLang="zh-CN" dirty="0" err="1"/>
              <a:t>Openai</a:t>
            </a:r>
            <a:r>
              <a:rPr lang="en-US" altLang="zh-CN" dirty="0"/>
              <a:t> 2019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34B09A-A661-7A32-BAED-A2AC89A52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59637"/>
          </a:xfrm>
        </p:spPr>
        <p:txBody>
          <a:bodyPr/>
          <a:lstStyle/>
          <a:p>
            <a:r>
              <a:rPr lang="en-US" altLang="zh-CN" dirty="0"/>
              <a:t>《Generating Long Sequences with Sparse Transformers》</a:t>
            </a:r>
          </a:p>
          <a:p>
            <a:r>
              <a:rPr lang="zh-CN" altLang="en-US" dirty="0"/>
              <a:t>两种：</a:t>
            </a:r>
            <a:r>
              <a:rPr lang="en-US" altLang="zh-CN" dirty="0" err="1"/>
              <a:t>strided</a:t>
            </a:r>
            <a:r>
              <a:rPr lang="zh-CN" altLang="en-US" dirty="0"/>
              <a:t>跨步稀疏注意力和</a:t>
            </a:r>
            <a:r>
              <a:rPr lang="en-US" altLang="zh-CN" dirty="0"/>
              <a:t>fixed</a:t>
            </a:r>
            <a:r>
              <a:rPr lang="zh-CN" altLang="en-US" dirty="0"/>
              <a:t>固定稀疏注意力</a:t>
            </a:r>
            <a:endParaRPr lang="en-US" altLang="zh-CN" dirty="0"/>
          </a:p>
          <a:p>
            <a:r>
              <a:rPr lang="zh-CN" altLang="en-US" dirty="0"/>
              <a:t>跨步稀疏注意力</a:t>
            </a:r>
            <a:r>
              <a:rPr lang="en-US" altLang="zh-CN" dirty="0"/>
              <a:t>=</a:t>
            </a:r>
            <a:r>
              <a:rPr lang="zh-CN" altLang="en-US" dirty="0"/>
              <a:t>跳跃</a:t>
            </a:r>
            <a:r>
              <a:rPr lang="en-US" altLang="zh-CN" dirty="0" err="1"/>
              <a:t>Atrous</a:t>
            </a:r>
            <a:r>
              <a:rPr lang="zh-CN" altLang="en-US" dirty="0"/>
              <a:t>（局部头）</a:t>
            </a:r>
            <a:r>
              <a:rPr lang="en-US" altLang="zh-CN" dirty="0"/>
              <a:t>+</a:t>
            </a:r>
            <a:r>
              <a:rPr lang="zh-CN" altLang="en-US" dirty="0"/>
              <a:t>前后</a:t>
            </a:r>
            <a:r>
              <a:rPr lang="en-US" altLang="zh-CN" dirty="0"/>
              <a:t>Local</a:t>
            </a:r>
            <a:r>
              <a:rPr lang="zh-CN" altLang="en-US" dirty="0"/>
              <a:t>（稀疏头）</a:t>
            </a:r>
            <a:endParaRPr lang="en-US" altLang="zh-CN" dirty="0"/>
          </a:p>
          <a:p>
            <a:r>
              <a:rPr lang="en-US" altLang="zh-CN" dirty="0"/>
              <a:t>Self Attention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0EDAC6-B03B-210E-F98D-90F32A1D1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758" y="3762971"/>
            <a:ext cx="2758012" cy="27299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064338-6183-AB8B-2AE0-E26C8CC6F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071" y="3762971"/>
            <a:ext cx="2660507" cy="265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65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A2074-E579-E6A8-7C44-4360B0D0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Atrous</a:t>
            </a:r>
            <a:r>
              <a:rPr lang="en-US" altLang="zh-CN" dirty="0"/>
              <a:t> Self Attention </a:t>
            </a:r>
            <a:r>
              <a:rPr lang="zh-CN" altLang="en-US" dirty="0"/>
              <a:t>（苏剑林 </a:t>
            </a:r>
            <a:r>
              <a:rPr lang="en-US" altLang="zh-CN" dirty="0"/>
              <a:t>2019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9344D6-07A9-BCEC-1B51-9FBBE5B573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每个元素只跟它相对距离为</a:t>
                </a:r>
                <a:r>
                  <a:rPr lang="en-US" altLang="zh-CN" dirty="0"/>
                  <a:t>k,2k,3k,…</a:t>
                </a:r>
                <a:r>
                  <a:rPr lang="zh-CN" altLang="en-US" dirty="0"/>
                  <a:t>的元素关联</a:t>
                </a:r>
                <a:endParaRPr lang="en-US" altLang="zh-CN" dirty="0"/>
              </a:p>
              <a:p>
                <a:r>
                  <a:rPr lang="zh-CN" altLang="en-US" dirty="0"/>
                  <a:t>至于其他的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，我们不再计算注意力</a:t>
                </a:r>
                <a:endParaRPr lang="en-US" altLang="zh-CN" dirty="0"/>
              </a:p>
              <a:p>
                <a:r>
                  <a:rPr lang="zh-CN" altLang="en-US" dirty="0"/>
                  <a:t>每个元素只与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b="0" dirty="0"/>
                  <a:t>算相关性</a:t>
                </a:r>
                <a:endParaRPr lang="en-US" altLang="zh-CN" dirty="0"/>
              </a:p>
              <a:p>
                <a:r>
                  <a:rPr lang="zh-CN" altLang="en-US" b="0" dirty="0"/>
                  <a:t>这样，时间和空间复杂度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都降低到原来的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29344D6-07A9-BCEC-1B51-9FBBE5B573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972C9915-0773-5D48-397B-9D505CD5F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851" y="2880071"/>
            <a:ext cx="3150332" cy="31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9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A842D-885F-25D9-DB6C-284541B3E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Local Self Attention </a:t>
            </a:r>
            <a:r>
              <a:rPr lang="zh-CN" altLang="en-US" dirty="0"/>
              <a:t>（苏剑林 </a:t>
            </a:r>
            <a:r>
              <a:rPr lang="en-US" altLang="zh-CN" dirty="0"/>
              <a:t>2019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9B6E0-DD8A-3FDE-407B-C7126F4B0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每个元素只与前后</a:t>
            </a:r>
            <a:r>
              <a:rPr lang="en-US" altLang="zh-CN" dirty="0"/>
              <a:t>k</a:t>
            </a:r>
            <a:r>
              <a:rPr lang="zh-CN" altLang="en-US" dirty="0"/>
              <a:t>个元素以及自身有关联</a:t>
            </a:r>
            <a:endParaRPr lang="en-US" altLang="zh-CN" dirty="0"/>
          </a:p>
          <a:p>
            <a:r>
              <a:rPr lang="zh-CN" altLang="en-US" dirty="0"/>
              <a:t>超出这个范围的</a:t>
            </a:r>
            <a:r>
              <a:rPr lang="en-US" altLang="zh-CN" dirty="0"/>
              <a:t>token</a:t>
            </a:r>
            <a:r>
              <a:rPr lang="zh-CN" altLang="en-US" dirty="0"/>
              <a:t>不计算注意力</a:t>
            </a:r>
            <a:endParaRPr lang="en-US" altLang="zh-CN" dirty="0"/>
          </a:p>
          <a:p>
            <a:r>
              <a:rPr lang="zh-CN" altLang="en-US" dirty="0"/>
              <a:t>本质是加了权重的卷积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58E8E4-9FD2-B3B3-89D0-B029B8373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380" y="2981034"/>
            <a:ext cx="3085469" cy="30804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2E2704C-897F-3E23-8E48-364BDEFCA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362" y="4167188"/>
            <a:ext cx="220218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4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2CD9F-8EFE-C9D8-405C-46450B25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652" y="89435"/>
            <a:ext cx="11152695" cy="2007908"/>
          </a:xfrm>
        </p:spPr>
        <p:txBody>
          <a:bodyPr>
            <a:normAutofit/>
          </a:bodyPr>
          <a:lstStyle/>
          <a:p>
            <a:r>
              <a:rPr lang="zh-CN" altLang="en-US" dirty="0"/>
              <a:t>跨步稀疏注意力</a:t>
            </a:r>
            <a:br>
              <a:rPr lang="en-US" altLang="zh-CN" dirty="0"/>
            </a:br>
            <a:r>
              <a:rPr lang="en-US" altLang="zh-CN" dirty="0"/>
              <a:t>=</a:t>
            </a:r>
            <a:r>
              <a:rPr lang="zh-CN" altLang="en-US" dirty="0"/>
              <a:t>跳跃</a:t>
            </a:r>
            <a:r>
              <a:rPr lang="en-US" altLang="zh-CN" dirty="0" err="1"/>
              <a:t>Atrous</a:t>
            </a:r>
            <a:r>
              <a:rPr lang="zh-CN" altLang="en-US" dirty="0"/>
              <a:t>（局部头）</a:t>
            </a:r>
            <a:r>
              <a:rPr lang="en-US" altLang="zh-CN" dirty="0"/>
              <a:t>+</a:t>
            </a:r>
            <a:r>
              <a:rPr lang="zh-CN" altLang="en-US" dirty="0"/>
              <a:t>前后</a:t>
            </a:r>
            <a:r>
              <a:rPr lang="en-US" altLang="zh-CN" dirty="0"/>
              <a:t>Local</a:t>
            </a:r>
            <a:r>
              <a:rPr lang="zh-CN" altLang="en-US" dirty="0"/>
              <a:t>（稀疏头）</a:t>
            </a:r>
            <a:br>
              <a:rPr lang="en-US" altLang="zh-CN" dirty="0"/>
            </a:b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CC38A3-0302-95F4-A5C5-6998231DB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局部头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关注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里的</m:t>
                    </m:r>
                  </m:oMath>
                </a14:m>
                <a:r>
                  <a:rPr lang="en-US" altLang="zh-CN" dirty="0"/>
                  <a:t>token   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dirty="0"/>
                  <a:t>就是跨步的步长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en-US" dirty="0"/>
                  <a:t>，则从序列位置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开始</a:t>
                </a:r>
                <a:endParaRPr lang="en-US" altLang="zh-CN" dirty="0"/>
              </a:p>
              <a:p>
                <a:r>
                  <a:rPr lang="zh-CN" altLang="en-US" dirty="0"/>
                  <a:t>稀疏头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关注 “与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的间隔为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的整数倍” 的历史 </a:t>
                </a:r>
                <a:r>
                  <a:rPr lang="en-US" altLang="zh-CN" dirty="0"/>
                  <a:t>token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每隔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个位置选一个 </a:t>
                </a:r>
                <a:r>
                  <a:rPr lang="en-US" altLang="zh-CN" dirty="0"/>
                  <a:t>token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跳跃 固定跳跃间隔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CC38A3-0302-95F4-A5C5-6998231DB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73162E31-D8B3-8B23-C46D-19A365D01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381" y="1357312"/>
            <a:ext cx="7742548" cy="15177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D69EDD-2C05-67DE-C8F2-D1100AA33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3551" y="3096390"/>
            <a:ext cx="3256538" cy="325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CCD20-19F9-E41B-6C5A-8EBA4353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固定稀疏注意力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700928-1D20-83BD-4DA8-F70678BAF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局部头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关注区块内的所有</a:t>
            </a:r>
            <a:r>
              <a:rPr lang="en-US" altLang="zh-CN" dirty="0"/>
              <a:t>token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向下取整求出</a:t>
            </a:r>
            <a:r>
              <a:rPr lang="en-US" altLang="zh-CN" dirty="0" err="1"/>
              <a:t>i</a:t>
            </a:r>
            <a:r>
              <a:rPr lang="zh-CN" altLang="en-US" dirty="0"/>
              <a:t>所在的区块</a:t>
            </a:r>
            <a:endParaRPr lang="en-US" altLang="zh-CN" dirty="0"/>
          </a:p>
          <a:p>
            <a:r>
              <a:rPr lang="zh-CN" altLang="en-US" dirty="0"/>
              <a:t>稀疏头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不关注每个区块的所有 </a:t>
            </a:r>
            <a:r>
              <a:rPr lang="en-US" altLang="zh-CN" dirty="0"/>
              <a:t>token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仅保留 最后</a:t>
            </a:r>
            <a:r>
              <a:rPr lang="en-US" altLang="zh-CN" dirty="0"/>
              <a:t>c</a:t>
            </a:r>
            <a:r>
              <a:rPr lang="zh-CN" altLang="en-US" dirty="0"/>
              <a:t>个关键 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29153A-34E7-FF28-1BA7-F294BA9E7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06" y="1478778"/>
            <a:ext cx="8053633" cy="136845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0ED677-FFA8-FB0B-674B-7E36053D7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235" y="2982174"/>
            <a:ext cx="3538979" cy="355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7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F64C1-D67F-B5AD-3941-E2F3E34D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ACC-</a:t>
            </a:r>
            <a:r>
              <a:rPr lang="en-US" altLang="zh-CN" dirty="0" err="1"/>
              <a:t>ViT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CVPR 2024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2D4BB1-EBE5-E857-9529-492D63C8C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成倍跳跃的稀疏注意力</a:t>
            </a:r>
            <a:endParaRPr lang="en-US" altLang="zh-CN" dirty="0"/>
          </a:p>
          <a:p>
            <a:r>
              <a:rPr lang="en-US" altLang="zh-CN" dirty="0" err="1"/>
              <a:t>Atrous</a:t>
            </a:r>
            <a:r>
              <a:rPr lang="en-US" altLang="zh-CN" dirty="0"/>
              <a:t> Convolution</a:t>
            </a:r>
          </a:p>
          <a:p>
            <a:r>
              <a:rPr lang="zh-CN" altLang="en-US" dirty="0"/>
              <a:t>空洞卷积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00BBBD-0448-170B-9AE4-B0C70ECDB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932" y="2441215"/>
            <a:ext cx="6844868" cy="39562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8763786-3A4E-5EE5-DF8A-2BF123AC8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8" y="4081103"/>
            <a:ext cx="3057062" cy="241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4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2800A-F64C-1A23-C7D3-9FFC6206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DeepSeek Sparse Attention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38E4CC-D930-6208-C5A4-E7FEC96A39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47072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Lightning Indexer </a:t>
                </a:r>
                <a:r>
                  <a:rPr lang="zh-CN" altLang="en-US" dirty="0"/>
                  <a:t>闪电索引器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轻量级计算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间的索引分数，筛选关键</a:t>
                </a:r>
                <a:r>
                  <a:rPr lang="en-US" altLang="zh-CN" dirty="0"/>
                  <a:t>token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对每个查询</a:t>
                </a:r>
                <a:r>
                  <a:rPr lang="en-US" altLang="zh-CN" dirty="0"/>
                  <a:t>token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与他之前的所有</a:t>
                </a:r>
                <a:r>
                  <a:rPr lang="en-US" altLang="zh-CN" dirty="0"/>
                  <a:t>token</a:t>
                </a:r>
              </a:p>
              <a:p>
                <a:endParaRPr lang="en-US" altLang="zh-CN" b="0" dirty="0"/>
              </a:p>
              <a:p>
                <a:r>
                  <a:rPr lang="zh-CN" altLang="en-US" b="0" dirty="0"/>
                  <a:t>用</a:t>
                </a:r>
                <a:r>
                  <a:rPr lang="en-US" altLang="zh-CN" b="0" dirty="0"/>
                  <a:t>FP8</a:t>
                </a:r>
                <a:r>
                  <a:rPr lang="zh-CN" altLang="en-US" b="0" dirty="0"/>
                  <a:t>精度</a:t>
                </a:r>
                <a:endParaRPr lang="en-US" altLang="zh-CN" b="0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38E4CC-D930-6208-C5A4-E7FEC96A39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470721"/>
              </a:xfrm>
              <a:blipFill>
                <a:blip r:embed="rId2"/>
                <a:stretch>
                  <a:fillRect l="-1043" t="-20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9418888E-E916-6862-849F-E7AE38378C9E}"/>
              </a:ext>
            </a:extLst>
          </p:cNvPr>
          <p:cNvPicPr>
            <a:picLocks/>
          </p:cNvPicPr>
          <p:nvPr/>
        </p:nvPicPr>
        <p:blipFill>
          <a:blip r:embed="rId3"/>
          <a:srcRect t="3492" b="3088"/>
          <a:stretch>
            <a:fillRect/>
          </a:stretch>
        </p:blipFill>
        <p:spPr>
          <a:xfrm>
            <a:off x="1706253" y="2752626"/>
            <a:ext cx="4893548" cy="11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5F4AD-B749-A6BE-746A-855C0FF4A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DeepSeek Sparse Attention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869DFD-1445-FEF7-E32F-BAE04D1E6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r>
                  <a:rPr lang="en-US" altLang="zh-CN" dirty="0"/>
                  <a:t>fine-grained token selection</a:t>
                </a:r>
                <a:r>
                  <a:rPr lang="zh-CN" altLang="en-US" dirty="0"/>
                  <a:t>细粒度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选择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仅用选中的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来计算注意力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𝐿𝑘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计算注意力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把选中的</a:t>
                </a:r>
                <a:r>
                  <a:rPr lang="en-US" altLang="zh-CN" dirty="0"/>
                  <a:t>top-k</a:t>
                </a:r>
                <a:r>
                  <a:rPr lang="zh-CN" altLang="en-US" dirty="0"/>
                  <a:t>个分数对应的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b="0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b="0" dirty="0"/>
                  <a:t>求注意力分数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这里是</a:t>
                </a:r>
                <a:r>
                  <a:rPr lang="en-US" altLang="zh-CN" dirty="0"/>
                  <a:t>MQA </a:t>
                </a:r>
                <a:r>
                  <a:rPr lang="zh-CN" altLang="en-US" dirty="0"/>
                  <a:t>查询头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dirty="0"/>
                  <a:t>共享同一组 </a:t>
                </a:r>
                <a:r>
                  <a:rPr lang="en-US" altLang="zh-CN" dirty="0"/>
                  <a:t>KV </a:t>
                </a:r>
                <a:r>
                  <a:rPr lang="zh-CN" altLang="en-US" dirty="0"/>
                  <a:t>条目</a:t>
                </a:r>
                <a:endParaRPr lang="en-US" altLang="zh-CN" dirty="0"/>
              </a:p>
              <a:p>
                <a:r>
                  <a:rPr lang="zh-CN" altLang="en-US" b="0" dirty="0"/>
                  <a:t>成功降低了计算复杂度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b="0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869DFD-1445-FEF7-E32F-BAE04D1E6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2303443-AA32-15D2-54B7-6B16A88C0DF4}"/>
              </a:ext>
            </a:extLst>
          </p:cNvPr>
          <p:cNvPicPr>
            <a:picLocks/>
          </p:cNvPicPr>
          <p:nvPr/>
        </p:nvPicPr>
        <p:blipFill>
          <a:blip r:embed="rId3"/>
          <a:srcRect t="8577" b="17491"/>
          <a:stretch>
            <a:fillRect/>
          </a:stretch>
        </p:blipFill>
        <p:spPr>
          <a:xfrm>
            <a:off x="1677970" y="3817856"/>
            <a:ext cx="6630383" cy="6127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1125FA4-D36F-0ACC-5492-22C47C6948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427" y="434305"/>
            <a:ext cx="882568" cy="88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9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474</Words>
  <Application>Microsoft Office PowerPoint</Application>
  <PresentationFormat>宽屏</PresentationFormat>
  <Paragraphs>81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Arial</vt:lpstr>
      <vt:lpstr>Cambria Math</vt:lpstr>
      <vt:lpstr>Office 主题​​</vt:lpstr>
      <vt:lpstr>DeepSeek-V3.2-Exp技术解读 从稀疏注意力到DSA DeepSeek Sparse Attention</vt:lpstr>
      <vt:lpstr>主要内容</vt:lpstr>
      <vt:lpstr>我们为什么需要稀疏注意力</vt:lpstr>
      <vt:lpstr>稀疏注意力 （ Openai 2019）</vt:lpstr>
      <vt:lpstr>Atrous Self Attention （苏剑林 2019）</vt:lpstr>
      <vt:lpstr>Local Self Attention （苏剑林 2019）</vt:lpstr>
      <vt:lpstr>跨步稀疏注意力 =跳跃Atrous（局部头）+前后Local（稀疏头） </vt:lpstr>
      <vt:lpstr>固定稀疏注意力</vt:lpstr>
      <vt:lpstr>ACC-ViT （CVPR 2024）</vt:lpstr>
      <vt:lpstr>DeepSeek Sparse Attention</vt:lpstr>
      <vt:lpstr>DeepSeek Sparse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2</cp:revision>
  <dcterms:created xsi:type="dcterms:W3CDTF">2025-09-30T01:52:58Z</dcterms:created>
  <dcterms:modified xsi:type="dcterms:W3CDTF">2025-09-30T04:07:15Z</dcterms:modified>
</cp:coreProperties>
</file>