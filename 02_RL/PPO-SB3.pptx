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257" r:id="rId4"/>
    <p:sldId id="258" r:id="rId5"/>
    <p:sldId id="292" r:id="rId6"/>
    <p:sldId id="283" r:id="rId7"/>
    <p:sldId id="284" r:id="rId8"/>
    <p:sldId id="285" r:id="rId9"/>
    <p:sldId id="266" r:id="rId10"/>
    <p:sldId id="260" r:id="rId11"/>
    <p:sldId id="267" r:id="rId12"/>
    <p:sldId id="268" r:id="rId13"/>
    <p:sldId id="269" r:id="rId14"/>
    <p:sldId id="270" r:id="rId15"/>
    <p:sldId id="271" r:id="rId16"/>
    <p:sldId id="274" r:id="rId17"/>
    <p:sldId id="275" r:id="rId18"/>
    <p:sldId id="276" r:id="rId19"/>
    <p:sldId id="272" r:id="rId20"/>
    <p:sldId id="277" r:id="rId21"/>
    <p:sldId id="280" r:id="rId22"/>
    <p:sldId id="279" r:id="rId23"/>
    <p:sldId id="278" r:id="rId24"/>
    <p:sldId id="281" r:id="rId25"/>
    <p:sldId id="282" r:id="rId26"/>
    <p:sldId id="286" r:id="rId27"/>
    <p:sldId id="287" r:id="rId28"/>
    <p:sldId id="288" r:id="rId29"/>
    <p:sldId id="289" r:id="rId30"/>
    <p:sldId id="290" r:id="rId31"/>
    <p:sldId id="291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33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95D04-D499-B396-08BC-8BBB330C3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4C8D77-2F24-4639-3991-3B8E77D18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A3D770-473A-A019-5D8B-8D72208DE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2C2167-C015-776E-8B22-D2D947270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7ACDE5-0C45-FF96-AEA2-03338A0B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07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6DF19-DFE4-3FC4-6618-49ADABA54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40A0C-2A66-1616-6647-5785A6B86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A90760-CF71-71EE-EC08-9DF384FDA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448315-14F0-04B2-45A3-F964BAFC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DEEEE0-B68E-08E9-1ADE-ACFB9B8A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61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CFC793-255C-B551-543E-E8B505F6C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2C289A-634E-B90B-B533-C6079D113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9EB12C-3BDA-AA0B-0AF7-DCC2103F2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6AD041-D6E3-AA84-FF9F-85F62DF8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20532-33E5-CC8D-5126-952EC40E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40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9FF33-F820-C467-5F7C-CBC5A90AE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813BEF-3EB9-B2B0-70D3-BA35507BC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767F83-A1C4-C648-5CAA-0422D54F0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5ABB78-FB34-01C7-8CD4-1DAD49DCB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0EA164-4A7A-F91E-3758-7756F21A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8818FE-4361-4113-B32B-B94AE7467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96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754DE-3AEE-B7AC-9943-A3AC231C4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50EA40-D927-1576-3075-53F5A3513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A6F7C6-6647-C26D-9474-8C554A182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A00B71A-FB1F-52E7-0172-47C731F91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46E3A6-044D-10D3-694B-C7EE6D048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98F6BB-E095-A91A-AB29-394B5432A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2D4BEC-D0FB-6CF4-A438-143F9792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897341-BD87-4F91-2FC7-E6C30450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72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712D5-9240-4329-6EEF-8B58C6AF3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1E5691-9651-BC5C-428A-C075A92E3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219EBE-4E89-E0A7-0C59-E3A9AFDF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4FA601-5CD4-719A-347C-58B782A7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720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5A08A9-C579-0CE2-84AD-2490E90E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E93A23-0FF6-9992-0230-193DBFC6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31F807-0007-BFDB-5637-A4E54593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17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C71B80-AD48-B175-1D74-C1147524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570AD0-9042-C3BD-346E-B4E471504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5799D4-2E43-8612-694A-01314A39A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1E39A9-CCFD-3402-D3B9-E42530F0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96F0B9-6F22-81D7-4BD9-407F5DC28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7799B0-4E80-41A5-C931-4F44D634A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047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480A2-93F1-FDD0-E0A7-243782F2E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EE32921-10D4-51F7-A34D-0F092766B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9BAAAF-8B45-A36E-B0B0-CFEC79262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8E28BB-8E04-FC66-ABA7-65282333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4EF9AA-5F71-4C8E-5DB8-EAD626D0D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EE0010-0CF6-09F5-BA6C-391E7419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4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7D3D4-B832-0270-CE95-5109DF278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70D223-02D4-FB16-B240-A61154680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D433D2-7AD2-63F6-AA74-7ED6AEFBB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48D200-6CBA-A17B-681F-0FF36885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E30DD-BB12-8E5B-FD34-B57079EBD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070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06261B-3E19-10E4-4703-4D4BA566D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24C2CE-5C57-01B9-6B0E-11CC6517F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85BED-CD99-0A83-7628-72CDA4A0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601D57-1A78-8231-47F5-A991F2DE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CFED9-978C-C794-2D98-30A9EB23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05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770C51-ED2A-907C-5B0D-163B0B05A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6EA435-2EB1-4ECB-8D0E-B4D6909E1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477A2F-E3F7-A572-B5BE-520F4D13E1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2AFA5-AECF-4B8F-BF06-EE5364EAEFAB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54F49-222A-FB1D-220B-4B2611DA7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14875-831D-8376-A171-355031914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CE82D-FBE9-4C7D-9788-CE5AB1B87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94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LR-RM/stable-baselines3/tree/maste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LR-RM/stable-baselines3/blob/master/stable_baselines3/common/policies.py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github.com/DLR-RM/stable-baselines3/blob/master/stable_baselines3/common/on_policy_algorithm.py" TargetMode="External"/><Relationship Id="rId2" Type="http://schemas.openxmlformats.org/officeDocument/2006/relationships/hyperlink" Target="https://github.com/DLR-RM/stable-baselines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DLR-RM/stable-baselines3/blob/master/stable_baselines3/common/evaluation.py" TargetMode="External"/><Relationship Id="rId5" Type="http://schemas.openxmlformats.org/officeDocument/2006/relationships/hyperlink" Target="https://github.com/DLR-RM/stable-baselines3/blob/master/stable_baselines3/common/buffers.py" TargetMode="External"/><Relationship Id="rId4" Type="http://schemas.openxmlformats.org/officeDocument/2006/relationships/hyperlink" Target="https://github.com/DLR-RM/stable-baselines3/tree/master/stable_baselines3/pp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LR-RM/stable-baselines3/blob/master/stable_baselines3/common/buffers.py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bmlai/annotated_deep_learning_paper_implementations/tree/master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labmlai/annotated_deep_learning_paper_implementations/blob/master/labml_nn/rl/ppo/gae.py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LR-RM/stable-baselines3/blob/master/stable_baselines3/ppo/ppo.py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hyperlink" Target="http://joschu.net/blog/kl-appro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B6555-DD75-F749-C281-1425CE85A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723426"/>
            <a:ext cx="9144000" cy="2614417"/>
          </a:xfrm>
        </p:spPr>
        <p:txBody>
          <a:bodyPr>
            <a:noAutofit/>
          </a:bodyPr>
          <a:lstStyle/>
          <a:p>
            <a:r>
              <a:rPr lang="en-US" altLang="zh-CN" sz="96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PPO</a:t>
            </a:r>
            <a:br>
              <a:rPr lang="en-US" altLang="zh-CN" sz="96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</a:br>
            <a:r>
              <a:rPr lang="zh-CN" altLang="en-US" sz="9600" b="1" dirty="0">
                <a:latin typeface="Microsoft Sans Serif" panose="020B0604020202020204" pitchFamily="34" charset="0"/>
                <a:ea typeface="Arial Unicode MS" panose="020B0604020202020204" pitchFamily="34" charset="-122"/>
                <a:cs typeface="Microsoft Sans Serif" panose="020B0604020202020204" pitchFamily="34" charset="0"/>
              </a:rPr>
              <a:t>完整实现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A7163C-CC0E-17E0-1E6A-1E50B1C69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3611" y="4467548"/>
            <a:ext cx="3484774" cy="479254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588B5D-140B-F53A-2EE0-AC93ECC69C3A}"/>
              </a:ext>
            </a:extLst>
          </p:cNvPr>
          <p:cNvSpPr txBox="1"/>
          <p:nvPr/>
        </p:nvSpPr>
        <p:spPr>
          <a:xfrm>
            <a:off x="5093221" y="1354094"/>
            <a:ext cx="2005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hlinkClick r:id="rId2"/>
              </a:rPr>
              <a:t>stable-baselines3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3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C83EB-2FC2-681C-395B-E8918ED3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614EDC-4F14-5572-3561-C5E4A7597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完整目标函数 价值损失项 熵项</a:t>
            </a:r>
            <a:endParaRPr lang="en-US" altLang="zh-CN" dirty="0"/>
          </a:p>
          <a:p>
            <a:r>
              <a:rPr lang="en-US" altLang="zh-CN" dirty="0"/>
              <a:t>RolloutBuffer ReplayBuffer</a:t>
            </a:r>
          </a:p>
          <a:p>
            <a:r>
              <a:rPr lang="zh-CN" altLang="en-US" dirty="0"/>
              <a:t>广义优势估计计算</a:t>
            </a:r>
            <a:r>
              <a:rPr lang="en-US" altLang="zh-CN" dirty="0"/>
              <a:t>advantages</a:t>
            </a:r>
          </a:p>
          <a:p>
            <a:r>
              <a:rPr lang="en-US" altLang="zh-CN" dirty="0"/>
              <a:t>PPO</a:t>
            </a:r>
            <a:r>
              <a:rPr lang="zh-CN" altLang="en-US" dirty="0"/>
              <a:t>的训练流程</a:t>
            </a:r>
            <a:endParaRPr lang="en-US" altLang="zh-CN" dirty="0"/>
          </a:p>
          <a:p>
            <a:r>
              <a:rPr lang="zh-CN" altLang="en-US" dirty="0"/>
              <a:t>优势归一化</a:t>
            </a:r>
            <a:endParaRPr lang="en-US" altLang="zh-CN" dirty="0"/>
          </a:p>
          <a:p>
            <a:r>
              <a:rPr lang="zh-CN" altLang="en-US" dirty="0"/>
              <a:t>价值函数的裁剪</a:t>
            </a:r>
            <a:endParaRPr lang="en-US" altLang="zh-CN" dirty="0"/>
          </a:p>
          <a:p>
            <a:r>
              <a:rPr lang="en-US" altLang="zh-CN" dirty="0"/>
              <a:t>KL</a:t>
            </a:r>
            <a:r>
              <a:rPr lang="zh-CN" altLang="en-US" dirty="0"/>
              <a:t>散度早停</a:t>
            </a:r>
          </a:p>
        </p:txBody>
      </p:sp>
    </p:spTree>
    <p:extLst>
      <p:ext uri="{BB962C8B-B14F-4D97-AF65-F5344CB8AC3E}">
        <p14:creationId xmlns:p14="http://schemas.microsoft.com/office/powerpoint/2010/main" val="180786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D0C99-F68E-B0C7-A06F-150F2D24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84670" cy="1325563"/>
          </a:xfrm>
        </p:spPr>
        <p:txBody>
          <a:bodyPr>
            <a:normAutofit/>
          </a:bodyPr>
          <a:lstStyle/>
          <a:p>
            <a:r>
              <a:rPr lang="en-US" altLang="zh-CN" dirty="0">
                <a:hlinkClick r:id="rId2"/>
              </a:rPr>
              <a:t>https://github.com/DLR-RM/stable-baselines3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96C304-AF73-4169-DEDC-994EFE634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14" y="1653430"/>
            <a:ext cx="11143230" cy="35511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12E1D5E-F47E-DC24-7939-526FA2AF8072}"/>
              </a:ext>
            </a:extLst>
          </p:cNvPr>
          <p:cNvSpPr txBox="1"/>
          <p:nvPr/>
        </p:nvSpPr>
        <p:spPr>
          <a:xfrm>
            <a:off x="838200" y="5318313"/>
            <a:ext cx="8208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4"/>
              </a:rPr>
              <a:t>stable-baselines3/stable_baselines3/ppo at master · DLR-RM/stable-baselines3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62128B-8225-01C7-87CD-5BFBF538FBE1}"/>
              </a:ext>
            </a:extLst>
          </p:cNvPr>
          <p:cNvSpPr txBox="1"/>
          <p:nvPr/>
        </p:nvSpPr>
        <p:spPr>
          <a:xfrm>
            <a:off x="838200" y="5612230"/>
            <a:ext cx="10188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5"/>
              </a:rPr>
              <a:t>stable-baselines3/stable_baselines3/common/buffers.py at master · DLR-RM/stable-baselines3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94519F-E499-9B0F-9FE7-4A02C985CB39}"/>
              </a:ext>
            </a:extLst>
          </p:cNvPr>
          <p:cNvSpPr txBox="1"/>
          <p:nvPr/>
        </p:nvSpPr>
        <p:spPr>
          <a:xfrm>
            <a:off x="838200" y="5906147"/>
            <a:ext cx="1089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6"/>
              </a:rPr>
              <a:t>stable-baselines3/stable_baselines3/common/evaluation.py at master · DLR-RM/stable-baselines3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7A1B53-829E-47E6-8554-78DDA6F18B55}"/>
              </a:ext>
            </a:extLst>
          </p:cNvPr>
          <p:cNvSpPr txBox="1"/>
          <p:nvPr/>
        </p:nvSpPr>
        <p:spPr>
          <a:xfrm>
            <a:off x="838201" y="6194751"/>
            <a:ext cx="10895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7"/>
              </a:rPr>
              <a:t>stable-baselines3/stable_baselines3/common/on_policy_algorithm.py at master · DLR-RM/stable-baselines3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527BEA-399F-D13E-10C2-272C8503CA56}"/>
              </a:ext>
            </a:extLst>
          </p:cNvPr>
          <p:cNvSpPr txBox="1"/>
          <p:nvPr/>
        </p:nvSpPr>
        <p:spPr>
          <a:xfrm>
            <a:off x="838200" y="6488668"/>
            <a:ext cx="11526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8"/>
              </a:rPr>
              <a:t>stable-baselines3/stable_baselines3/common/policies.py at master · DLR-RM/stable-baselines3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216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7CBF5-B7D8-D93C-E9ED-6E5C4E2D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Clipped Surrogate Objective function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BBF877E-3B83-751A-4AA8-AD65F0253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07703"/>
                <a:ext cx="10515600" cy="5108714"/>
              </a:xfrm>
            </p:spPr>
            <p:txBody>
              <a:bodyPr/>
              <a:lstStyle/>
              <a:p>
                <a:r>
                  <a:rPr lang="zh-CN" altLang="en-US" dirty="0"/>
                  <a:t>完整目标函数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𝐶𝐿𝐼𝑃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𝑉𝐹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𝐶𝐿𝐼𝑃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𝑉𝐹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𝑉𝐹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平方损失项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pred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𝑡𝑎𝑟𝑔𝑒𝑡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	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dirty="0"/>
                  <a:t>使价值网络的估计更准确</a:t>
                </a:r>
                <a:endParaRPr lang="en-US" altLang="zh-CN" b="0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熵项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鼓励探索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BBF877E-3B83-751A-4AA8-AD65F0253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07703"/>
                <a:ext cx="10515600" cy="5108714"/>
              </a:xfrm>
              <a:blipFill>
                <a:blip r:embed="rId2"/>
                <a:stretch>
                  <a:fillRect l="-1043" t="-2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96C15D7-FC0C-2C42-D7EE-3161DA126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38" y="1407698"/>
            <a:ext cx="5732309" cy="60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8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00A845A-2B6C-E9E6-E4FD-63A0B88B094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𝑉𝐹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dirty="0"/>
                  <a:t>如何使价值网络的估计更准确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00A845A-2B6C-E9E6-E4FD-63A0B88B0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40B02A9-3A2B-D093-D3B0-DA534F52D2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4282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pred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是当前价值网络的输出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p>
                    </m:sSubSup>
                  </m:oMath>
                </a14:m>
                <a:r>
                  <a:rPr lang="zh-CN" altLang="en-US" dirty="0"/>
                  <a:t>是用旧的样本数据计算出的</a:t>
                </a:r>
                <a:r>
                  <a:rPr lang="en-US" altLang="zh-CN" dirty="0"/>
                  <a:t>return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期望回报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p>
                    </m:sSubSup>
                  </m:oMath>
                </a14:m>
                <a:r>
                  <a:rPr lang="en-US" altLang="zh-CN" dirty="0"/>
                  <a:t>= advantages + values</a:t>
                </a:r>
              </a:p>
              <a:p>
                <a:r>
                  <a:rPr lang="en-US" altLang="zh-CN" dirty="0"/>
                  <a:t>advantages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由广义优势估计得到</a:t>
                </a:r>
                <a:endParaRPr lang="en-US" altLang="zh-CN" dirty="0"/>
              </a:p>
              <a:p>
                <a:r>
                  <a:rPr lang="en-US" altLang="zh-CN" dirty="0"/>
                  <a:t>values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由旧的价值网络输出</a:t>
                </a:r>
                <a:endParaRPr lang="en-US" altLang="zh-CN" dirty="0"/>
              </a:p>
              <a:p>
                <a:r>
                  <a:rPr lang="zh-CN" altLang="en-US" dirty="0"/>
                  <a:t>训练的时候我们让当前价值网络的输出逼近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p>
                    </m:sSubSup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40B02A9-3A2B-D093-D3B0-DA534F52D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42820"/>
              </a:xfrm>
              <a:blipFill>
                <a:blip r:embed="rId3"/>
                <a:stretch>
                  <a:fillRect l="-1043" t="-1850" b="-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99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26E1720-6DFB-6D7A-6271-F9122A2E0F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如何鼓励探索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26E1720-6DFB-6D7A-6271-F9122A2E0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A77F8D-3B71-FDED-333E-F97D9D959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连续空间  </a:t>
            </a:r>
            <a:r>
              <a:rPr lang="en-US" altLang="zh-CN" dirty="0"/>
              <a:t>PPO</a:t>
            </a:r>
            <a:r>
              <a:rPr lang="zh-CN" altLang="en-US" dirty="0"/>
              <a:t>里的动作是如何采样得到的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PPO</a:t>
            </a:r>
            <a:r>
              <a:rPr lang="zh-CN" altLang="en-US" dirty="0"/>
              <a:t>采用的生成连续动作的技术最早是</a:t>
            </a:r>
            <a:r>
              <a:rPr lang="en-US" altLang="zh-CN" dirty="0"/>
              <a:t>TRPO</a:t>
            </a:r>
            <a:r>
              <a:rPr lang="zh-CN" altLang="en-US" dirty="0"/>
              <a:t>这篇论文提出的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标量连续动作是从</a:t>
            </a:r>
            <a:r>
              <a:rPr lang="zh-CN" altLang="en-US" b="1" dirty="0"/>
              <a:t>一维高斯分布</a:t>
            </a:r>
            <a:r>
              <a:rPr lang="zh-CN" altLang="en-US" dirty="0"/>
              <a:t>中随机采样得到的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高斯分布由均值和标准差参数化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均值是策略网络计算的输出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标准差是选定的超参数并保持固定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如果想要调整</a:t>
            </a:r>
            <a:r>
              <a:rPr lang="en-US" altLang="zh-CN" dirty="0"/>
              <a:t>PPO</a:t>
            </a:r>
            <a:r>
              <a:rPr lang="zh-CN" altLang="en-US" dirty="0"/>
              <a:t>里智能体的探索行为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好像只能手动调整标准差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2AB246-FBEE-E63C-F9E3-74306B5B148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20" b="12440"/>
          <a:stretch>
            <a:fillRect/>
          </a:stretch>
        </p:blipFill>
        <p:spPr>
          <a:xfrm>
            <a:off x="8464484" y="365125"/>
            <a:ext cx="2470609" cy="168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7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C385D2-1AE6-76A9-1D1F-FEC8C291E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969" y="3102253"/>
            <a:ext cx="5500887" cy="2148477"/>
          </a:xfrm>
        </p:spPr>
        <p:txBody>
          <a:bodyPr/>
          <a:lstStyle/>
          <a:p>
            <a:r>
              <a:rPr lang="zh-CN" altLang="en-US" dirty="0"/>
              <a:t>将高斯分布的标准差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视为</a:t>
            </a:r>
            <a:r>
              <a:rPr lang="zh-CN" altLang="en-US" b="1" dirty="0"/>
              <a:t>可训练参数</a:t>
            </a:r>
            <a:endParaRPr lang="en-US" altLang="zh-CN" dirty="0"/>
          </a:p>
          <a:p>
            <a:r>
              <a:rPr lang="zh-CN" altLang="en-US" dirty="0"/>
              <a:t>在训练过程中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通过随机梯度下降进行调整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21A585-E308-B56A-BFEE-3E1AA5741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55" y="404394"/>
            <a:ext cx="6836809" cy="2517915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B9E91F7-8C20-976A-E3A0-FE377255B4D7}"/>
              </a:ext>
            </a:extLst>
          </p:cNvPr>
          <p:cNvSpPr txBox="1">
            <a:spLocks/>
          </p:cNvSpPr>
          <p:nvPr/>
        </p:nvSpPr>
        <p:spPr>
          <a:xfrm>
            <a:off x="838200" y="3486366"/>
            <a:ext cx="10515600" cy="3028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629089-35A8-AB02-2FA2-5E221FBC7878}"/>
              </a:ext>
            </a:extLst>
          </p:cNvPr>
          <p:cNvSpPr txBox="1"/>
          <p:nvPr/>
        </p:nvSpPr>
        <p:spPr>
          <a:xfrm>
            <a:off x="838200" y="5161166"/>
            <a:ext cx="87645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isinstance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(self.action_space, spaces.Box):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self.log_std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nn.Parameter(th.zeros(action_dim))</a:t>
            </a:r>
          </a:p>
        </p:txBody>
      </p:sp>
    </p:spTree>
    <p:extLst>
      <p:ext uri="{BB962C8B-B14F-4D97-AF65-F5344CB8AC3E}">
        <p14:creationId xmlns:p14="http://schemas.microsoft.com/office/powerpoint/2010/main" val="2951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A96A8-2D34-F726-0F83-EA5C7E521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2E7561-2578-37FC-D643-B397A2159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8682" cy="4952247"/>
          </a:xfrm>
        </p:spPr>
        <p:txBody>
          <a:bodyPr/>
          <a:lstStyle/>
          <a:p>
            <a:r>
              <a:rPr lang="en-US" altLang="zh-CN" dirty="0"/>
              <a:t>PPO</a:t>
            </a:r>
            <a:r>
              <a:rPr lang="zh-CN" altLang="en-US" dirty="0"/>
              <a:t>依据概率分布采样</a:t>
            </a:r>
            <a:endParaRPr lang="en-US" altLang="zh-CN" dirty="0"/>
          </a:p>
          <a:p>
            <a:r>
              <a:rPr lang="zh-CN" altLang="en-US" dirty="0"/>
              <a:t>如何鼓励探索？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最大探索程度的实现方式是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为动作空间的所有元素分配相等的概率</a:t>
            </a:r>
            <a:endParaRPr lang="en-US" altLang="zh-CN" dirty="0"/>
          </a:p>
          <a:p>
            <a:r>
              <a:rPr lang="zh-CN" altLang="en-US" dirty="0"/>
              <a:t>熵奖励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让智能体更倾向于对动作空间中所有可用动作生成等概率估计</a:t>
            </a:r>
            <a:endParaRPr lang="en-US" altLang="zh-CN" dirty="0"/>
          </a:p>
          <a:p>
            <a:r>
              <a:rPr lang="zh-CN" altLang="en-US" dirty="0"/>
              <a:t>这样智能体就能在遇到的状态里探索更多不同的动作</a:t>
            </a:r>
            <a:endParaRPr lang="en-US" altLang="zh-CN" dirty="0"/>
          </a:p>
          <a:p>
            <a:r>
              <a:rPr lang="en-US" altLang="zh-CN" dirty="0"/>
              <a:t>SB3</a:t>
            </a:r>
            <a:r>
              <a:rPr lang="zh-CN" altLang="en-US" dirty="0"/>
              <a:t>的</a:t>
            </a:r>
            <a:r>
              <a:rPr lang="en-US" altLang="zh-CN" dirty="0"/>
              <a:t>PPO</a:t>
            </a:r>
            <a:r>
              <a:rPr lang="zh-CN" altLang="en-US" dirty="0"/>
              <a:t>代码里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离散动作空间和连续动作空间都用了熵项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ECBD16-9FA1-8852-F266-885ECC446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936" y="365125"/>
            <a:ext cx="3688400" cy="336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7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A5C78-6FB3-8D70-CDCA-900781D4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PPO</a:t>
            </a:r>
            <a:r>
              <a:rPr lang="zh-CN" altLang="en-US" dirty="0"/>
              <a:t>在训练前做的事情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6ABFA4-B4A8-6FEA-8B15-AA5DE62B3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RolloutBuffer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存储每个时间步的数据</a:t>
            </a:r>
            <a:endParaRPr lang="en-US" altLang="zh-CN" dirty="0"/>
          </a:p>
          <a:p>
            <a:r>
              <a:rPr lang="zh-CN" altLang="en-US" dirty="0"/>
              <a:t>与环境交互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并行采样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将得到的数据存放在</a:t>
            </a:r>
            <a:r>
              <a:rPr lang="en-US" altLang="zh-CN" dirty="0"/>
              <a:t>RolloutBuffer</a:t>
            </a:r>
            <a:r>
              <a:rPr lang="zh-CN" altLang="en-US" dirty="0"/>
              <a:t>里</a:t>
            </a:r>
            <a:endParaRPr lang="en-US" altLang="zh-CN" dirty="0"/>
          </a:p>
          <a:p>
            <a:r>
              <a:rPr lang="zh-CN" altLang="en-US" dirty="0"/>
              <a:t>这里的采样用的是当前策略（旧策略）</a:t>
            </a:r>
            <a:endParaRPr lang="en-US" altLang="zh-CN" dirty="0"/>
          </a:p>
          <a:p>
            <a:r>
              <a:rPr lang="zh-CN" altLang="en-US" dirty="0"/>
              <a:t>采样完成后计算</a:t>
            </a:r>
            <a:r>
              <a:rPr lang="en-US" altLang="zh-CN" dirty="0"/>
              <a:t>GAE</a:t>
            </a:r>
          </a:p>
        </p:txBody>
      </p:sp>
    </p:spTree>
    <p:extLst>
      <p:ext uri="{BB962C8B-B14F-4D97-AF65-F5344CB8AC3E}">
        <p14:creationId xmlns:p14="http://schemas.microsoft.com/office/powerpoint/2010/main" val="290752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E568B-CD20-9C7B-FA60-1B655C0E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Rollout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9727F-6CEA-E560-EF8F-59BFF4BCB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PPO</a:t>
            </a:r>
            <a:r>
              <a:rPr lang="zh-CN" altLang="en-US" dirty="0"/>
              <a:t>的回放缓冲区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用来存放采取当前策略下采集的完整</a:t>
            </a:r>
            <a:r>
              <a:rPr lang="en-US" altLang="zh-CN" dirty="0"/>
              <a:t>trajectory</a:t>
            </a:r>
            <a:r>
              <a:rPr lang="zh-CN" altLang="en-US" dirty="0"/>
              <a:t>的数据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后续会用采集到的数据进行多轮训练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数据单次使用，用后即弃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策略更新之后清空缓冲区</a:t>
            </a:r>
            <a:endParaRPr lang="en-US" altLang="zh-CN" dirty="0"/>
          </a:p>
          <a:p>
            <a:r>
              <a:rPr lang="zh-CN" altLang="en-US" dirty="0"/>
              <a:t>容量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buffer_size = n_steps 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固定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7166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933A9-A963-B8B2-EBD5-E65898E8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另一种回放缓冲区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8B9C9-8DE6-E2FE-3CBD-152674FD5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ReplayBuffer</a:t>
            </a:r>
          </a:p>
          <a:p>
            <a:r>
              <a:rPr lang="en-US" altLang="zh-CN" dirty="0"/>
              <a:t>DQN: Experience Replay</a:t>
            </a:r>
          </a:p>
          <a:p>
            <a:r>
              <a:rPr lang="zh-CN" altLang="en-US" dirty="0"/>
              <a:t>每次从环境中采样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数据存放到</a:t>
            </a:r>
            <a:r>
              <a:rPr lang="en-US" altLang="zh-CN" dirty="0"/>
              <a:t>ReplayBuffer</a:t>
            </a:r>
            <a:r>
              <a:rPr lang="zh-CN" altLang="en-US" dirty="0"/>
              <a:t>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训练的时候从里面随机采样一批出来训练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289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CE975-C60A-B2A4-B295-D1E9547AF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107" y="1109400"/>
            <a:ext cx="6222476" cy="992989"/>
          </a:xfrm>
        </p:spPr>
        <p:txBody>
          <a:bodyPr>
            <a:normAutofit/>
          </a:bodyPr>
          <a:lstStyle/>
          <a:p>
            <a:r>
              <a:rPr lang="en-US" altLang="zh-CN" dirty="0"/>
              <a:t>RolloutBuffer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容量固定，数据不会循环覆盖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12DB60-61A3-4C92-DAFC-6E8A023B58B4}"/>
              </a:ext>
            </a:extLst>
          </p:cNvPr>
          <p:cNvSpPr txBox="1"/>
          <p:nvPr/>
        </p:nvSpPr>
        <p:spPr>
          <a:xfrm>
            <a:off x="275735" y="791464"/>
            <a:ext cx="54180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add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(self, obs, action, reward, episode_start, value, log_prob):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inherit"/>
              </a:rPr>
              <a:t># ...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inherit"/>
              </a:rPr>
              <a:t>写入数据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inherit"/>
              </a:rPr>
              <a:t>...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self.pos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self.pos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self.buffer_size: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self.full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True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E99BA-91C0-EE5F-D33A-7F14239B592F}"/>
              </a:ext>
            </a:extLst>
          </p:cNvPr>
          <p:cNvSpPr txBox="1"/>
          <p:nvPr/>
        </p:nvSpPr>
        <p:spPr>
          <a:xfrm>
            <a:off x="275735" y="2977122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self.pos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self.pos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self.buffer_size: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self.full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True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self.pos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0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73623782-DAF5-793B-46DD-6245C788386B}"/>
              </a:ext>
            </a:extLst>
          </p:cNvPr>
          <p:cNvSpPr txBox="1">
            <a:spLocks/>
          </p:cNvSpPr>
          <p:nvPr/>
        </p:nvSpPr>
        <p:spPr>
          <a:xfrm>
            <a:off x="5524107" y="3115746"/>
            <a:ext cx="6994688" cy="1115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ReplayBuffer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  <a:r>
              <a:rPr lang="zh-CN" altLang="en-US" dirty="0"/>
              <a:t>满了就回到开头，循环覆盖旧数据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A51504-AEAE-9A02-2B91-CB88511B5D6B}"/>
              </a:ext>
            </a:extLst>
          </p:cNvPr>
          <p:cNvSpPr txBox="1"/>
          <p:nvPr/>
        </p:nvSpPr>
        <p:spPr>
          <a:xfrm>
            <a:off x="0" y="6211669"/>
            <a:ext cx="5747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stable-baselines3/stable_baselines3/common/buffers.py at master · DLR-RM/stable-baselines3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C6AAE4-0A36-8F24-4EC4-49FAE66B41FC}"/>
              </a:ext>
            </a:extLst>
          </p:cNvPr>
          <p:cNvSpPr txBox="1"/>
          <p:nvPr/>
        </p:nvSpPr>
        <p:spPr>
          <a:xfrm>
            <a:off x="398676" y="4690605"/>
            <a:ext cx="6888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get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(self, batch_size: Optional[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int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]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assert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self.full,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""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5BDD722F-ED07-A26A-005E-2BE44AD3BC84}"/>
              </a:ext>
            </a:extLst>
          </p:cNvPr>
          <p:cNvSpPr txBox="1">
            <a:spLocks/>
          </p:cNvSpPr>
          <p:nvPr/>
        </p:nvSpPr>
        <p:spPr>
          <a:xfrm>
            <a:off x="7414733" y="4830212"/>
            <a:ext cx="6222476" cy="1836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RolloutBuffer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  <a:r>
              <a:rPr lang="zh-CN" altLang="en-US" dirty="0"/>
              <a:t>强制要求</a:t>
            </a:r>
            <a:r>
              <a:rPr lang="en-US" altLang="zh-CN" dirty="0"/>
              <a:t>full=True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  <a:r>
              <a:rPr lang="zh-CN" altLang="en-US" dirty="0"/>
              <a:t>数据满了才能使用</a:t>
            </a:r>
          </a:p>
        </p:txBody>
      </p:sp>
    </p:spTree>
    <p:extLst>
      <p:ext uri="{BB962C8B-B14F-4D97-AF65-F5344CB8AC3E}">
        <p14:creationId xmlns:p14="http://schemas.microsoft.com/office/powerpoint/2010/main" val="331552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9" grpId="0"/>
      <p:bldP spid="10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161EEC1-F191-9B9A-9DFD-005924952280}"/>
              </a:ext>
            </a:extLst>
          </p:cNvPr>
          <p:cNvSpPr txBox="1"/>
          <p:nvPr/>
        </p:nvSpPr>
        <p:spPr>
          <a:xfrm>
            <a:off x="322476" y="690589"/>
            <a:ext cx="54840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reset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-&gt;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self.observations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np.zeros(...)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self.actions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np.zeros(...)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...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self.generator_ready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False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super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().reset()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3CA6A16-2115-BF48-4C2D-C40CDF9D50E1}"/>
              </a:ext>
            </a:extLst>
          </p:cNvPr>
          <p:cNvSpPr txBox="1">
            <a:spLocks/>
          </p:cNvSpPr>
          <p:nvPr/>
        </p:nvSpPr>
        <p:spPr>
          <a:xfrm>
            <a:off x="5806518" y="608140"/>
            <a:ext cx="6222476" cy="152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RolloutBuffer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  <a:r>
              <a:rPr lang="zh-CN" altLang="en-US" dirty="0"/>
              <a:t>每次使用后全部置</a:t>
            </a:r>
            <a:r>
              <a:rPr lang="en-US" altLang="zh-CN" dirty="0"/>
              <a:t>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  <a:r>
              <a:rPr lang="zh-CN" altLang="en-US" dirty="0"/>
              <a:t>丢弃旧数据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0521EE-E00D-923E-3B6F-77B582C1AB82}"/>
              </a:ext>
            </a:extLst>
          </p:cNvPr>
          <p:cNvSpPr txBox="1"/>
          <p:nvPr/>
        </p:nvSpPr>
        <p:spPr>
          <a:xfrm>
            <a:off x="322476" y="2630326"/>
            <a:ext cx="36085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reset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-&gt;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self.pos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self.full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False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F4F1116-5AC5-5E59-BF7F-D39EEC6117AE}"/>
              </a:ext>
            </a:extLst>
          </p:cNvPr>
          <p:cNvSpPr txBox="1">
            <a:spLocks/>
          </p:cNvSpPr>
          <p:nvPr/>
        </p:nvSpPr>
        <p:spPr>
          <a:xfrm>
            <a:off x="4099875" y="2518161"/>
            <a:ext cx="6222476" cy="152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RolloutBuffer</a:t>
            </a:r>
            <a:r>
              <a:rPr lang="zh-CN" altLang="en-US" dirty="0"/>
              <a:t>的父类</a:t>
            </a:r>
            <a:r>
              <a:rPr lang="en-US" altLang="zh-CN" dirty="0"/>
              <a:t>BaseBuffer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指针归零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状态重置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1BD3B8-C335-D5A7-F5C1-7EAFED4F2D6C}"/>
              </a:ext>
            </a:extLst>
          </p:cNvPr>
          <p:cNvSpPr txBox="1"/>
          <p:nvPr/>
        </p:nvSpPr>
        <p:spPr>
          <a:xfrm>
            <a:off x="322476" y="4130343"/>
            <a:ext cx="9660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sample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(self, batch_size: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int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, env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upper_bound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self.buffer_size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self.full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self.pos 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batch_inds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np.random.randint(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, upper_bound, size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batch_size) 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return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self._get_samples(batch_inds) 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516D344-9EC2-C407-D6A6-699068965DF1}"/>
              </a:ext>
            </a:extLst>
          </p:cNvPr>
          <p:cNvSpPr txBox="1">
            <a:spLocks/>
          </p:cNvSpPr>
          <p:nvPr/>
        </p:nvSpPr>
        <p:spPr>
          <a:xfrm>
            <a:off x="4695735" y="5330672"/>
            <a:ext cx="7022183" cy="1775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ReplayBuffer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未满也能用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  <a:r>
              <a:rPr lang="zh-CN" altLang="en-US" dirty="0"/>
              <a:t>随机选，返回抽中的单个</a:t>
            </a:r>
            <a:r>
              <a:rPr lang="en-US" altLang="zh-CN" dirty="0"/>
              <a:t>batch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450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A79CF-5F8E-227D-4738-D87D9B05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RolloutBuffer</a:t>
            </a:r>
            <a:r>
              <a:rPr lang="zh-CN" altLang="en-US" dirty="0"/>
              <a:t>里面存放什么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BB75BA-A227-8EEC-E337-8807E87090FE}"/>
              </a:ext>
            </a:extLst>
          </p:cNvPr>
          <p:cNvSpPr txBox="1"/>
          <p:nvPr/>
        </p:nvSpPr>
        <p:spPr>
          <a:xfrm>
            <a:off x="263950" y="1582340"/>
            <a:ext cx="119280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reset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-&gt;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self.observations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np.zeros((self.buffer_size, self.n_envs,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self.obs_shape), dtype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self.observation_space.dtype)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self.actions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np.zeros((self.buffer_size, self.n_envs, self.action_dim), dtype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self.action_space.dtype)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self.rewards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np.zeros((self.buffer_size, self.n_envs), dtype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np.float32)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self.returns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np.zeros((self.buffer_size, self.n_envs), dtype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np.float32)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self.episode_starts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np.zeros((self.buffer_size, self.n_envs), dtype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np.float32)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self.values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np.zeros((self.buffer_size, self.n_envs), dtype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np.float32)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self.log_probs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np.zeros((self.buffer_size, self.n_envs), dtype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np.float32)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self.advantages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np.zeros((self.buffer_size, self.n_envs), dtype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np.float32)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self.generator_ready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False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super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().reset()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A8A671F-3132-79E8-9760-5978415DD3B0}"/>
              </a:ext>
            </a:extLst>
          </p:cNvPr>
          <p:cNvSpPr txBox="1">
            <a:spLocks/>
          </p:cNvSpPr>
          <p:nvPr/>
        </p:nvSpPr>
        <p:spPr>
          <a:xfrm>
            <a:off x="764758" y="5275659"/>
            <a:ext cx="7022183" cy="1775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returns</a:t>
            </a:r>
            <a:r>
              <a:rPr lang="zh-CN" altLang="en-US" dirty="0"/>
              <a:t>和</a:t>
            </a:r>
            <a:r>
              <a:rPr lang="en-US" altLang="zh-CN" dirty="0"/>
              <a:t>advantages</a:t>
            </a:r>
            <a:r>
              <a:rPr lang="zh-CN" altLang="en-US" dirty="0"/>
              <a:t>通过计算得到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advantages</a:t>
            </a:r>
            <a:r>
              <a:rPr lang="zh-CN" altLang="en-US" dirty="0"/>
              <a:t>通过广义优势估计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returns = advantages + values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968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1B217-DC2F-6E10-8616-880F1571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62"/>
            <a:ext cx="10515600" cy="1325563"/>
          </a:xfrm>
        </p:spPr>
        <p:txBody>
          <a:bodyPr/>
          <a:lstStyle/>
          <a:p>
            <a:r>
              <a:rPr lang="en-US" altLang="zh-CN" dirty="0"/>
              <a:t>advantages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4D9E24-D48E-7CFB-EE5A-87A523B32FA5}"/>
              </a:ext>
            </a:extLst>
          </p:cNvPr>
          <p:cNvSpPr txBox="1"/>
          <p:nvPr/>
        </p:nvSpPr>
        <p:spPr>
          <a:xfrm>
            <a:off x="398283" y="1181638"/>
            <a:ext cx="1222420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compute_returns_and_advantage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(self, last_values: th.Tensor, dones: np.ndarray)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-&gt;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600" b="0" dirty="0">
                <a:solidFill>
                  <a:srgbClr val="A0A1A7"/>
                </a:solidFill>
                <a:effectLst/>
                <a:latin typeface="inherit"/>
              </a:rPr>
              <a:t># </a:t>
            </a:r>
            <a:r>
              <a:rPr lang="zh-CN" altLang="en-US" sz="1600" b="0" dirty="0">
                <a:solidFill>
                  <a:srgbClr val="A0A1A7"/>
                </a:solidFill>
                <a:effectLst/>
                <a:latin typeface="inherit"/>
              </a:rPr>
              <a:t>将最后一步的价值估计转为</a:t>
            </a:r>
            <a:r>
              <a:rPr lang="en-US" altLang="zh-CN" sz="1600" b="0" dirty="0">
                <a:solidFill>
                  <a:srgbClr val="A0A1A7"/>
                </a:solidFill>
                <a:effectLst/>
                <a:latin typeface="inherit"/>
              </a:rPr>
              <a:t>numpy</a:t>
            </a:r>
            <a:r>
              <a:rPr lang="zh-CN" altLang="en-US" sz="1600" dirty="0">
                <a:solidFill>
                  <a:srgbClr val="A0A1A7"/>
                </a:solidFill>
                <a:latin typeface="inherit"/>
              </a:rPr>
              <a:t> </a:t>
            </a:r>
            <a:r>
              <a:rPr lang="zh-CN" altLang="en-US" sz="1600" b="0" dirty="0">
                <a:solidFill>
                  <a:srgbClr val="A0A1A7"/>
                </a:solidFill>
                <a:effectLst/>
                <a:latin typeface="inherit"/>
              </a:rPr>
              <a:t>用于</a:t>
            </a:r>
            <a:r>
              <a:rPr lang="en-US" altLang="zh-CN" sz="1600" b="0" dirty="0">
                <a:solidFill>
                  <a:srgbClr val="A0A1A7"/>
                </a:solidFill>
                <a:effectLst/>
                <a:latin typeface="inherit"/>
              </a:rPr>
              <a:t>bootstrapping</a:t>
            </a:r>
            <a:endParaRPr lang="en-US" altLang="zh-CN" sz="1600" b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last_values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last_values.clone().cpu().numpy().flatten()</a:t>
            </a: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last_gae_lam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</a:t>
            </a:r>
            <a:endParaRPr lang="zh-CN" altLang="en-US" sz="16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6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step </a:t>
            </a:r>
            <a:r>
              <a:rPr lang="en-US" altLang="zh-CN" sz="16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reversed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16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range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(self.buffer_size)):</a:t>
            </a:r>
            <a:endParaRPr lang="zh-CN" altLang="en-US" sz="16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16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step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==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self.buffer_size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-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next_non_terminal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1.0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dones.astype(np.float32)</a:t>
            </a: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next_values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last_values</a:t>
            </a: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16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  <a:endParaRPr lang="zh-CN" altLang="en-US" sz="16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next_non_terminal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=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1.0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-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self.episode_starts[step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+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]</a:t>
            </a: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next_values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self.values[step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6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]</a:t>
            </a:r>
            <a:endParaRPr lang="zh-CN" altLang="en-US" sz="16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delta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(</a:t>
            </a: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self.rewards[step]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1600" b="0" dirty="0">
                <a:solidFill>
                  <a:srgbClr val="A0A1A7"/>
                </a:solidFill>
                <a:effectLst/>
                <a:latin typeface="inherit"/>
              </a:rPr>
              <a:t># r_t</a:t>
            </a:r>
            <a:endParaRPr lang="en-US" altLang="zh-CN" sz="1600" b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self.gamma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next_values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next_non_terminal </a:t>
            </a:r>
            <a:r>
              <a:rPr lang="en-US" altLang="zh-CN" sz="1600" b="0" i="1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sz="1600" b="0" i="1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1600" b="0" i="1" dirty="0">
                <a:solidFill>
                  <a:srgbClr val="A0A1A7"/>
                </a:solidFill>
                <a:effectLst/>
                <a:latin typeface="inherit"/>
              </a:rPr>
              <a:t># </a:t>
            </a:r>
            <a:r>
              <a:rPr lang="el-GR" altLang="zh-CN" sz="1600" b="0" i="1" dirty="0">
                <a:solidFill>
                  <a:srgbClr val="A0A1A7"/>
                </a:solidFill>
                <a:effectLst/>
                <a:latin typeface="inherit"/>
              </a:rPr>
              <a:t>γ * </a:t>
            </a:r>
            <a:r>
              <a:rPr lang="en-US" altLang="zh-CN" sz="1600" b="0" i="1" dirty="0">
                <a:solidFill>
                  <a:srgbClr val="A0A1A7"/>
                </a:solidFill>
                <a:effectLst/>
                <a:latin typeface="inherit"/>
              </a:rPr>
              <a:t>V(s_{t+1}) * (1-done)</a:t>
            </a:r>
            <a:endParaRPr lang="en-US" altLang="zh-CN" sz="1600" b="0" i="1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self.values[step]  </a:t>
            </a:r>
            <a:r>
              <a:rPr lang="en-US" altLang="zh-CN" sz="1600" b="0" dirty="0">
                <a:solidFill>
                  <a:srgbClr val="A0A1A7"/>
                </a:solidFill>
                <a:effectLst/>
                <a:latin typeface="inherit"/>
              </a:rPr>
              <a:t># V(s_t)</a:t>
            </a:r>
            <a:endParaRPr lang="en-US" altLang="zh-CN" sz="1600" b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)</a:t>
            </a:r>
            <a:endParaRPr lang="zh-CN" altLang="en-US" sz="16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last_gae_lam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(</a:t>
            </a: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delta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1600" b="0" i="1" dirty="0">
                <a:solidFill>
                  <a:srgbClr val="A0A1A7"/>
                </a:solidFill>
                <a:effectLst/>
                <a:latin typeface="inherit"/>
              </a:rPr>
              <a:t># </a:t>
            </a:r>
            <a:r>
              <a:rPr lang="el-GR" altLang="zh-CN" sz="1600" b="0" i="1" dirty="0">
                <a:solidFill>
                  <a:srgbClr val="A0A1A7"/>
                </a:solidFill>
                <a:effectLst/>
                <a:latin typeface="inherit"/>
              </a:rPr>
              <a:t>δ_</a:t>
            </a:r>
            <a:r>
              <a:rPr lang="en-US" altLang="zh-CN" sz="1600" b="0" i="1" dirty="0">
                <a:solidFill>
                  <a:srgbClr val="A0A1A7"/>
                </a:solidFill>
                <a:effectLst/>
                <a:latin typeface="inherit"/>
              </a:rPr>
              <a:t>t</a:t>
            </a:r>
            <a:endParaRPr lang="en-US" altLang="zh-CN" sz="16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self.gamma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self.gae_lambda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next_non_terminal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last_gae_lam  </a:t>
            </a:r>
            <a:r>
              <a:rPr lang="en-US" altLang="zh-CN" sz="1600" b="0" i="1" dirty="0">
                <a:solidFill>
                  <a:srgbClr val="A0A1A7"/>
                </a:solidFill>
                <a:effectLst/>
                <a:latin typeface="inherit"/>
              </a:rPr>
              <a:t># </a:t>
            </a:r>
            <a:r>
              <a:rPr lang="el-GR" altLang="zh-CN" sz="1600" b="0" i="1" dirty="0">
                <a:solidFill>
                  <a:srgbClr val="A0A1A7"/>
                </a:solidFill>
                <a:effectLst/>
                <a:latin typeface="inherit"/>
              </a:rPr>
              <a:t>γλ * </a:t>
            </a:r>
            <a:r>
              <a:rPr lang="en-US" altLang="zh-CN" sz="1600" b="0" i="1" dirty="0">
                <a:solidFill>
                  <a:srgbClr val="A0A1A7"/>
                </a:solidFill>
                <a:effectLst/>
                <a:latin typeface="inherit"/>
              </a:rPr>
              <a:t>A_{t+1}</a:t>
            </a:r>
            <a:endParaRPr lang="en-US" altLang="zh-CN" sz="16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)</a:t>
            </a:r>
          </a:p>
          <a:p>
            <a:pPr algn="l" rtl="0" fontAlgn="base" latinLnBrk="0">
              <a:buNone/>
            </a:pP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self.advantages[step]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last_gae_lam</a:t>
            </a:r>
            <a:endParaRPr lang="zh-CN" altLang="en-US" sz="16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self.returns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self.advantages </a:t>
            </a:r>
            <a:r>
              <a:rPr lang="en-US" altLang="zh-CN" sz="16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sz="16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self.values</a:t>
            </a:r>
          </a:p>
        </p:txBody>
      </p:sp>
    </p:spTree>
    <p:extLst>
      <p:ext uri="{BB962C8B-B14F-4D97-AF65-F5344CB8AC3E}">
        <p14:creationId xmlns:p14="http://schemas.microsoft.com/office/powerpoint/2010/main" val="183444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3F05C-0A07-9CEB-193E-B1D6272D1C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71859"/>
                <a:ext cx="10515600" cy="4666269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dones</a:t>
                </a:r>
                <a:r>
                  <a:rPr lang="zh-CN" altLang="en-US" dirty="0"/>
                  <a:t>识别的是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buffer</a:t>
                </a:r>
                <a:r>
                  <a:rPr lang="zh-CN" altLang="en-US" dirty="0"/>
                  <a:t>结束之后环境是否继续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如果环境继续，用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计算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如果环境终止，即</a:t>
                </a:r>
                <a:r>
                  <a:rPr lang="en-US" altLang="zh-CN" dirty="0"/>
                  <a:t>buffer</a:t>
                </a:r>
                <a:r>
                  <a:rPr lang="zh-CN" altLang="en-US" dirty="0"/>
                  <a:t>后的下一状态不存在</a:t>
                </a:r>
                <a:r>
                  <a:rPr lang="en-US" altLang="zh-CN" dirty="0"/>
                  <a:t>	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用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计算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r>
                  <a:rPr lang="en-US" altLang="zh-CN" dirty="0"/>
                  <a:t>done</a:t>
                </a:r>
                <a:r>
                  <a:rPr lang="zh-CN" altLang="en-US" dirty="0"/>
                  <a:t>只作用于最后一步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反向计算的起始步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dirty="0">
                    <a:solidFill>
                      <a:srgbClr val="383A42"/>
                    </a:solidFill>
                    <a:highlight>
                      <a:srgbClr val="FFFF00"/>
                    </a:highlight>
                    <a:latin typeface="Fira Code" panose="020B0809050000020004" pitchFamily="49" charset="0"/>
                  </a:rPr>
                  <a:t>self.buffer_size </a:t>
                </a:r>
                <a:r>
                  <a:rPr lang="en-US" altLang="zh-CN" dirty="0">
                    <a:solidFill>
                      <a:srgbClr val="4078F2"/>
                    </a:solidFill>
                    <a:highlight>
                      <a:srgbClr val="FFFF00"/>
                    </a:highlight>
                    <a:latin typeface="Fira Code" panose="020B0809050000020004" pitchFamily="49" charset="0"/>
                  </a:rPr>
                  <a:t>-</a:t>
                </a:r>
                <a:r>
                  <a:rPr lang="en-US" altLang="zh-CN" dirty="0">
                    <a:solidFill>
                      <a:srgbClr val="383A42"/>
                    </a:solidFill>
                    <a:highlight>
                      <a:srgbClr val="FFFF00"/>
                    </a:highlight>
                    <a:latin typeface="Fira Code" panose="020B0809050000020004" pitchFamily="49" charset="0"/>
                  </a:rPr>
                  <a:t> </a:t>
                </a:r>
                <a:r>
                  <a:rPr lang="en-US" altLang="zh-CN" dirty="0">
                    <a:solidFill>
                      <a:srgbClr val="B76B01"/>
                    </a:solidFill>
                    <a:highlight>
                      <a:srgbClr val="FFFF00"/>
                    </a:highlight>
                    <a:latin typeface="Fira Code" panose="020B0809050000020004" pitchFamily="49" charset="0"/>
                  </a:rPr>
                  <a:t>1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3F05C-0A07-9CEB-193E-B1D6272D1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71859"/>
                <a:ext cx="10515600" cy="4666269"/>
              </a:xfrm>
              <a:blipFill>
                <a:blip r:embed="rId2"/>
                <a:stretch>
                  <a:fillRect l="-1043" t="-2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65C26F5D-48E9-15AF-E24C-B691E86D3405}"/>
              </a:ext>
            </a:extLst>
          </p:cNvPr>
          <p:cNvSpPr txBox="1"/>
          <p:nvPr/>
        </p:nvSpPr>
        <p:spPr>
          <a:xfrm>
            <a:off x="747074" y="174298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step </a:t>
            </a: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reversed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18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range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(self.buffer_size)):</a:t>
            </a:r>
            <a:endParaRPr lang="zh-CN" altLang="en-US" sz="18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step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==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self.buffer_size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-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next_non_terminal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1.0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dones.astype(np.float32)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next_values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last_values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  <a:endParaRPr lang="zh-CN" altLang="en-US" sz="18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next_non_terminal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1.0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-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self.episode_starts[step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+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]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next_values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self.values[step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]</a:t>
            </a:r>
            <a:endParaRPr lang="zh-CN" altLang="en-US" sz="18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39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7BEA-E702-27B2-3AB9-B3DE27D26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7ED705-B57F-EED9-108A-CB9AA4721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1859"/>
            <a:ext cx="10515600" cy="4666269"/>
          </a:xfrm>
        </p:spPr>
        <p:txBody>
          <a:bodyPr>
            <a:normAutofit/>
          </a:bodyPr>
          <a:lstStyle/>
          <a:p>
            <a:r>
              <a:rPr lang="en-US" altLang="zh-CN" dirty="0"/>
              <a:t>buffer</a:t>
            </a:r>
            <a:r>
              <a:rPr lang="zh-CN" altLang="en-US" dirty="0"/>
              <a:t>内部的信号不由</a:t>
            </a:r>
            <a:r>
              <a:rPr lang="en-US" altLang="zh-CN" dirty="0"/>
              <a:t>dones</a:t>
            </a:r>
            <a:r>
              <a:rPr lang="zh-CN" altLang="en-US" dirty="0"/>
              <a:t>识别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由</a:t>
            </a:r>
            <a:r>
              <a:rPr lang="en-US" altLang="zh-CN" dirty="0">
                <a:solidFill>
                  <a:srgbClr val="B76B01"/>
                </a:solidFill>
                <a:latin typeface="Fira Code" panose="020B0809050000020004" pitchFamily="49" charset="0"/>
              </a:rPr>
              <a:t>episode_starts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识别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step 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不等于 </a:t>
            </a: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self.buffer_size </a:t>
            </a:r>
            <a:r>
              <a:rPr lang="en-US" altLang="zh-CN" dirty="0">
                <a:solidFill>
                  <a:srgbClr val="4078F2"/>
                </a:solidFill>
                <a:latin typeface="Fira Code" panose="020B0809050000020004" pitchFamily="49" charset="0"/>
              </a:rPr>
              <a:t>–</a:t>
            </a: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 </a:t>
            </a:r>
            <a:r>
              <a:rPr lang="en-US" altLang="zh-CN" dirty="0">
                <a:solidFill>
                  <a:srgbClr val="B76B01"/>
                </a:solidFill>
                <a:latin typeface="Fira Code" panose="020B0809050000020004" pitchFamily="49" charset="0"/>
              </a:rPr>
              <a:t>1 </a:t>
            </a:r>
            <a:r>
              <a:rPr lang="zh-CN" altLang="en-US" dirty="0">
                <a:latin typeface="Fira Code" panose="020B0809050000020004" pitchFamily="49" charset="0"/>
              </a:rPr>
              <a:t>的时候</a:t>
            </a:r>
            <a:endParaRPr lang="en-US" altLang="zh-CN" dirty="0"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B76B01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latin typeface="Fira Code" panose="020B0809050000020004" pitchFamily="49" charset="0"/>
              </a:rPr>
              <a:t>我们用</a:t>
            </a:r>
            <a:r>
              <a:rPr lang="en-US" altLang="zh-CN" dirty="0">
                <a:solidFill>
                  <a:srgbClr val="B76B01"/>
                </a:solidFill>
                <a:latin typeface="Fira Code" panose="020B0809050000020004" pitchFamily="49" charset="0"/>
              </a:rPr>
              <a:t>episode_starts</a:t>
            </a:r>
            <a:r>
              <a:rPr lang="zh-CN" altLang="en-US" dirty="0">
                <a:latin typeface="Fira Code" panose="020B0809050000020004" pitchFamily="49" charset="0"/>
              </a:rPr>
              <a:t>识别是否为完整</a:t>
            </a:r>
            <a:r>
              <a:rPr lang="en-US" altLang="zh-CN" dirty="0">
                <a:latin typeface="Fira Code" panose="020B0809050000020004" pitchFamily="49" charset="0"/>
              </a:rPr>
              <a:t>episode</a:t>
            </a:r>
          </a:p>
          <a:p>
            <a:r>
              <a:rPr lang="zh-CN" altLang="en-US" dirty="0">
                <a:latin typeface="Fira Code" panose="020B0809050000020004" pitchFamily="49" charset="0"/>
              </a:rPr>
              <a:t>广义优势估计</a:t>
            </a:r>
            <a:r>
              <a:rPr lang="en-US" altLang="zh-CN" dirty="0">
                <a:latin typeface="Fira Code" panose="020B0809050000020004" pitchFamily="49" charset="0"/>
              </a:rPr>
              <a:t>GAE</a:t>
            </a:r>
          </a:p>
          <a:p>
            <a:pPr marL="0" indent="0">
              <a:buNone/>
            </a:pPr>
            <a:r>
              <a:rPr lang="en-US" altLang="zh-CN" dirty="0">
                <a:latin typeface="Fira Code" panose="020B0809050000020004" pitchFamily="49" charset="0"/>
              </a:rPr>
              <a:t>	</a:t>
            </a:r>
            <a:r>
              <a:rPr lang="zh-CN" altLang="en-US" dirty="0">
                <a:latin typeface="Fira Code" panose="020B0809050000020004" pitchFamily="49" charset="0"/>
              </a:rPr>
              <a:t>作用于</a:t>
            </a:r>
            <a:r>
              <a:rPr lang="zh-CN" altLang="en-US" b="1" dirty="0">
                <a:solidFill>
                  <a:srgbClr val="00B0F0"/>
                </a:solidFill>
                <a:latin typeface="Fira Code" panose="020B0809050000020004" pitchFamily="49" charset="0"/>
              </a:rPr>
              <a:t>单条</a:t>
            </a:r>
            <a:r>
              <a:rPr lang="zh-CN" altLang="en-US" dirty="0">
                <a:latin typeface="Fira Code" panose="020B0809050000020004" pitchFamily="49" charset="0"/>
              </a:rPr>
              <a:t>完整的</a:t>
            </a:r>
            <a:r>
              <a:rPr lang="en-US" altLang="zh-CN" dirty="0">
                <a:latin typeface="Fira Code" panose="020B0809050000020004" pitchFamily="49" charset="0"/>
              </a:rPr>
              <a:t>episode</a:t>
            </a:r>
          </a:p>
          <a:p>
            <a:pPr marL="0" indent="0">
              <a:buNone/>
            </a:pPr>
            <a:r>
              <a:rPr lang="en-US" altLang="zh-CN" dirty="0">
                <a:latin typeface="Fira Code" panose="020B0809050000020004" pitchFamily="49" charset="0"/>
              </a:rPr>
              <a:t>	episode</a:t>
            </a:r>
            <a:r>
              <a:rPr lang="zh-CN" altLang="en-US" dirty="0">
                <a:latin typeface="Fira Code" panose="020B0809050000020004" pitchFamily="49" charset="0"/>
              </a:rPr>
              <a:t>内部无需</a:t>
            </a:r>
            <a:r>
              <a:rPr lang="en-US" altLang="zh-CN" dirty="0">
                <a:latin typeface="Fira Code" panose="020B0809050000020004" pitchFamily="49" charset="0"/>
              </a:rPr>
              <a:t>mask</a:t>
            </a:r>
          </a:p>
          <a:p>
            <a:r>
              <a:rPr lang="en-US" altLang="zh-CN" dirty="0">
                <a:latin typeface="Fira Code" panose="020B0809050000020004" pitchFamily="49" charset="0"/>
              </a:rPr>
              <a:t>buffer</a:t>
            </a:r>
            <a:r>
              <a:rPr lang="zh-CN" altLang="en-US" dirty="0">
                <a:latin typeface="Fira Code" panose="020B0809050000020004" pitchFamily="49" charset="0"/>
              </a:rPr>
              <a:t>可能是多条</a:t>
            </a:r>
            <a:r>
              <a:rPr lang="en-US" altLang="zh-CN" dirty="0">
                <a:latin typeface="Fira Code" panose="020B0809050000020004" pitchFamily="49" charset="0"/>
              </a:rPr>
              <a:t>episode</a:t>
            </a:r>
            <a:r>
              <a:rPr lang="zh-CN" altLang="en-US" dirty="0">
                <a:latin typeface="Fira Code" panose="020B0809050000020004" pitchFamily="49" charset="0"/>
              </a:rPr>
              <a:t>的拼接</a:t>
            </a:r>
            <a:endParaRPr lang="en-US" altLang="zh-CN" dirty="0"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latin typeface="Fira Code" panose="020B0809050000020004" pitchFamily="49" charset="0"/>
              </a:rPr>
              <a:t>	</a:t>
            </a:r>
            <a:r>
              <a:rPr lang="zh-CN" altLang="en-US" dirty="0">
                <a:latin typeface="Fira Code" panose="020B0809050000020004" pitchFamily="49" charset="0"/>
              </a:rPr>
              <a:t>需要阻止优势迭代时跨越</a:t>
            </a:r>
            <a:r>
              <a:rPr lang="en-US" altLang="zh-CN" dirty="0">
                <a:latin typeface="Fira Code" panose="020B0809050000020004" pitchFamily="49" charset="0"/>
              </a:rPr>
              <a:t>episode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E82C1A-1627-E58A-3BED-057DF9D41F7A}"/>
              </a:ext>
            </a:extLst>
          </p:cNvPr>
          <p:cNvSpPr txBox="1"/>
          <p:nvPr/>
        </p:nvSpPr>
        <p:spPr>
          <a:xfrm>
            <a:off x="747074" y="174298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step </a:t>
            </a: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reversed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18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range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(self.buffer_size)):</a:t>
            </a:r>
            <a:endParaRPr lang="zh-CN" altLang="en-US" sz="18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step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==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self.buffer_size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-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next_non_terminal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1.0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dones.astype(np.float32)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next_values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last_values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  <a:endParaRPr lang="zh-CN" altLang="en-US" sz="18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next_non_terminal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1.0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-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self.episode_starts[step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+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]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next_values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self.values[step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]</a:t>
            </a:r>
            <a:endParaRPr lang="zh-CN" altLang="en-US" sz="18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27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94DC5-C6CB-4FA9-1961-F9016CF2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E5A96-DB58-14A1-E3F9-402D81D09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71859"/>
            <a:ext cx="10945305" cy="466626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Fira Code" panose="020B0809050000020004" pitchFamily="49" charset="0"/>
              </a:rPr>
              <a:t>episode_starts</a:t>
            </a:r>
          </a:p>
          <a:p>
            <a:pPr marL="0" indent="0">
              <a:buNone/>
            </a:pPr>
            <a:r>
              <a:rPr lang="en-US" altLang="zh-CN" dirty="0">
                <a:latin typeface="Fira Code" panose="020B0809050000020004" pitchFamily="49" charset="0"/>
              </a:rPr>
              <a:t>	</a:t>
            </a:r>
            <a:r>
              <a:rPr lang="zh-CN" altLang="en-US" dirty="0"/>
              <a:t>识别</a:t>
            </a:r>
            <a:r>
              <a:rPr lang="en-US" altLang="zh-CN" dirty="0"/>
              <a:t>buffer</a:t>
            </a:r>
            <a:r>
              <a:rPr lang="zh-CN" altLang="en-US" dirty="0"/>
              <a:t>内部任意步</a:t>
            </a:r>
            <a:r>
              <a:rPr lang="en-US" altLang="zh-CN" dirty="0"/>
              <a:t>t</a:t>
            </a:r>
            <a:r>
              <a:rPr lang="zh-CN" altLang="en-US" dirty="0"/>
              <a:t>的下一时刻</a:t>
            </a:r>
            <a:r>
              <a:rPr lang="en-US" altLang="zh-CN" dirty="0"/>
              <a:t>t+1</a:t>
            </a:r>
            <a:r>
              <a:rPr lang="zh-CN" altLang="en-US" dirty="0"/>
              <a:t>是否开启新</a:t>
            </a:r>
            <a:r>
              <a:rPr lang="en-US" altLang="zh-CN" dirty="0"/>
              <a:t>episode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查询的是</a:t>
            </a:r>
            <a:r>
              <a:rPr lang="en-US" altLang="zh-CN" dirty="0">
                <a:solidFill>
                  <a:srgbClr val="383A42"/>
                </a:solidFill>
                <a:highlight>
                  <a:srgbClr val="FFFF00"/>
                </a:highlight>
                <a:latin typeface="Fira Code" panose="020B0809050000020004" pitchFamily="49" charset="0"/>
              </a:rPr>
              <a:t>episode_starts[step </a:t>
            </a:r>
            <a:r>
              <a:rPr lang="en-US" altLang="zh-CN" dirty="0">
                <a:solidFill>
                  <a:srgbClr val="4078F2"/>
                </a:solidFill>
                <a:highlight>
                  <a:srgbClr val="FFFF00"/>
                </a:highlight>
                <a:latin typeface="Fira Code" panose="020B0809050000020004" pitchFamily="49" charset="0"/>
              </a:rPr>
              <a:t>+</a:t>
            </a:r>
            <a:r>
              <a:rPr lang="en-US" altLang="zh-CN" dirty="0">
                <a:solidFill>
                  <a:srgbClr val="383A42"/>
                </a:solidFill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dirty="0">
                <a:solidFill>
                  <a:srgbClr val="B76B01"/>
                </a:solidFill>
                <a:highlight>
                  <a:srgbClr val="FFFF00"/>
                </a:highlight>
                <a:latin typeface="Fira Code" panose="020B0809050000020004" pitchFamily="49" charset="0"/>
              </a:rPr>
              <a:t>1</a:t>
            </a:r>
            <a:r>
              <a:rPr lang="en-US" altLang="zh-CN" dirty="0">
                <a:solidFill>
                  <a:srgbClr val="383A42"/>
                </a:solidFill>
                <a:highlight>
                  <a:srgbClr val="FFFF00"/>
                </a:highlight>
                <a:latin typeface="Fira Code" panose="020B0809050000020004" pitchFamily="49" charset="0"/>
              </a:rPr>
              <a:t>]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episode_starts[t</a:t>
            </a:r>
            <a:r>
              <a:rPr lang="en-US" altLang="zh-CN" dirty="0">
                <a:solidFill>
                  <a:srgbClr val="4078F2"/>
                </a:solidFill>
                <a:latin typeface="Fira Code" panose="020B0809050000020004" pitchFamily="49" charset="0"/>
              </a:rPr>
              <a:t>+</a:t>
            </a:r>
            <a:r>
              <a:rPr lang="en-US" altLang="zh-CN" dirty="0">
                <a:solidFill>
                  <a:srgbClr val="B76B01"/>
                </a:solidFill>
                <a:latin typeface="Fira Code" panose="020B0809050000020004" pitchFamily="49" charset="0"/>
              </a:rPr>
              <a:t>1</a:t>
            </a: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]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为</a:t>
            </a: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1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表示</a:t>
            </a: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t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的下一个时间步是一个新</a:t>
            </a: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episode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的开始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此时</a:t>
            </a:r>
            <a:r>
              <a:rPr lang="en-US" altLang="zh-CN" dirty="0">
                <a:solidFill>
                  <a:srgbClr val="383A42"/>
                </a:solidFill>
                <a:highlight>
                  <a:srgbClr val="FFFF00"/>
                </a:highlight>
                <a:latin typeface="Fira Code" panose="020B0809050000020004" pitchFamily="49" charset="0"/>
              </a:rPr>
              <a:t>next_non_terminal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为</a:t>
            </a: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0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阻断了优势和价值估计的反向传播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	</a:t>
            </a:r>
          </a:p>
          <a:p>
            <a:pPr marL="0" indent="0">
              <a:buNone/>
            </a:pPr>
            <a:r>
              <a:rPr lang="en-US" altLang="zh-CN" dirty="0">
                <a:latin typeface="Fira Code" panose="020B0809050000020004" pitchFamily="49" charset="0"/>
              </a:rPr>
              <a:t>	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936BC4-A2E7-54F2-BC6C-53278BAE5372}"/>
              </a:ext>
            </a:extLst>
          </p:cNvPr>
          <p:cNvSpPr txBox="1"/>
          <p:nvPr/>
        </p:nvSpPr>
        <p:spPr>
          <a:xfrm>
            <a:off x="747074" y="174298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step </a:t>
            </a: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reversed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18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range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(self.buffer_size)):</a:t>
            </a:r>
            <a:endParaRPr lang="zh-CN" altLang="en-US" sz="18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step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==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self.buffer_size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-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next_non_terminal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1.0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dones.astype(np.float32)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next_values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last_values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1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  <a:endParaRPr lang="zh-CN" altLang="en-US" sz="18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next_non_terminal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1.0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-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self.episode_starts[step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+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1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Fira Code" panose="020B0809050000020004" pitchFamily="49" charset="0"/>
              </a:rPr>
              <a:t>]</a:t>
            </a:r>
          </a:p>
          <a:p>
            <a:pPr algn="l" rtl="0" fontAlgn="base" latinLnBrk="0">
              <a:buNone/>
            </a:pP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next_values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self.values[step </a:t>
            </a:r>
            <a:r>
              <a:rPr lang="en-US" altLang="zh-CN" sz="1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8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sz="1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]</a:t>
            </a:r>
            <a:endParaRPr lang="zh-CN" altLang="en-US" sz="18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1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86BE6-1990-7711-8038-E9480ECF0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18" y="458538"/>
            <a:ext cx="4148579" cy="559356"/>
          </a:xfrm>
        </p:spPr>
        <p:txBody>
          <a:bodyPr/>
          <a:lstStyle/>
          <a:p>
            <a:r>
              <a:rPr lang="en-US" altLang="zh-CN" dirty="0"/>
              <a:t>buffer_size=3, n_envs=2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907356C9-B559-D487-1B7E-564CECC5C0ED}"/>
              </a:ext>
            </a:extLst>
          </p:cNvPr>
          <p:cNvSpPr txBox="1">
            <a:spLocks/>
          </p:cNvSpPr>
          <p:nvPr/>
        </p:nvSpPr>
        <p:spPr>
          <a:xfrm>
            <a:off x="762785" y="2995532"/>
            <a:ext cx="10052901" cy="3862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dirty="0"/>
              <a:t>episode_starts[t+1] == dones[t]</a:t>
            </a:r>
          </a:p>
          <a:p>
            <a:pPr marL="0" indent="0">
              <a:buNone/>
            </a:pPr>
            <a:r>
              <a:rPr lang="fr-FR" altLang="zh-CN" dirty="0"/>
              <a:t>	</a:t>
            </a:r>
            <a:r>
              <a:rPr lang="zh-CN" altLang="en-US" dirty="0"/>
              <a:t>在简单的测试环境里是普遍成立的</a:t>
            </a:r>
            <a:endParaRPr lang="fr-FR" altLang="zh-CN" dirty="0"/>
          </a:p>
          <a:p>
            <a:r>
              <a:rPr lang="zh-CN" altLang="en-US" dirty="0"/>
              <a:t>符合直觉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当一个</a:t>
            </a:r>
            <a:r>
              <a:rPr lang="en-US" altLang="zh-CN" dirty="0"/>
              <a:t>episode</a:t>
            </a:r>
            <a:r>
              <a:rPr lang="zh-CN" altLang="en-US" dirty="0"/>
              <a:t>结束时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下一个时间步应该是新</a:t>
            </a:r>
            <a:r>
              <a:rPr lang="en-US" altLang="zh-CN" dirty="0"/>
              <a:t>episode</a:t>
            </a:r>
            <a:r>
              <a:rPr lang="zh-CN" altLang="en-US" dirty="0"/>
              <a:t>的开始</a:t>
            </a:r>
            <a:endParaRPr lang="en-US" altLang="zh-CN" dirty="0"/>
          </a:p>
          <a:p>
            <a:r>
              <a:rPr lang="zh-CN" altLang="en-US" dirty="0"/>
              <a:t>代码证明这一点 只需看字段是如何产生的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stable_baselines3/common/on_policy_algorithm.py</a:t>
            </a:r>
            <a:endParaRPr lang="fr-FR" altLang="zh-CN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211DB93-7C13-27F2-F200-6C2830F78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125133"/>
            <a:ext cx="3367628" cy="187039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3EAE4B5-0F9C-C11F-DBC8-7D0BA0986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373" y="1120901"/>
            <a:ext cx="4424314" cy="187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4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439B20-4FFB-FD64-EF04-6A8B9C3C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episode_starts[t+1] == dones[t]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FCC8AE-FA22-6B54-26FF-F1758791D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355"/>
            <a:ext cx="10515600" cy="2067645"/>
          </a:xfrm>
        </p:spPr>
        <p:txBody>
          <a:bodyPr>
            <a:normAutofit/>
          </a:bodyPr>
          <a:lstStyle/>
          <a:p>
            <a:r>
              <a:rPr lang="zh-CN" altLang="en-US" dirty="0"/>
              <a:t>从数学的角度来看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fr-FR" altLang="zh-CN" dirty="0"/>
              <a:t>episode_starts</a:t>
            </a:r>
            <a:r>
              <a:rPr lang="zh-CN" altLang="en-US" dirty="0"/>
              <a:t>和</a:t>
            </a:r>
            <a:r>
              <a:rPr lang="en-US" altLang="zh-CN" dirty="0"/>
              <a:t>dones</a:t>
            </a:r>
            <a:r>
              <a:rPr lang="zh-CN" altLang="en-US" dirty="0"/>
              <a:t>是一一对应的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所以 理论上来说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只用</a:t>
            </a:r>
            <a:r>
              <a:rPr lang="en-US" altLang="zh-CN" dirty="0"/>
              <a:t>dones</a:t>
            </a:r>
            <a:r>
              <a:rPr lang="zh-CN" altLang="en-US" dirty="0"/>
              <a:t>不用</a:t>
            </a:r>
            <a:r>
              <a:rPr lang="fr-FR" altLang="zh-CN" dirty="0"/>
              <a:t>episode_starts</a:t>
            </a:r>
            <a:r>
              <a:rPr lang="zh-CN" altLang="en-US" dirty="0"/>
              <a:t>也能实现</a:t>
            </a:r>
            <a:r>
              <a:rPr lang="en-US" altLang="zh-CN" dirty="0"/>
              <a:t>GAE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D314D4-D037-2BA0-4B76-126CC2009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51" y="3429000"/>
            <a:ext cx="5018144" cy="33365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587E1ED-1C5E-B5EB-254A-DF0A8DDF64B7}"/>
              </a:ext>
            </a:extLst>
          </p:cNvPr>
          <p:cNvSpPr txBox="1"/>
          <p:nvPr/>
        </p:nvSpPr>
        <p:spPr>
          <a:xfrm>
            <a:off x="5752708" y="3429000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labmlai/annotated_deep_learning_paper_implementations: </a:t>
            </a:r>
            <a:r>
              <a:rPr lang="zh-CN" altLang="en-US" dirty="0">
                <a:hlinkClick r:id="rId3"/>
              </a:rPr>
              <a:t>🧑‍🏫 </a:t>
            </a:r>
            <a:r>
              <a:rPr lang="en-US" altLang="zh-CN" dirty="0">
                <a:hlinkClick r:id="rId3"/>
              </a:rPr>
              <a:t>60+ Implementations/tutorials of deep learning papers with side-by-side notes </a:t>
            </a:r>
            <a:r>
              <a:rPr lang="zh-CN" altLang="en-US" dirty="0">
                <a:hlinkClick r:id="rId3"/>
              </a:rPr>
              <a:t>📝</a:t>
            </a:r>
            <a:r>
              <a:rPr lang="en-US" altLang="zh-CN" dirty="0">
                <a:hlinkClick r:id="rId3"/>
              </a:rPr>
              <a:t>; including transformers (original, xl, switch, feedback, vit, ...), optimizers (adam, adabelief, sophia, ...), gans(cyclegan, stylegan2, ...), </a:t>
            </a:r>
            <a:r>
              <a:rPr lang="zh-CN" altLang="en-US" dirty="0">
                <a:hlinkClick r:id="rId3"/>
              </a:rPr>
              <a:t>🎮 </a:t>
            </a:r>
            <a:r>
              <a:rPr lang="en-US" altLang="zh-CN" dirty="0">
                <a:hlinkClick r:id="rId3"/>
              </a:rPr>
              <a:t>reinforcement learning (ppo, dqn), capsnet, distillation, ... </a:t>
            </a:r>
            <a:r>
              <a:rPr lang="zh-CN" altLang="en-US" dirty="0">
                <a:hlinkClick r:id="rId3"/>
              </a:rPr>
              <a:t>🧠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9F441B-932A-D492-4371-0C26F5984095}"/>
              </a:ext>
            </a:extLst>
          </p:cNvPr>
          <p:cNvSpPr txBox="1"/>
          <p:nvPr/>
        </p:nvSpPr>
        <p:spPr>
          <a:xfrm>
            <a:off x="5752708" y="5460325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4"/>
              </a:rPr>
              <a:t>annotated_deep_learning_paper_implementations/labml_nn/rl/ppo/gae.py at master · labmlai/annotated_deep_learning_paper_implementations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59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C5FDC-6B90-FECD-D38C-18B6811A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8DFD53-FC07-58AA-A752-07DC158065C4}"/>
              </a:ext>
            </a:extLst>
          </p:cNvPr>
          <p:cNvSpPr txBox="1"/>
          <p:nvPr/>
        </p:nvSpPr>
        <p:spPr>
          <a:xfrm>
            <a:off x="4762894" y="398026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stable-baselines3/stable_baselines3/ppo/ppo.py at master · DLR-RM/stable-baselines3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0DE043-342F-0E54-FE30-3CE49DEA3D67}"/>
              </a:ext>
            </a:extLst>
          </p:cNvPr>
          <p:cNvSpPr txBox="1"/>
          <p:nvPr/>
        </p:nvSpPr>
        <p:spPr>
          <a:xfrm>
            <a:off x="586117" y="1658660"/>
            <a:ext cx="104048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train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-&gt;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"""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   Update policy using the currently gathered rollout buffer.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   """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self.policy.set_training_mode(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self._update_learning_rate(self.policy.optimizer)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clip_range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self.clip_range(self._current_progress_remaining)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self.clip_range_vf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is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not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clip_range_vf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self.clip_range_vf(self._current_progress_remaining)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BCB6B7A4-0E11-22B0-2D62-00F4B2C83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0982"/>
            <a:ext cx="10515600" cy="2067645"/>
          </a:xfrm>
        </p:spPr>
        <p:txBody>
          <a:bodyPr>
            <a:normAutofit/>
          </a:bodyPr>
          <a:lstStyle/>
          <a:p>
            <a:r>
              <a:rPr lang="zh-CN" altLang="en-US" dirty="0"/>
              <a:t>学习率随着训练进度逐渐变化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可以线性衰减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与</a:t>
            </a:r>
            <a:r>
              <a:rPr lang="en-US" altLang="zh-CN" dirty="0"/>
              <a:t>progress_remaining</a:t>
            </a:r>
            <a:r>
              <a:rPr lang="zh-CN" altLang="en-US" dirty="0"/>
              <a:t>挂钩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也可以是常数或者其他的衰减方式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960B76-E544-6B45-3F85-7904D3B8DBD5}"/>
              </a:ext>
            </a:extLst>
          </p:cNvPr>
          <p:cNvSpPr txBox="1"/>
          <p:nvPr/>
        </p:nvSpPr>
        <p:spPr>
          <a:xfrm>
            <a:off x="7260996" y="4891187"/>
            <a:ext cx="45602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zh-CN" altLang="en-US" dirty="0">
                <a:latin typeface="Fira Code" panose="020B0809050000020004" pitchFamily="49" charset="0"/>
              </a:rPr>
              <a:t>self._current_progress_remaining </a:t>
            </a:r>
            <a:r>
              <a:rPr lang="zh-CN" altLang="en-US" dirty="0">
                <a:solidFill>
                  <a:srgbClr val="A626A4"/>
                </a:solidFill>
                <a:latin typeface="Fira Code" panose="020B0809050000020004" pitchFamily="49" charset="0"/>
              </a:rPr>
              <a:t>= </a:t>
            </a:r>
            <a:r>
              <a:rPr lang="zh-CN" altLang="en-US" dirty="0">
                <a:latin typeface="Fira Code" panose="020B0809050000020004" pitchFamily="49" charset="0"/>
              </a:rPr>
              <a:t>1.0 </a:t>
            </a:r>
            <a:r>
              <a:rPr lang="zh-CN" altLang="en-US" dirty="0">
                <a:solidFill>
                  <a:srgbClr val="A626A4"/>
                </a:solidFill>
                <a:latin typeface="Fira Code" panose="020B0809050000020004" pitchFamily="49" charset="0"/>
              </a:rPr>
              <a:t>- </a:t>
            </a:r>
            <a:r>
              <a:rPr lang="zh-CN" altLang="en-US" dirty="0">
                <a:latin typeface="Fira Code" panose="020B0809050000020004" pitchFamily="49" charset="0"/>
              </a:rPr>
              <a:t>float(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Fira Code" panose="020B0809050000020004" pitchFamily="49" charset="0"/>
              </a:rPr>
              <a:t>num_timesteps</a:t>
            </a:r>
            <a:r>
              <a:rPr lang="zh-CN" altLang="en-US" dirty="0">
                <a:latin typeface="Fira Code" panose="020B0809050000020004" pitchFamily="49" charset="0"/>
              </a:rPr>
              <a:t>) / float(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Fira Code" panose="020B0809050000020004" pitchFamily="49" charset="0"/>
              </a:rPr>
              <a:t>total_timesteps</a:t>
            </a:r>
            <a:r>
              <a:rPr lang="zh-CN" altLang="en-US" dirty="0">
                <a:latin typeface="Fira Code" panose="020B080905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950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851F2D-B938-17A7-66B9-3BE9ABC74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82376"/>
            <a:ext cx="10515600" cy="1596724"/>
          </a:xfrm>
        </p:spPr>
        <p:txBody>
          <a:bodyPr/>
          <a:lstStyle/>
          <a:p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clip_range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裁剪参数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它可以是</a:t>
            </a: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progress remaining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的函数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FD292F-1088-E308-70EF-A63704500042}"/>
              </a:ext>
            </a:extLst>
          </p:cNvPr>
          <p:cNvSpPr txBox="1"/>
          <p:nvPr/>
        </p:nvSpPr>
        <p:spPr>
          <a:xfrm>
            <a:off x="838200" y="320054"/>
            <a:ext cx="104048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train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-&gt;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"""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   Update policy using the currently gathered rollout buffer.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   """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self.policy.set_training_mode(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self._update_learning_rate(self.policy.optimizer)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clip_range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self.clip_range(self._current_progress_remaining)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self.clip_range_vf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is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not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clip_range_vf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self.clip_range_vf(self._current_progress_remaining)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1FEFB2-24A0-7D10-7AE9-32D3D53BD24F}"/>
              </a:ext>
            </a:extLst>
          </p:cNvPr>
          <p:cNvSpPr txBox="1"/>
          <p:nvPr/>
        </p:nvSpPr>
        <p:spPr>
          <a:xfrm>
            <a:off x="1020451" y="4843014"/>
            <a:ext cx="107159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ratio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new_policy_prob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/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old_policy_prob 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ratio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th.clamp(ratio,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clip_range,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clip_range) 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156A0D9-8505-38F9-D7F5-536C766228E9}"/>
              </a:ext>
            </a:extLst>
          </p:cNvPr>
          <p:cNvSpPr txBox="1">
            <a:spLocks/>
          </p:cNvSpPr>
          <p:nvPr/>
        </p:nvSpPr>
        <p:spPr>
          <a:xfrm>
            <a:off x="838200" y="5616606"/>
            <a:ext cx="2904241" cy="1241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默认是常数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也可以衰减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9A10FF-398A-299A-CFF6-F3B514FD2C2B}"/>
              </a:ext>
            </a:extLst>
          </p:cNvPr>
          <p:cNvSpPr txBox="1"/>
          <p:nvPr/>
        </p:nvSpPr>
        <p:spPr>
          <a:xfrm>
            <a:off x="4659199" y="586797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clip_range: Union[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float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, Schedule]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0.2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60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8" grpId="0"/>
      <p:bldP spid="9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E99152-9C1D-3567-897E-6045C6769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82375"/>
            <a:ext cx="10515600" cy="3675625"/>
          </a:xfrm>
        </p:spPr>
        <p:txBody>
          <a:bodyPr/>
          <a:lstStyle/>
          <a:p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clip_range_vf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对值函数的裁剪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specific to the OpenAI implementation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裁剪的是价值函数的变化量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防止价值函数更新幅度过大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默认是不用的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用价值函数裁剪的效果不一定会变好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A36406-0149-635B-7336-5D9186D0FBF7}"/>
              </a:ext>
            </a:extLst>
          </p:cNvPr>
          <p:cNvSpPr txBox="1"/>
          <p:nvPr/>
        </p:nvSpPr>
        <p:spPr>
          <a:xfrm>
            <a:off x="838200" y="320054"/>
            <a:ext cx="104048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train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-&gt;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"""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   Update policy using the currently gathered rollout buffer.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   """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self.policy.set_training_mode(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self._update_learning_rate(self.policy.optimizer)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clip_range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self.clip_range(self._current_progress_remaining)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self.clip_range_vf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is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not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clip_range_vf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self.clip_range_vf(self._current_progress_remaining)</a:t>
            </a:r>
          </a:p>
        </p:txBody>
      </p:sp>
    </p:spTree>
    <p:extLst>
      <p:ext uri="{BB962C8B-B14F-4D97-AF65-F5344CB8AC3E}">
        <p14:creationId xmlns:p14="http://schemas.microsoft.com/office/powerpoint/2010/main" val="156046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64B42C-8BDE-D008-C7FF-6D7DE456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999348" cy="992989"/>
          </a:xfrm>
        </p:spPr>
        <p:txBody>
          <a:bodyPr/>
          <a:lstStyle/>
          <a:p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n_epochs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为训练的轮次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初始化的时候默认为</a:t>
            </a: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10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DC769F-DD8B-90E6-809C-94155F5EE680}"/>
              </a:ext>
            </a:extLst>
          </p:cNvPr>
          <p:cNvSpPr txBox="1"/>
          <p:nvPr/>
        </p:nvSpPr>
        <p:spPr>
          <a:xfrm>
            <a:off x="652805" y="360650"/>
            <a:ext cx="95658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epoch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range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(self.n_epochs):  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approx_kl_divs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[] 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rollout_data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self.rollout_buffer.get(self.batch_size):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87C1AE-DC30-55AA-9CDF-52A14B5FF1F4}"/>
              </a:ext>
            </a:extLst>
          </p:cNvPr>
          <p:cNvSpPr txBox="1"/>
          <p:nvPr/>
        </p:nvSpPr>
        <p:spPr>
          <a:xfrm>
            <a:off x="5821053" y="1828188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__init__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(..., n_epochs: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int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, ...):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self.n_epochs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n_epochs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C43068C-E26A-4E2F-3ECB-C10696230CD6}"/>
              </a:ext>
            </a:extLst>
          </p:cNvPr>
          <p:cNvSpPr txBox="1">
            <a:spLocks/>
          </p:cNvSpPr>
          <p:nvPr/>
        </p:nvSpPr>
        <p:spPr>
          <a:xfrm>
            <a:off x="838201" y="4238984"/>
            <a:ext cx="10709632" cy="261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采集的时候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数据应为有序的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才能计算</a:t>
            </a: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advantage</a:t>
            </a:r>
          </a:p>
          <a:p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训练的时候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每个样本都已经计算好，可以打乱</a:t>
            </a:r>
            <a:endParaRPr lang="en-US" altLang="zh-CN" dirty="0">
              <a:solidFill>
                <a:srgbClr val="383A42"/>
              </a:solidFill>
              <a:latin typeface="Fira Code" panose="020B08090500000200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622CCC-EC4A-262D-B74A-A12420DF4BEA}"/>
              </a:ext>
            </a:extLst>
          </p:cNvPr>
          <p:cNvSpPr txBox="1"/>
          <p:nvPr/>
        </p:nvSpPr>
        <p:spPr>
          <a:xfrm>
            <a:off x="652805" y="3054334"/>
            <a:ext cx="108950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get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(self, batch_size):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indices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np.random.permutation(self.buffer_size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self.n_envs) 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while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start_idx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&lt;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...: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yield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self._get_samples(indices[start_idx : start_idx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batch_size])</a:t>
            </a:r>
          </a:p>
        </p:txBody>
      </p:sp>
    </p:spTree>
    <p:extLst>
      <p:ext uri="{BB962C8B-B14F-4D97-AF65-F5344CB8AC3E}">
        <p14:creationId xmlns:p14="http://schemas.microsoft.com/office/powerpoint/2010/main" val="83884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C5293-7BAC-5C60-69A3-D5F85C4BE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用新策略评估样本数据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E90BF2-5429-8EC2-8A05-5AE89ED4E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7274"/>
            <a:ext cx="10515600" cy="1045272"/>
          </a:xfrm>
        </p:spPr>
        <p:txBody>
          <a:bodyPr/>
          <a:lstStyle/>
          <a:p>
            <a:r>
              <a:rPr lang="zh-CN" altLang="en-US" dirty="0"/>
              <a:t>用当前策略重新评估旧样本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生成新的</a:t>
            </a:r>
            <a:r>
              <a:rPr lang="en-US" altLang="zh-CN" dirty="0"/>
              <a:t>log_probs</a:t>
            </a:r>
            <a:r>
              <a:rPr lang="zh-CN" altLang="en-US" dirty="0"/>
              <a:t>和</a:t>
            </a:r>
            <a:r>
              <a:rPr lang="en-US" altLang="zh-CN" dirty="0"/>
              <a:t>values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3CB0CC-E1E4-81CD-857D-63EA0918B51B}"/>
              </a:ext>
            </a:extLst>
          </p:cNvPr>
          <p:cNvSpPr txBox="1"/>
          <p:nvPr/>
        </p:nvSpPr>
        <p:spPr>
          <a:xfrm>
            <a:off x="973317" y="1555670"/>
            <a:ext cx="9132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values, log_prob, entropy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self.policy.evaluate_actions(rollout_data.observations, actions)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9695AF-3B35-2C1D-1B69-15601D392CB7}"/>
              </a:ext>
            </a:extLst>
          </p:cNvPr>
          <p:cNvSpPr txBox="1"/>
          <p:nvPr/>
        </p:nvSpPr>
        <p:spPr>
          <a:xfrm>
            <a:off x="973317" y="342900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log_prob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distribution.log_prob(actions)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4C2611F-D5AF-E223-C0BA-31CBBC18299E}"/>
              </a:ext>
            </a:extLst>
          </p:cNvPr>
          <p:cNvSpPr txBox="1">
            <a:spLocks/>
          </p:cNvSpPr>
          <p:nvPr/>
        </p:nvSpPr>
        <p:spPr>
          <a:xfrm>
            <a:off x="838200" y="3798331"/>
            <a:ext cx="10515600" cy="1503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新的</a:t>
            </a:r>
            <a:r>
              <a:rPr lang="en-US" altLang="zh-CN" dirty="0"/>
              <a:t>log_probs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采取当前策略，采样到这些动作的对数概率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后续用来求重要性采样的</a:t>
            </a:r>
            <a:r>
              <a:rPr lang="en-US" altLang="zh-CN" dirty="0"/>
              <a:t>ratio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595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74914-EFC6-4EA4-4686-AF449856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优势归一化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32529D-A8CD-AE1E-84A8-2F8F1343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7467"/>
            <a:ext cx="10515600" cy="3339495"/>
          </a:xfrm>
        </p:spPr>
        <p:txBody>
          <a:bodyPr/>
          <a:lstStyle/>
          <a:p>
            <a:r>
              <a:rPr lang="zh-CN" altLang="en-US" dirty="0"/>
              <a:t>某些</a:t>
            </a:r>
            <a:r>
              <a:rPr lang="en-US" altLang="zh-CN" dirty="0"/>
              <a:t>advantage</a:t>
            </a:r>
            <a:r>
              <a:rPr lang="zh-CN" altLang="en-US" dirty="0"/>
              <a:t>的数值会过大或者过小</a:t>
            </a:r>
            <a:endParaRPr lang="en-US" altLang="zh-CN" dirty="0"/>
          </a:p>
          <a:p>
            <a:r>
              <a:rPr lang="zh-CN" altLang="en-US" dirty="0"/>
              <a:t>如果 </a:t>
            </a:r>
            <a:r>
              <a:rPr lang="en-US" altLang="zh-CN" dirty="0"/>
              <a:t>batch_size=1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标准差是 </a:t>
            </a:r>
            <a:r>
              <a:rPr lang="en-US" altLang="zh-CN" dirty="0"/>
              <a:t>0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无法归一化，跳过</a:t>
            </a:r>
            <a:endParaRPr lang="en-US" altLang="zh-CN" dirty="0"/>
          </a:p>
          <a:p>
            <a:r>
              <a:rPr lang="zh-CN" altLang="en-US" dirty="0"/>
              <a:t>每个</a:t>
            </a:r>
            <a:r>
              <a:rPr lang="en-US" altLang="zh-CN" dirty="0"/>
              <a:t>batch</a:t>
            </a:r>
            <a:r>
              <a:rPr lang="zh-CN" altLang="en-US" dirty="0"/>
              <a:t>内部做优势归一化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91DD0D-DFD8-10F9-D353-21F28C02B7C2}"/>
              </a:ext>
            </a:extLst>
          </p:cNvPr>
          <p:cNvSpPr txBox="1"/>
          <p:nvPr/>
        </p:nvSpPr>
        <p:spPr>
          <a:xfrm>
            <a:off x="1095866" y="1479537"/>
            <a:ext cx="98109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advantages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rollout_data.advantages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self.normalize_advantage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and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len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(advantages)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advantages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(advantages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advantages.mean())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/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(advantages.std()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1e-8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9573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407E2E-2301-9C78-BBC3-749D10734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759"/>
            <a:ext cx="10515600" cy="3118483"/>
          </a:xfrm>
        </p:spPr>
        <p:txBody>
          <a:bodyPr/>
          <a:lstStyle/>
          <a:p>
            <a:r>
              <a:rPr lang="en-US" altLang="zh-CN" dirty="0"/>
              <a:t>ratio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重要性权重</a:t>
            </a:r>
            <a:r>
              <a:rPr lang="en-US" altLang="zh-CN" dirty="0"/>
              <a:t>	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新策略与旧策略采样到相同动作的概率比值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新策略觉得这个动作比原来更</a:t>
            </a:r>
            <a:r>
              <a:rPr lang="zh-CN" altLang="en-US" b="1" dirty="0"/>
              <a:t>可能</a:t>
            </a:r>
            <a:r>
              <a:rPr lang="zh-CN" altLang="en-US" dirty="0"/>
              <a:t>了多少</a:t>
            </a:r>
            <a:endParaRPr lang="en-US" altLang="zh-CN" dirty="0"/>
          </a:p>
          <a:p>
            <a:r>
              <a:rPr lang="en-US" altLang="zh-CN" dirty="0"/>
              <a:t>PPO</a:t>
            </a:r>
            <a:r>
              <a:rPr lang="zh-CN" altLang="en-US" dirty="0"/>
              <a:t>就是对</a:t>
            </a:r>
            <a:r>
              <a:rPr lang="en-US" altLang="zh-CN" dirty="0"/>
              <a:t>ratio</a:t>
            </a:r>
            <a:r>
              <a:rPr lang="zh-CN" altLang="en-US" dirty="0"/>
              <a:t>做裁剪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来保证策略更新的幅度不要太大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19E696-5D6A-62D3-A1A6-B6024EF63944}"/>
              </a:ext>
            </a:extLst>
          </p:cNvPr>
          <p:cNvSpPr txBox="1"/>
          <p:nvPr/>
        </p:nvSpPr>
        <p:spPr>
          <a:xfrm>
            <a:off x="838200" y="681037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ratio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th.exp(log_prob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rollout_data.old_log_prob)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5DA7C2D-1DBF-6BE2-AC1F-AE9BA1B45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310" y="1220461"/>
            <a:ext cx="6249971" cy="64929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AC2E525-9E74-AADB-B2B8-6A97DFF98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874" y="5083093"/>
            <a:ext cx="7880596" cy="82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5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9218A-3963-401D-E639-3854B0E22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clipped surrogate loss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2653B-8FA8-1C6F-CED9-1BF6CF94F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502" y="4393557"/>
            <a:ext cx="10515600" cy="2425094"/>
          </a:xfrm>
        </p:spPr>
        <p:txBody>
          <a:bodyPr/>
          <a:lstStyle/>
          <a:p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clip_fraction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zh-CN" altLang="en-US" dirty="0">
                <a:solidFill>
                  <a:srgbClr val="383A42"/>
                </a:solidFill>
                <a:latin typeface="Fira Code" panose="020B0809050000020004" pitchFamily="49" charset="0"/>
              </a:rPr>
              <a:t>记录被裁剪样本的比例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1DC02C-6B8D-DB8F-C5B8-5D3C2B87C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5237"/>
            <a:ext cx="5263193" cy="55090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5C600E-B4F3-1604-4BF6-A68D9DEF38EF}"/>
              </a:ext>
            </a:extLst>
          </p:cNvPr>
          <p:cNvSpPr txBox="1"/>
          <p:nvPr/>
        </p:nvSpPr>
        <p:spPr>
          <a:xfrm>
            <a:off x="567965" y="2092921"/>
            <a:ext cx="112626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policy_loss_1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advantages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ratio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policy_loss_2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advantages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th.clamp(ratio,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clip_range,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clip_range)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policy_loss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th.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min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(policy_loss_1, policy_loss_2).mean()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49485F-C475-3F42-B577-ED01E3A3413F}"/>
              </a:ext>
            </a:extLst>
          </p:cNvPr>
          <p:cNvSpPr txBox="1"/>
          <p:nvPr/>
        </p:nvSpPr>
        <p:spPr>
          <a:xfrm>
            <a:off x="567965" y="3243239"/>
            <a:ext cx="101314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pg_losses.append(policy_loss.item())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clip_fraction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th.mean((th.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abs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(ratio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clip_range).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float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()).item()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clip_fractions.append(clip_fraction)</a:t>
            </a:r>
          </a:p>
        </p:txBody>
      </p:sp>
    </p:spTree>
    <p:extLst>
      <p:ext uri="{BB962C8B-B14F-4D97-AF65-F5344CB8AC3E}">
        <p14:creationId xmlns:p14="http://schemas.microsoft.com/office/powerpoint/2010/main" val="395935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630600-6E08-6353-123C-9CC6C62D9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价值函数的裁剪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4CCF23-D585-6F38-BB30-6B6B29DF6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0280"/>
            <a:ext cx="10515600" cy="1576683"/>
          </a:xfrm>
        </p:spPr>
        <p:txBody>
          <a:bodyPr/>
          <a:lstStyle/>
          <a:p>
            <a:r>
              <a:rPr lang="zh-CN" altLang="en-US" dirty="0"/>
              <a:t>限制价值函数的变化量</a:t>
            </a:r>
            <a:endParaRPr lang="en-US" altLang="zh-CN" dirty="0"/>
          </a:p>
          <a:p>
            <a:r>
              <a:rPr lang="zh-CN" altLang="en-US" dirty="0"/>
              <a:t>默认是不使用的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实践发现效果不一定好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0EF04E-4864-9C65-5EF5-F19CE0F89289}"/>
              </a:ext>
            </a:extLst>
          </p:cNvPr>
          <p:cNvSpPr txBox="1"/>
          <p:nvPr/>
        </p:nvSpPr>
        <p:spPr>
          <a:xfrm>
            <a:off x="838200" y="1555699"/>
            <a:ext cx="9655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self.clip_range_vf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is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values_pred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values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40299F-D643-F3ED-89EA-DD1C11654FD6}"/>
              </a:ext>
            </a:extLst>
          </p:cNvPr>
          <p:cNvSpPr txBox="1"/>
          <p:nvPr/>
        </p:nvSpPr>
        <p:spPr>
          <a:xfrm>
            <a:off x="838200" y="2515441"/>
            <a:ext cx="101597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values_pred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rollout_data.old_values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th.clamp(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values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rollout_data.old_values,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clip_range_vf,                   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clip_range_vf                      </a:t>
            </a:r>
            <a:endParaRPr lang="zh-CN" altLang="en-US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zh-CN" altLang="en-US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047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121F4-3820-4A54-A7A2-D8C6B948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KL</a:t>
            </a:r>
            <a:r>
              <a:rPr lang="zh-CN" altLang="en-US" dirty="0"/>
              <a:t>散度早停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8B08DD-FCB9-1E64-E92A-300CA8843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22940"/>
            <a:ext cx="10515600" cy="2013724"/>
          </a:xfrm>
        </p:spPr>
        <p:txBody>
          <a:bodyPr/>
          <a:lstStyle/>
          <a:p>
            <a:r>
              <a:rPr lang="en-US" altLang="zh-CN" dirty="0"/>
              <a:t>KL</a:t>
            </a:r>
            <a:r>
              <a:rPr lang="zh-CN" altLang="en-US" dirty="0"/>
              <a:t>散度衡量新旧策略的差异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/>
              <a:t>KL</a:t>
            </a:r>
            <a:r>
              <a:rPr lang="zh-CN" altLang="en-US" dirty="0"/>
              <a:t>散度大于阈值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立刻停止当前 </a:t>
            </a:r>
            <a:r>
              <a:rPr lang="en-US" altLang="zh-CN" dirty="0"/>
              <a:t>epoch </a:t>
            </a:r>
            <a:r>
              <a:rPr lang="zh-CN" altLang="en-US" dirty="0"/>
              <a:t>训练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防止策略更新幅度过大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6D7622-9C32-B9C2-9547-F3DDF639262F}"/>
              </a:ext>
            </a:extLst>
          </p:cNvPr>
          <p:cNvSpPr txBox="1"/>
          <p:nvPr/>
        </p:nvSpPr>
        <p:spPr>
          <a:xfrm>
            <a:off x="838200" y="1560618"/>
            <a:ext cx="108950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with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th.no_grad():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log_ratio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log_prob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rollout_data.old_log_prob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approx_kl_div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th.mean((th.exp(log_ratio)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log_ratio).cpu().numpy()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approx_kl_divs.append(approx_kl_div)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self.target_kl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is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not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and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approx_kl_div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1.5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self.target_kl: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continue_training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False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self.verbose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&gt;=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f"Early stopping at step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{epoch}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due to reaching max kl: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{approx_kl_div:.2f}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 algn="l" rtl="0" fontAlgn="base" latinLnBrk="0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break</a:t>
            </a:r>
            <a:endParaRPr lang="en-US" altLang="zh-CN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59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18F7B-DBA0-E937-0A90-51682B26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KL</a:t>
            </a:r>
            <a:r>
              <a:rPr lang="zh-CN" altLang="en-US" dirty="0"/>
              <a:t>散度的蒙特卡洛估计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DBC1874-F404-373A-9998-3E541715E5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91998"/>
                <a:ext cx="10515600" cy="4351338"/>
              </a:xfrm>
            </p:spPr>
            <p:txBody>
              <a:bodyPr/>
              <a:lstStyle/>
              <a:p>
                <a:r>
                  <a:rPr lang="en-US" altLang="zh-CN" dirty="0">
                    <a:hlinkClick r:id="rId2"/>
                  </a:rPr>
                  <a:t>http://joschu.net/blog/kl-approx.html</a:t>
                </a:r>
                <a:endParaRPr lang="en-US" altLang="zh-CN" dirty="0"/>
              </a:p>
              <a:p>
                <a:r>
                  <a:rPr lang="zh-CN" altLang="en-US" dirty="0"/>
                  <a:t>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−1−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func>
                  </m:oMath>
                </a14:m>
                <a:r>
                  <a:rPr lang="zh-CN" altLang="en-US" b="0" dirty="0"/>
                  <a:t>来估计</a:t>
                </a:r>
                <a:r>
                  <a:rPr lang="en-US" altLang="zh-CN" b="0" dirty="0"/>
                  <a:t>KL</a:t>
                </a:r>
                <a:r>
                  <a:rPr lang="zh-CN" altLang="en-US" b="0" dirty="0"/>
                  <a:t>散度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无偏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方差小</a:t>
                </a:r>
                <a:endParaRPr lang="en-US" altLang="zh-CN" dirty="0"/>
              </a:p>
              <a:p>
                <a:r>
                  <a:rPr lang="en-US" altLang="zh-CN" b="0" dirty="0"/>
                  <a:t>DeepSeek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GRPO</a:t>
                </a:r>
                <a:r>
                  <a:rPr lang="zh-CN" altLang="en-US" dirty="0"/>
                  <a:t>也用了类似的估计方法</a:t>
                </a: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DBC1874-F404-373A-9998-3E541715E5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91998"/>
                <a:ext cx="10515600" cy="4351338"/>
              </a:xfrm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391239B1-B1B8-C8CB-46A9-AEE8DDF2C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96" y="4369938"/>
            <a:ext cx="5085028" cy="24880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DD7500-1A2B-C423-4E2D-C30B45CCC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015" y="4369938"/>
            <a:ext cx="4847906" cy="241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9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4309</TotalTime>
  <Words>3509</Words>
  <Application>Microsoft Office PowerPoint</Application>
  <PresentationFormat>宽屏</PresentationFormat>
  <Paragraphs>358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inherit</vt:lpstr>
      <vt:lpstr>等线</vt:lpstr>
      <vt:lpstr>等线 Light</vt:lpstr>
      <vt:lpstr>Arial</vt:lpstr>
      <vt:lpstr>Cambria Math</vt:lpstr>
      <vt:lpstr>Fira Code</vt:lpstr>
      <vt:lpstr>Microsoft Sans Serif</vt:lpstr>
      <vt:lpstr>Office 主题​​</vt:lpstr>
      <vt:lpstr>PPO 完整实现</vt:lpstr>
      <vt:lpstr>主要内容</vt:lpstr>
      <vt:lpstr>https://github.com/DLR-RM/stable-baselines3</vt:lpstr>
      <vt:lpstr>Clipped Surrogate Objective function</vt:lpstr>
      <vt:lpstr>L_t^VF (θ)如何使价值网络的估计更准确</vt:lpstr>
      <vt:lpstr>S[π_θ ](s_t )如何鼓励探索</vt:lpstr>
      <vt:lpstr>PowerPoint 演示文稿</vt:lpstr>
      <vt:lpstr>离散空间</vt:lpstr>
      <vt:lpstr>PPO在训练前做的事情</vt:lpstr>
      <vt:lpstr>Rollout Buffer</vt:lpstr>
      <vt:lpstr>另一种回放缓冲区</vt:lpstr>
      <vt:lpstr>PowerPoint 演示文稿</vt:lpstr>
      <vt:lpstr>PowerPoint 演示文稿</vt:lpstr>
      <vt:lpstr>RolloutBuffer里面存放什么</vt:lpstr>
      <vt:lpstr>advantages</vt:lpstr>
      <vt:lpstr>PowerPoint 演示文稿</vt:lpstr>
      <vt:lpstr>PowerPoint 演示文稿</vt:lpstr>
      <vt:lpstr>PowerPoint 演示文稿</vt:lpstr>
      <vt:lpstr>PowerPoint 演示文稿</vt:lpstr>
      <vt:lpstr>episode_starts[t+1] == dones[t]</vt:lpstr>
      <vt:lpstr>训练</vt:lpstr>
      <vt:lpstr>PowerPoint 演示文稿</vt:lpstr>
      <vt:lpstr>PowerPoint 演示文稿</vt:lpstr>
      <vt:lpstr>PowerPoint 演示文稿</vt:lpstr>
      <vt:lpstr>用新策略评估样本数据</vt:lpstr>
      <vt:lpstr>优势归一化</vt:lpstr>
      <vt:lpstr>PowerPoint 演示文稿</vt:lpstr>
      <vt:lpstr>clipped surrogate loss</vt:lpstr>
      <vt:lpstr>价值函数的裁剪</vt:lpstr>
      <vt:lpstr>KL散度早停</vt:lpstr>
      <vt:lpstr>KL散度的蒙特卡洛估计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16</cp:revision>
  <dcterms:created xsi:type="dcterms:W3CDTF">2025-11-21T13:05:21Z</dcterms:created>
  <dcterms:modified xsi:type="dcterms:W3CDTF">2025-11-29T16:07:29Z</dcterms:modified>
</cp:coreProperties>
</file>