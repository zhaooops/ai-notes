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4" r:id="rId4"/>
    <p:sldId id="258" r:id="rId5"/>
    <p:sldId id="260" r:id="rId6"/>
    <p:sldId id="259" r:id="rId7"/>
    <p:sldId id="261" r:id="rId8"/>
    <p:sldId id="262" r:id="rId9"/>
    <p:sldId id="275" r:id="rId10"/>
    <p:sldId id="265" r:id="rId11"/>
    <p:sldId id="263" r:id="rId12"/>
    <p:sldId id="264" r:id="rId13"/>
    <p:sldId id="267" r:id="rId14"/>
    <p:sldId id="269" r:id="rId15"/>
    <p:sldId id="270" r:id="rId16"/>
    <p:sldId id="271" r:id="rId17"/>
    <p:sldId id="272" r:id="rId18"/>
    <p:sldId id="273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5B615-1D09-4BEA-A11A-FFE18DE038A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2146C-37DC-444C-BB7E-6982FBAEB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9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D2146C-37DC-444C-BB7E-6982FBAEB86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208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D2146C-37DC-444C-BB7E-6982FBAEB86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718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D2146C-37DC-444C-BB7E-6982FBAEB86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02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A8194-A4D7-0041-97DD-1E93F4372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8313D2-E4E8-9CDF-12CB-1E404923E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201124-29F9-3E3C-F7B2-38D9E5562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03BE7-49DE-F3CC-4366-2C130E0A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4DE72F-8A1C-AB8C-879F-C56C518A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69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287DA-19FE-644B-E3C1-EFDBEAC8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2ADA67-70DC-4756-C451-521A1B3C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A3E321-EB7D-C936-F644-0E82E561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89A14-49CB-35A9-1645-336B52FD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A58891-D4E4-2D34-FE7B-8AF71F6E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37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DC083-C666-FD77-63B0-C5B5349E6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D6E5E-FE3E-FC38-DF8E-4FC4C129A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6B6E47-0FCB-78AD-5B3E-88D115E0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060F3A-A4DE-2F89-A53D-957D506D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01B1D-05FD-8BCE-7989-ADC870CC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0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734B9-F23B-8366-7D0F-0C10016F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0F0997-1E4D-2299-DB7F-8264A8AE9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79B19-E696-E2C8-C7C0-DE42C71ED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71FC61-9706-2EF9-45DE-D98DF5AC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66CEFC-77AF-1490-EA4E-6887E41D6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F7A115-2680-FD49-B04A-27EB3B4A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61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36C93-3A4D-8ACF-EC39-65BBF85D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B7385A-604D-5413-F75D-8274F4091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81AFCC-2C49-971A-5276-D38695A4B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5445A2-3204-8703-513E-1ADAF4910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F8B26C-CF42-3B83-52D4-2EAD885B3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7605-4D6B-8943-4457-4D59E79F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CEE147-9D88-D5D2-CEF4-35C1BCBC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8862906-3DED-8C76-3C9C-CFF086D1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9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C14F5-115D-8031-1D44-358D1277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47014D-BA91-B0CB-EE36-41B8180D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3311A4-7808-3599-3D23-E6CE0A87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02F142-B76B-277F-14C5-94806135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52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D17877-C0F9-331E-CB6F-AEBF358E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5CEEC8-4CB1-6AEC-4472-4D44171A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A1AA0D-618A-89D7-B100-C214EAE7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24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14477-9F7F-D576-1E87-B2232F9A0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3DCAAC-90E0-FA93-100C-D74AC9C1A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537802-AFAF-9DDC-B6EC-EFFC16F71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2C076C-BDEC-5741-6B77-614D71AD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312DEB-8220-9524-0A36-7CB16F16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85A522-9C14-370D-AC1F-C8527A06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51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20DDA-2F7C-F824-9580-5184F803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7D09F7-7B14-8E76-CD57-8E50C85FD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918F8D-4C12-F0B2-96E1-77CFC8198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D76F2C-A050-C8D9-134D-26AAC481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A885D7-6D1B-533A-8B63-713D67A3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0AA28B-EAEB-D7EF-95B0-30EF7FD6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45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A45E4-93DC-4AE2-DBAB-EB184FF7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F3E129-EE84-2F12-68EC-EF1E12228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6349FB-73C4-52C6-468E-AFED1D54E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F5FA88-707A-5645-8062-42C3C822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17FD60-11E4-73AA-A06A-ABD14CDC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64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AACAD3-4B56-47F8-685F-D9DFE578A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76F867-5E06-D0C0-983A-7DB986ABD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5FAC9E-0961-808F-2002-99A89467C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C7F78B-B870-2E0E-2F25-7321E45D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F22FF-D58A-CCC7-6A13-DFA729F0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65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F568B5-860A-4DA4-3C12-7AD61FAF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00BA4B-8480-1F5F-CCE3-A1E2C27A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152A4F-BF3A-02A6-583F-A1DA53B90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8B830-3211-4444-A7AE-191ED98AAAB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D6BDC-EEEA-620C-BEB0-7F8B08407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C16D4-286D-9F97-93C2-C37D82A59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8B369-CCDF-4AF3-BDB9-E7671244BC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8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03B7D-9913-7117-913E-3DDE692253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15000" b="1" dirty="0"/>
              <a:t>GRPO</a:t>
            </a:r>
            <a:br>
              <a:rPr lang="en-US" altLang="zh-CN" sz="8800" b="1" dirty="0"/>
            </a:br>
            <a:r>
              <a:rPr lang="en-US" altLang="zh-CN" sz="4000" dirty="0"/>
              <a:t>Group Relative Policy Optimization</a:t>
            </a:r>
            <a:endParaRPr lang="zh-CN" altLang="en-US" sz="40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57BD1E-38CA-A457-588A-5881C5209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3464"/>
            <a:ext cx="9144000" cy="874336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</p:spTree>
    <p:extLst>
      <p:ext uri="{BB962C8B-B14F-4D97-AF65-F5344CB8AC3E}">
        <p14:creationId xmlns:p14="http://schemas.microsoft.com/office/powerpoint/2010/main" val="1728435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147B1-E75C-C08F-D473-4A3270FC9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9BCE5-6144-2575-EA6F-44C974424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PPO</a:t>
            </a:r>
            <a:r>
              <a:rPr lang="zh-CN" altLang="en-US" dirty="0"/>
              <a:t>到</a:t>
            </a:r>
            <a:r>
              <a:rPr lang="en-US" altLang="zh-CN" dirty="0"/>
              <a:t>GRPO</a:t>
            </a:r>
            <a:r>
              <a:rPr lang="zh-CN" altLang="en-US" dirty="0"/>
              <a:t>的改进</a:t>
            </a:r>
            <a:endParaRPr lang="en-US" altLang="zh-CN" dirty="0"/>
          </a:p>
          <a:p>
            <a:r>
              <a:rPr lang="en-US" altLang="zh-CN" dirty="0"/>
              <a:t>PPO</a:t>
            </a:r>
            <a:r>
              <a:rPr lang="zh-CN" altLang="en-US" dirty="0"/>
              <a:t>存在的问题</a:t>
            </a:r>
            <a:endParaRPr lang="en-US" altLang="zh-CN" dirty="0"/>
          </a:p>
          <a:p>
            <a:r>
              <a:rPr lang="en-US" altLang="zh-CN" dirty="0"/>
              <a:t>GRPO</a:t>
            </a:r>
            <a:r>
              <a:rPr lang="zh-CN" altLang="en-US" dirty="0"/>
              <a:t>的损失函数</a:t>
            </a:r>
            <a:endParaRPr lang="en-US" altLang="zh-CN" dirty="0"/>
          </a:p>
          <a:p>
            <a:r>
              <a:rPr lang="en-US" altLang="zh-CN" dirty="0"/>
              <a:t>GRPO</a:t>
            </a:r>
            <a:r>
              <a:rPr lang="zh-CN" altLang="en-US" dirty="0"/>
              <a:t>的完整流程</a:t>
            </a:r>
            <a:endParaRPr lang="en-US" altLang="zh-CN" dirty="0"/>
          </a:p>
          <a:p>
            <a:r>
              <a:rPr lang="en-US" altLang="zh-CN" dirty="0"/>
              <a:t>GRPO</a:t>
            </a:r>
            <a:r>
              <a:rPr lang="zh-CN" altLang="en-US" dirty="0"/>
              <a:t>的</a:t>
            </a:r>
            <a:r>
              <a:rPr lang="en-US" altLang="zh-CN" dirty="0"/>
              <a:t>KL</a:t>
            </a:r>
            <a:r>
              <a:rPr lang="zh-CN" altLang="en-US" dirty="0"/>
              <a:t>散度计算</a:t>
            </a:r>
          </a:p>
        </p:txBody>
      </p:sp>
    </p:spTree>
    <p:extLst>
      <p:ext uri="{BB962C8B-B14F-4D97-AF65-F5344CB8AC3E}">
        <p14:creationId xmlns:p14="http://schemas.microsoft.com/office/powerpoint/2010/main" val="319802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8369-0301-E87C-2973-1A504E12D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852A2-7933-9477-7FCC-6E8C2B7E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 Relative Policy Optimization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DA6EF1-B16C-5B2E-B1BF-44CFFD449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8723"/>
            <a:ext cx="12192000" cy="10902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FBDCA3-5C76-BEE0-A367-A6F22ED7D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1841"/>
            <a:ext cx="12192000" cy="9568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7017F3B-1DD7-6D32-9EAD-5F695D801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1437"/>
            <a:ext cx="12192000" cy="163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6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749F693-F789-AE96-A41C-BD9ED17B7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5" y="0"/>
            <a:ext cx="1202905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C74F11B-6CD5-6CC6-40FD-DEA72068235A}"/>
                  </a:ext>
                </a:extLst>
              </p:cNvPr>
              <p:cNvSpPr txBox="1"/>
              <p:nvPr/>
            </p:nvSpPr>
            <p:spPr>
              <a:xfrm>
                <a:off x="1555425" y="5667295"/>
                <a:ext cx="2856320" cy="901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altLang="zh-CN" sz="3200" b="0" dirty="0"/>
                  <a:t> </a:t>
                </a:r>
                <a:r>
                  <a:rPr lang="zh-CN" altLang="en-US" sz="3200" b="0" dirty="0">
                    <a:solidFill>
                      <a:schemeClr val="accent2"/>
                    </a:solidFill>
                  </a:rPr>
                  <a:t>参考模型</a:t>
                </a:r>
                <a:endParaRPr lang="en-US" altLang="zh-CN" sz="3200" b="0" dirty="0">
                  <a:solidFill>
                    <a:schemeClr val="accent2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C74F11B-6CD5-6CC6-40FD-DEA720682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425" y="5667295"/>
                <a:ext cx="2856320" cy="901209"/>
              </a:xfrm>
              <a:prstGeom prst="rect">
                <a:avLst/>
              </a:prstGeom>
              <a:blipFill>
                <a:blip r:embed="rId4"/>
                <a:stretch>
                  <a:fillRect t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ED37550-985C-95AC-F3F1-B170DCA3CDF0}"/>
                  </a:ext>
                </a:extLst>
              </p:cNvPr>
              <p:cNvSpPr txBox="1"/>
              <p:nvPr/>
            </p:nvSpPr>
            <p:spPr>
              <a:xfrm>
                <a:off x="5704789" y="6274648"/>
                <a:ext cx="2856320" cy="905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US" altLang="zh-CN" sz="3200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en-US" sz="3200" dirty="0">
                    <a:solidFill>
                      <a:schemeClr val="accent2"/>
                    </a:solidFill>
                  </a:rPr>
                  <a:t>奖励</a:t>
                </a:r>
                <a:r>
                  <a:rPr lang="zh-CN" altLang="en-US" sz="3200" b="0" dirty="0">
                    <a:solidFill>
                      <a:schemeClr val="accent2"/>
                    </a:solidFill>
                  </a:rPr>
                  <a:t>模型</a:t>
                </a:r>
                <a:endParaRPr lang="en-US" altLang="zh-CN" sz="3200" b="0" dirty="0">
                  <a:solidFill>
                    <a:schemeClr val="accent2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ED37550-985C-95AC-F3F1-B170DCA3C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789" y="6274648"/>
                <a:ext cx="2856320" cy="905569"/>
              </a:xfrm>
              <a:prstGeom prst="rect">
                <a:avLst/>
              </a:prstGeom>
              <a:blipFill>
                <a:blip r:embed="rId5"/>
                <a:stretch>
                  <a:fillRect t="-8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66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B745A-CF53-26CF-9317-905BFE88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LLM</a:t>
            </a:r>
            <a:r>
              <a:rPr lang="zh-CN" altLang="en-US" dirty="0"/>
              <a:t>是自回归条件分布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D768B8-78CC-4879-3832-E65E3B3438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r>
                  <a:rPr lang="zh-CN" altLang="en-US" dirty="0"/>
                  <a:t>大语言模型生成回答的过程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next token prediction</a:t>
                </a:r>
              </a:p>
              <a:p>
                <a:r>
                  <a:rPr lang="zh-CN" altLang="en-US" dirty="0"/>
                  <a:t>给定一个</a:t>
                </a:r>
                <a:r>
                  <a:rPr lang="en-US" altLang="zh-CN" dirty="0"/>
                  <a:t>prompt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模型按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逐步生成序列 </a:t>
                </a:r>
                <a14:m>
                  <m:oMath xmlns:m="http://schemas.openxmlformats.org/officeDocument/2006/math">
                    <m:r>
                      <a:rPr lang="pt-BR" altLang="zh-CN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pt-BR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pt-BR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第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步生成</a:t>
                </a:r>
                <a:r>
                  <a:rPr lang="en-US" altLang="zh-CN" dirty="0"/>
                  <a:t>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模型看到的是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每个</a:t>
                </a:r>
                <a:r>
                  <a:rPr lang="en-US" altLang="zh-CN" dirty="0"/>
                  <a:t>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的生成概率是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自回归：条件对象是它自己序列里的过去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D768B8-78CC-4879-3832-E65E3B3438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46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2020E-6A3A-30E4-0A49-843D012C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7280" cy="1325563"/>
          </a:xfrm>
        </p:spPr>
        <p:txBody>
          <a:bodyPr/>
          <a:lstStyle/>
          <a:p>
            <a:r>
              <a:rPr lang="en-US" altLang="zh-CN" dirty="0"/>
              <a:t>PPO </a:t>
            </a:r>
            <a:r>
              <a:rPr lang="zh-CN" altLang="en-US" dirty="0"/>
              <a:t>多轮循环 更新模型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8713F50-8B22-7620-2027-9B75F0893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PPO</a:t>
                </a:r>
                <a:r>
                  <a:rPr lang="zh-CN" altLang="en-US" dirty="0"/>
                  <a:t>第一步：用旧模型采样得到序列</a:t>
                </a:r>
                <a:endParaRPr lang="en-US" altLang="zh-CN" dirty="0"/>
              </a:p>
              <a:p>
                <a:r>
                  <a:rPr lang="zh-CN" altLang="en-US" dirty="0"/>
                  <a:t>每一轮的更新里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en-US" dirty="0"/>
                  <a:t>是本轮正在更新的模型，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是上一轮更新后的模型</a:t>
                </a:r>
                <a:endParaRPr lang="en-US" altLang="zh-CN" dirty="0"/>
              </a:p>
              <a:p>
                <a:r>
                  <a:rPr lang="zh-CN" altLang="en-US" dirty="0"/>
                  <a:t>从问题数据集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zh-CN" altLang="en-US" b="0" dirty="0"/>
                  <a:t>中采样一个问题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用旧模型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b="0" dirty="0"/>
                  <a:t>生成 </a:t>
                </a:r>
                <a14:m>
                  <m:oMath xmlns:m="http://schemas.openxmlformats.org/officeDocument/2006/math">
                    <m:r>
                      <a:rPr lang="pt-BR" altLang="zh-CN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pt-BR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pt-BR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其中每个</a:t>
                </a:r>
                <a:r>
                  <a:rPr lang="en-US" altLang="zh-CN" dirty="0"/>
                  <a:t>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的生成概率是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这样就得到了序列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8713F50-8B22-7620-2027-9B75F0893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87911BD-9C9C-EF8B-FF41-D7F0B7FB7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892" y="5571284"/>
            <a:ext cx="3812215" cy="121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1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46298-EC6E-81E3-67C9-8B25263E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PPO</a:t>
            </a:r>
            <a:r>
              <a:rPr lang="zh-CN" altLang="en-US" dirty="0"/>
              <a:t>第二步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0695A9-B986-E121-4942-ABE0B7A40F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1454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为序列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</m:oMath>
                </a14:m>
                <a:r>
                  <a:rPr lang="zh-CN" altLang="en-US" dirty="0"/>
                  <a:t>里的每个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计算奖励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old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old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zh-CN" altLang="en-US" dirty="0"/>
                  <a:t> 是重要性权重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/>
                  <a:t>奖励模型打的分数</a:t>
                </a:r>
                <a:endParaRPr lang="en-US" altLang="zh-CN" dirty="0"/>
              </a:p>
              <a:p>
                <a:r>
                  <a:rPr lang="zh-CN" altLang="en-US" dirty="0"/>
                  <a:t>通常只有最后一个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会被奖励模型赋予奖励分数</a:t>
                </a:r>
                <a:endParaRPr lang="en-US" altLang="zh-CN" dirty="0"/>
              </a:p>
              <a:p>
                <a:r>
                  <a:rPr lang="zh-CN" altLang="en-US" dirty="0"/>
                  <a:t>广义优势估计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</m:oMath>
                </a14:m>
                <a:r>
                  <a:rPr lang="zh-CN" altLang="en-US" dirty="0"/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0695A9-B986-E121-4942-ABE0B7A40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14541"/>
              </a:xfrm>
              <a:blipFill>
                <a:blip r:embed="rId2"/>
                <a:stretch>
                  <a:fillRect l="-1043" t="-2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96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A06FA-50DB-1E52-2B54-FE574F8B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PPO</a:t>
            </a:r>
            <a:r>
              <a:rPr lang="zh-CN" altLang="en-US" dirty="0"/>
              <a:t>第三步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AED6EA-699B-8C41-D763-72E3BC986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41163"/>
                <a:ext cx="10515600" cy="32358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最大化目标函数来更新模型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最小化价值估计的误差来更新价值模型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本轮</a:t>
                </a:r>
                <a:r>
                  <a:rPr lang="en-US" altLang="zh-CN" dirty="0"/>
                  <a:t>PPO</a:t>
                </a:r>
                <a:r>
                  <a:rPr lang="zh-CN" altLang="en-US" dirty="0"/>
                  <a:t>更新完成</a:t>
                </a:r>
                <a:endParaRPr lang="en-US" altLang="zh-CN" dirty="0"/>
              </a:p>
              <a:p>
                <a:r>
                  <a:rPr lang="zh-CN" altLang="en-US" dirty="0"/>
                  <a:t>下一步将旧模型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更新为刚刚得到的当前模型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进入下一轮的采样与更新的循环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AED6EA-699B-8C41-D763-72E3BC986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41163"/>
                <a:ext cx="10515600" cy="3235800"/>
              </a:xfrm>
              <a:blipFill>
                <a:blip r:embed="rId2"/>
                <a:stretch>
                  <a:fillRect l="-1043" t="-3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10EEBBE-1744-C606-B2A7-17ABFCCD7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690688"/>
            <a:ext cx="11353800" cy="91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3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FC7632-F7D9-7231-C881-6944EDA5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13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CFCAF60-B895-8A4D-8570-733659563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"/>
            <a:ext cx="12192000" cy="684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1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7D97E-9AD1-7D38-F6C4-46DD65B0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PPO</a:t>
            </a:r>
            <a:r>
              <a:rPr lang="zh-CN" altLang="en-US" dirty="0"/>
              <a:t>的两项问题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EBBF4F-AF19-ED95-C7D9-0DE367F3E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3198043"/>
          </a:xfrm>
        </p:spPr>
        <p:txBody>
          <a:bodyPr/>
          <a:lstStyle/>
          <a:p>
            <a:r>
              <a:rPr lang="en-US" altLang="zh-CN" dirty="0"/>
              <a:t>critic model</a:t>
            </a:r>
          </a:p>
          <a:p>
            <a:r>
              <a:rPr lang="zh-CN" altLang="en-US" dirty="0"/>
              <a:t>通常只有最后一个</a:t>
            </a:r>
            <a:r>
              <a:rPr lang="en-US" altLang="zh-CN" dirty="0"/>
              <a:t>token</a:t>
            </a:r>
            <a:r>
              <a:rPr lang="zh-CN" altLang="en-US" dirty="0"/>
              <a:t>会被奖励模型赋予奖励分数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我们需要为每个</a:t>
            </a:r>
            <a:r>
              <a:rPr lang="en-US" altLang="zh-CN" dirty="0"/>
              <a:t>token</a:t>
            </a:r>
            <a:r>
              <a:rPr lang="zh-CN" altLang="en-US" dirty="0"/>
              <a:t>估计</a:t>
            </a:r>
            <a:r>
              <a:rPr lang="en-US" altLang="zh-CN" dirty="0"/>
              <a:t>value</a:t>
            </a:r>
            <a:r>
              <a:rPr lang="zh-CN" altLang="en-US" dirty="0"/>
              <a:t>，计算优势函数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即：把序列末尾的奖励信号</a:t>
            </a: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精准归因到前面每一个 </a:t>
            </a:r>
            <a:r>
              <a:rPr lang="en-US" altLang="zh-CN" dirty="0"/>
              <a:t>token </a:t>
            </a:r>
            <a:r>
              <a:rPr lang="zh-CN" altLang="en-US" dirty="0"/>
              <a:t>的生成决策上</a:t>
            </a:r>
            <a:endParaRPr lang="en-US" altLang="zh-CN" dirty="0"/>
          </a:p>
          <a:p>
            <a:r>
              <a:rPr lang="en-US" altLang="zh-CN" dirty="0"/>
              <a:t>critic model </a:t>
            </a:r>
            <a:r>
              <a:rPr lang="zh-CN" altLang="en-US" dirty="0"/>
              <a:t>又大又难学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86AC50-CF38-76D7-78A6-B167B79C7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95" y="1449294"/>
            <a:ext cx="11679810" cy="182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6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3660D-D042-AAD1-1EEF-EA414072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 Relative Policy Optimization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0566E7-D3C5-6AB4-5151-DCD4917A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5051"/>
            <a:ext cx="11353800" cy="2641911"/>
          </a:xfrm>
        </p:spPr>
        <p:txBody>
          <a:bodyPr/>
          <a:lstStyle/>
          <a:p>
            <a:r>
              <a:rPr lang="en-US" altLang="zh-CN" dirty="0"/>
              <a:t>GRPO</a:t>
            </a:r>
            <a:r>
              <a:rPr lang="zh-CN" altLang="en-US" dirty="0"/>
              <a:t>对</a:t>
            </a:r>
            <a:r>
              <a:rPr lang="en-US" altLang="zh-CN" dirty="0"/>
              <a:t>PPO</a:t>
            </a:r>
            <a:r>
              <a:rPr lang="zh-CN" altLang="en-US" dirty="0"/>
              <a:t>做的改进：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去掉</a:t>
            </a:r>
            <a:r>
              <a:rPr lang="en-US" altLang="zh-CN" dirty="0"/>
              <a:t>critic</a:t>
            </a:r>
            <a:r>
              <a:rPr lang="zh-CN" altLang="en-US" dirty="0"/>
              <a:t>，不再用</a:t>
            </a:r>
            <a:r>
              <a:rPr lang="en-US" altLang="zh-CN" dirty="0"/>
              <a:t>GAE</a:t>
            </a:r>
            <a:r>
              <a:rPr lang="zh-CN" altLang="en-US" dirty="0"/>
              <a:t>来计算优势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使用对同一问题采样得到的多个输出的</a:t>
            </a:r>
            <a:r>
              <a:rPr lang="zh-CN" altLang="en-US" b="1" dirty="0"/>
              <a:t>平均奖励</a:t>
            </a:r>
            <a:r>
              <a:rPr lang="zh-CN" altLang="en-US" dirty="0"/>
              <a:t>作为 </a:t>
            </a:r>
            <a:r>
              <a:rPr lang="en-US" altLang="zh-CN" dirty="0"/>
              <a:t>baseline</a:t>
            </a:r>
          </a:p>
          <a:p>
            <a:pPr marL="0" indent="0">
              <a:buNone/>
            </a:pPr>
            <a:r>
              <a:rPr lang="en-US" altLang="zh-CN" dirty="0"/>
              <a:t>KL </a:t>
            </a:r>
            <a:r>
              <a:rPr lang="zh-CN" altLang="en-US" dirty="0"/>
              <a:t>散度直接加入到 </a:t>
            </a:r>
            <a:r>
              <a:rPr lang="en-US" altLang="zh-CN" dirty="0"/>
              <a:t>loss </a:t>
            </a:r>
            <a:r>
              <a:rPr lang="zh-CN" altLang="en-US" dirty="0"/>
              <a:t>中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而不是加到奖励里面作为惩罚项</a:t>
            </a: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589DD8-A753-0FB4-B9C5-553F9851C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8723"/>
            <a:ext cx="12192000" cy="10902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BECDD2-E10F-006A-C81B-5F3F368C2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1841"/>
            <a:ext cx="12192000" cy="95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4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4CA02-7F9D-25B9-A4F1-71FCFE50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GRPO</a:t>
            </a:r>
            <a:r>
              <a:rPr lang="zh-CN" altLang="en-US" dirty="0"/>
              <a:t>的损失函数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31D63E-953F-D6EB-E50D-5D7790274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14592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3F764B-E76B-DFEF-8065-3E05D1357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23000"/>
            <a:ext cx="12192000" cy="107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54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CC935-3A92-77C2-24C1-4C71B453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411"/>
            <a:ext cx="10515600" cy="1325563"/>
          </a:xfrm>
        </p:spPr>
        <p:txBody>
          <a:bodyPr/>
          <a:lstStyle/>
          <a:p>
            <a:r>
              <a:rPr lang="en-US" altLang="zh-CN" dirty="0"/>
              <a:t>GRPO</a:t>
            </a:r>
            <a:r>
              <a:rPr lang="zh-CN" altLang="en-US" dirty="0"/>
              <a:t>的完整循环流程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BDAB7A-76F1-C333-DC14-12402B2DF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746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从</a:t>
                </a:r>
                <a:r>
                  <a:rPr lang="en-US" altLang="zh-CN" dirty="0"/>
                  <a:t>prompt dataset</a:t>
                </a:r>
                <a:r>
                  <a:rPr lang="zh-CN" altLang="en-US" dirty="0"/>
                  <a:t>里采样一组</a:t>
                </a:r>
                <a:r>
                  <a:rPr lang="en-US" altLang="zh-CN" dirty="0"/>
                  <a:t>prompt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fr-FR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fr-F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altLang="zh-CN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altLang="zh-CN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fr-F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altLang="zh-CN" i="1" dirty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lit/>
                      </m:rPr>
                      <a:rPr lang="fr-FR" altLang="zh-CN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对每一个</a:t>
                </a:r>
                <a:r>
                  <a:rPr lang="en-US" altLang="zh-CN" dirty="0"/>
                  <a:t>prompt</a:t>
                </a:r>
                <a:r>
                  <a:rPr lang="zh-CN" altLang="en-US" dirty="0"/>
                  <a:t>采样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个回答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pt-BR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pt-B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altLang="zh-CN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altLang="zh-CN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m:rPr>
                        <m:lit/>
                      </m:rPr>
                      <a:rPr lang="pt-BR" altLang="zh-CN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b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∼</m:t>
                    </m:r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𝑜𝑙𝑑</m:t>
                        </m:r>
                      </m:sup>
                    </m:sSub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是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序列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altLang="zh-CN" i="1" dirty="0"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pt-BR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altLang="zh-CN" i="1" dirty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pt-BR" altLang="zh-CN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奖励模型对每个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打分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pt-BR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pt-B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altLang="zh-CN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altLang="zh-CN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m:rPr>
                        <m:lit/>
                      </m:rPr>
                      <a:rPr lang="pt-BR" altLang="zh-CN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BDAB7A-76F1-C333-DC14-12402B2DF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7469"/>
              </a:xfrm>
              <a:blipFill>
                <a:blip r:embed="rId2"/>
                <a:stretch>
                  <a:fillRect l="-1043" t="-2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59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D8402-756E-26E3-DC31-6AE826DB6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GRPO</a:t>
            </a:r>
            <a:r>
              <a:rPr lang="zh-CN" altLang="en-US" dirty="0"/>
              <a:t>的完整循环流程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B3F17D-B882-17AF-F400-DBFAEA509A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15963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A</a:t>
                </a:r>
                <a:r>
                  <a:rPr lang="zh-CN" altLang="en-US" dirty="0"/>
                  <a:t>的计算 组内相对优势估计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计算平均奖励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计算奖励的标准差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计算优势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（结果监督）</a:t>
                </a:r>
                <a:endParaRPr lang="en-US" altLang="zh-CN" dirty="0"/>
              </a:p>
              <a:p>
                <a:r>
                  <a:rPr lang="zh-CN" altLang="en-US" dirty="0"/>
                  <a:t>另一种组内相对优势估计 过程监督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对每个输出的每个步骤打分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{</m:t>
                        </m:r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𝑖𝑛𝑑𝑒𝑥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𝑖𝑛𝑑𝑒𝑥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{</m:t>
                        </m:r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𝑖𝑛𝑑𝑒𝑥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𝑖𝑛𝑑𝑒𝑥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</m:e>
                            </m:d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p>
                        </m:sSubSup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每个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的优势为从该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之后所有步骤的标准化奖励之和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B3F17D-B882-17AF-F400-DBFAEA509A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159638"/>
              </a:xfrm>
              <a:blipFill>
                <a:blip r:embed="rId2"/>
                <a:stretch>
                  <a:fillRect l="-967" t="-2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2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F90DF-4057-88C5-FEBE-41CEA305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GRPO</a:t>
            </a:r>
            <a:r>
              <a:rPr lang="zh-CN" altLang="en-US" dirty="0"/>
              <a:t>的完整循环流程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626169-0345-7875-B990-D582A9865A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计算概率比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ratio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old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计算裁剪目标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i="0" dirty="0">
                        <a:latin typeface="Cambria Math" panose="02040503050406030204" pitchFamily="18" charset="0"/>
                      </a:rPr>
                      <m:t>clip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ratio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,1−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,1+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对每个</a:t>
                </a:r>
                <a:r>
                  <a:rPr lang="en-US" altLang="zh-CN" dirty="0"/>
                  <a:t>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计算损失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ratio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626169-0345-7875-B990-D582A9865A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862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8A000-9359-4E8B-F6F7-50D0F840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GRPO</a:t>
            </a:r>
            <a:r>
              <a:rPr lang="zh-CN" altLang="en-US" dirty="0"/>
              <a:t>的完整循环流程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0DCACC-7EAD-E58B-4B62-C875C51C70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317475"/>
                <a:ext cx="10515600" cy="18594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KL</a:t>
                </a:r>
                <a:r>
                  <a:rPr lang="zh-CN" altLang="en-US" dirty="0"/>
                  <a:t>散度近似为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𝔻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𝕂𝕃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||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0DCACC-7EAD-E58B-4B62-C875C51C70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317475"/>
                <a:ext cx="10515600" cy="1859487"/>
              </a:xfrm>
              <a:blipFill>
                <a:blip r:embed="rId2"/>
                <a:stretch>
                  <a:fillRect l="-1217" t="-5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5EFE4568-8BB2-A580-4917-5C3793970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6066"/>
            <a:ext cx="12192000" cy="14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5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F7D23D-D45B-1866-485D-62E275A6E0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08975"/>
                <a:ext cx="10515600" cy="3567987"/>
              </a:xfrm>
            </p:spPr>
            <p:txBody>
              <a:bodyPr/>
              <a:lstStyle/>
              <a:p>
                <a:r>
                  <a:rPr lang="en-US" altLang="zh-CN" dirty="0"/>
                  <a:t>k1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/>
                  <a:t>   log⁡</a:t>
                </a:r>
                <a:r>
                  <a:rPr lang="zh-CN" altLang="en-US" dirty="0"/>
                  <a:t>𝜋 −</a:t>
                </a:r>
                <a:r>
                  <a:rPr lang="en-US" altLang="zh-CN" dirty="0"/>
                  <a:t>log⁡</a:t>
                </a:r>
                <a:r>
                  <a:rPr lang="zh-CN" altLang="en-US" dirty="0"/>
                  <a:t>𝜋𝑟𝑒𝑓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:r>
                  <a:rPr lang="en-US" altLang="zh-CN" dirty="0" err="1"/>
                  <a:t>logprob</a:t>
                </a:r>
                <a:r>
                  <a:rPr lang="en-US" altLang="zh-CN" dirty="0"/>
                  <a:t> - </a:t>
                </a:r>
                <a:r>
                  <a:rPr lang="en-US" altLang="zh-CN" dirty="0" err="1"/>
                  <a:t>ref_logprob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无偏，求期望后等于真实</a:t>
                </a:r>
                <a:r>
                  <a:rPr lang="en-US" altLang="zh-CN" dirty="0"/>
                  <a:t>KL</a:t>
                </a:r>
                <a:r>
                  <a:rPr lang="zh-CN" altLang="en-US" dirty="0"/>
                  <a:t>散度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方差大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F7D23D-D45B-1866-485D-62E275A6E0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08975"/>
                <a:ext cx="10515600" cy="3567987"/>
              </a:xfrm>
              <a:blipFill>
                <a:blip r:embed="rId2"/>
                <a:stretch>
                  <a:fillRect l="-1043" t="-3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422533F-143B-0079-5ED4-039DD8110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8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25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D2838-CEDD-261A-2FBB-FF538FA79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3DDFC3-3670-E2C3-5061-A049BFC9EB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08975"/>
                <a:ext cx="10515600" cy="3567987"/>
              </a:xfrm>
            </p:spPr>
            <p:txBody>
              <a:bodyPr/>
              <a:lstStyle/>
              <a:p>
                <a:r>
                  <a:rPr lang="en-US" altLang="zh-CN" dirty="0"/>
                  <a:t>k2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0.5 * (</a:t>
                </a:r>
                <a:r>
                  <a:rPr lang="en-US" altLang="zh-CN" dirty="0" err="1"/>
                  <a:t>logprob</a:t>
                </a:r>
                <a:r>
                  <a:rPr lang="en-US" altLang="zh-CN" dirty="0"/>
                  <a:t> - </a:t>
                </a:r>
                <a:r>
                  <a:rPr lang="en-US" altLang="zh-CN" dirty="0" err="1"/>
                  <a:t>ref_logprob</a:t>
                </a:r>
                <a:r>
                  <a:rPr lang="en-US" altLang="zh-CN" dirty="0"/>
                  <a:t>).square()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数值上有偏，方差较低</a:t>
                </a:r>
                <a:r>
                  <a:rPr lang="en-US" altLang="zh-CN" dirty="0"/>
                  <a:t>	 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3DDFC3-3670-E2C3-5061-A049BFC9E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08975"/>
                <a:ext cx="10515600" cy="3567987"/>
              </a:xfrm>
              <a:blipFill>
                <a:blip r:embed="rId2"/>
                <a:stretch>
                  <a:fillRect l="-1043" t="-3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EDE28C8-4C41-9DBC-B357-85BC09058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8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5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C7F9-F7F7-3CAC-FD2F-39DF5AC9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6AD544-9C3C-B929-8098-0A0534C4D3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08975"/>
                <a:ext cx="10515600" cy="402749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k3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数值上无偏，且方差极小</a:t>
                </a:r>
                <a:endParaRPr lang="en-US" altLang="zh-CN" dirty="0"/>
              </a:p>
              <a:p>
                <a:r>
                  <a:rPr lang="zh-CN" altLang="en-US" dirty="0"/>
                  <a:t>因此</a:t>
                </a:r>
                <a:r>
                  <a:rPr lang="en-US" altLang="zh-CN" dirty="0"/>
                  <a:t>Schulman</a:t>
                </a:r>
                <a:r>
                  <a:rPr lang="zh-CN" altLang="en-US" dirty="0"/>
                  <a:t>推荐</a:t>
                </a:r>
                <a:r>
                  <a:rPr lang="en-US" altLang="zh-CN" dirty="0"/>
                  <a:t>k3</a:t>
                </a:r>
                <a:r>
                  <a:rPr lang="zh-CN" altLang="en-US" dirty="0"/>
                  <a:t>估计器</a:t>
                </a:r>
                <a:endParaRPr lang="en-US" altLang="zh-CN" dirty="0"/>
              </a:p>
              <a:p>
                <a:r>
                  <a:rPr lang="zh-CN" altLang="en-US" dirty="0"/>
                  <a:t>因此</a:t>
                </a:r>
                <a:r>
                  <a:rPr lang="en-US" altLang="zh-CN" dirty="0"/>
                  <a:t>GRPO</a:t>
                </a:r>
                <a:r>
                  <a:rPr lang="zh-CN" altLang="en-US" dirty="0"/>
                  <a:t>原论文里用的就是</a:t>
                </a:r>
                <a:r>
                  <a:rPr lang="en-US" altLang="zh-CN" dirty="0"/>
                  <a:t>k3</a:t>
                </a:r>
                <a:r>
                  <a:rPr lang="zh-CN" altLang="en-US" dirty="0"/>
                  <a:t>估计器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−1−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另外一个好处是</a:t>
                </a:r>
                <a:r>
                  <a:rPr lang="en-US" altLang="zh-CN" dirty="0"/>
                  <a:t>k3</a:t>
                </a:r>
                <a:r>
                  <a:rPr lang="zh-CN" altLang="en-US" dirty="0"/>
                  <a:t>恒为正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6AD544-9C3C-B929-8098-0A0534C4D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08975"/>
                <a:ext cx="10515600" cy="4027495"/>
              </a:xfrm>
              <a:blipFill>
                <a:blip r:embed="rId2"/>
                <a:stretch>
                  <a:fillRect l="-1043" t="-2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1ED53F6A-FD09-7EFD-0556-FC48F7B18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8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7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9207A-A06D-B12E-7D11-E71D2C9F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GRPO</a:t>
            </a:r>
            <a:r>
              <a:rPr lang="zh-CN" altLang="en-US" dirty="0"/>
              <a:t>时代 </a:t>
            </a:r>
            <a:r>
              <a:rPr lang="en-US" altLang="zh-CN" dirty="0"/>
              <a:t>KL</a:t>
            </a:r>
            <a:r>
              <a:rPr lang="zh-CN" altLang="en-US" dirty="0"/>
              <a:t>散度被加到</a:t>
            </a:r>
            <a:r>
              <a:rPr lang="en-US" altLang="zh-CN" dirty="0"/>
              <a:t>loss</a:t>
            </a:r>
            <a:r>
              <a:rPr lang="zh-CN" altLang="en-US" dirty="0"/>
              <a:t>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AFC64E-039F-DDD6-2F0B-43D64A93E4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486740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不仅需要关注</a:t>
                </a:r>
                <a:r>
                  <a:rPr lang="en-US" altLang="zh-CN" dirty="0"/>
                  <a:t>KL</a:t>
                </a:r>
                <a:r>
                  <a:rPr lang="zh-CN" altLang="en-US" dirty="0"/>
                  <a:t>散度估计器在数值上的准确性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还需要关注估计器的梯度是否足够准确</a:t>
                </a:r>
                <a:endParaRPr lang="en-US" altLang="zh-CN" dirty="0"/>
              </a:p>
              <a:p>
                <a:r>
                  <a:rPr lang="en-US" altLang="zh-CN" dirty="0"/>
                  <a:t>k3</a:t>
                </a:r>
                <a:r>
                  <a:rPr lang="zh-CN" altLang="en-US" dirty="0"/>
                  <a:t>估计器的梯度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−1−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AFC64E-039F-DDD6-2F0B-43D64A93E4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4867406"/>
              </a:xfrm>
              <a:blipFill>
                <a:blip r:embed="rId2"/>
                <a:stretch>
                  <a:fillRect l="-913" t="-2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46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5C9299D-0B4E-CCFB-13BE-1BA7A6EF94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55398" y="365125"/>
                <a:ext cx="11218682" cy="132556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𝕩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𝕩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br>
                  <a:rPr lang="zh-CN" altLang="en-US" dirty="0"/>
                </a:br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5C9299D-0B4E-CCFB-13BE-1BA7A6EF9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55398" y="365125"/>
                <a:ext cx="11218682" cy="1325563"/>
              </a:xfrm>
              <a:blipFill>
                <a:blip r:embed="rId2"/>
                <a:stretch>
                  <a:fillRect t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B905E5-3A2E-0FD5-5408-11882AA15D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077280" cy="473543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KL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||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𝕩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k2</a:t>
                </a:r>
                <a:r>
                  <a:rPr lang="zh-CN" altLang="en-US" dirty="0"/>
                  <a:t>估计器有偏，但梯度与真实</a:t>
                </a:r>
                <a:r>
                  <a:rPr lang="en-US" altLang="zh-CN" dirty="0"/>
                  <a:t>KL</a:t>
                </a:r>
                <a:r>
                  <a:rPr lang="zh-CN" altLang="en-US" dirty="0"/>
                  <a:t>散度梯度一致</a:t>
                </a:r>
                <a:endParaRPr lang="en-US" altLang="zh-CN" dirty="0"/>
              </a:p>
              <a:p>
                <a:r>
                  <a:rPr lang="en-US" altLang="zh-CN" dirty="0"/>
                  <a:t>k3</a:t>
                </a:r>
                <a:r>
                  <a:rPr lang="zh-CN" altLang="en-US" dirty="0"/>
                  <a:t>估计器无偏，但期望梯度不准</a:t>
                </a:r>
                <a:endParaRPr lang="en-US" altLang="zh-CN" dirty="0"/>
              </a:p>
              <a:p>
                <a:r>
                  <a:rPr lang="en-US" altLang="zh-CN" dirty="0"/>
                  <a:t>straight-through 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(k3+)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前向传播用</a:t>
                </a:r>
                <a:r>
                  <a:rPr lang="en-US" altLang="zh-CN" dirty="0"/>
                  <a:t>k3</a:t>
                </a:r>
                <a:r>
                  <a:rPr lang="zh-CN" altLang="en-US" dirty="0"/>
                  <a:t>，反向传播用</a:t>
                </a:r>
                <a:r>
                  <a:rPr lang="en-US" altLang="zh-CN" dirty="0"/>
                  <a:t>k2</a:t>
                </a:r>
              </a:p>
              <a:p>
                <a:pPr marL="0" indent="0">
                  <a:buNone/>
                </a:pP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forward_score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 = </a:t>
                </a: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kl_penalty_forward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(</a:t>
                </a: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logprob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, </a:t>
                </a: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ref_logprob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, </a:t>
                </a: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kl_penalty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backward_score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 = 0.5 * (</a:t>
                </a: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logprob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 - </a:t>
                </a: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ref_logprob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).square() </a:t>
                </a:r>
              </a:p>
              <a:p>
                <a:pPr marL="0" indent="0">
                  <a:buNone/>
                </a:pP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return </a:t>
                </a: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backward_score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 - </a:t>
                </a: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backward_score.detach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() + </a:t>
                </a:r>
                <a:r>
                  <a:rPr lang="en-US" altLang="zh-CN" sz="1800" dirty="0" err="1">
                    <a:latin typeface="Gungsuh" panose="02030600000101010101" pitchFamily="18" charset="-127"/>
                    <a:ea typeface="Gungsuh" panose="02030600000101010101" pitchFamily="18" charset="-127"/>
                  </a:rPr>
                  <a:t>forward_score.detach</a:t>
                </a:r>
                <a:r>
                  <a:rPr lang="en-US" altLang="zh-CN" sz="1800" dirty="0">
                    <a:latin typeface="Gungsuh" panose="02030600000101010101" pitchFamily="18" charset="-127"/>
                    <a:ea typeface="Gungsuh" panose="02030600000101010101" pitchFamily="18" charset="-127"/>
                  </a:rPr>
                  <a:t>()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这样前向传播和反向传播就同时准确了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B905E5-3A2E-0FD5-5408-11882AA15D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077280" cy="4735431"/>
              </a:xfrm>
              <a:blipFill>
                <a:blip r:embed="rId3"/>
                <a:stretch>
                  <a:fillRect l="-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45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4023</TotalTime>
  <Words>945</Words>
  <Application>Microsoft Office PowerPoint</Application>
  <PresentationFormat>宽屏</PresentationFormat>
  <Paragraphs>121</Paragraphs>
  <Slides>22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Gungsuh</vt:lpstr>
      <vt:lpstr>等线</vt:lpstr>
      <vt:lpstr>等线 Light</vt:lpstr>
      <vt:lpstr>Arial</vt:lpstr>
      <vt:lpstr>Cambria Math</vt:lpstr>
      <vt:lpstr>Office 主题​​</vt:lpstr>
      <vt:lpstr>GRPO Group Relative Policy Optimization</vt:lpstr>
      <vt:lpstr>主要内容</vt:lpstr>
      <vt:lpstr>Group Relative Policy Optimization</vt:lpstr>
      <vt:lpstr>PowerPoint 演示文稿</vt:lpstr>
      <vt:lpstr>LLM是自回归条件分布</vt:lpstr>
      <vt:lpstr>PPO 多轮循环 更新模型</vt:lpstr>
      <vt:lpstr>PPO第二步</vt:lpstr>
      <vt:lpstr>PPO第三步</vt:lpstr>
      <vt:lpstr>PowerPoint 演示文稿</vt:lpstr>
      <vt:lpstr>PowerPoint 演示文稿</vt:lpstr>
      <vt:lpstr>PPO的两项问题</vt:lpstr>
      <vt:lpstr>Group Relative Policy Optimization</vt:lpstr>
      <vt:lpstr>GRPO的损失函数</vt:lpstr>
      <vt:lpstr>GRPO的完整循环流程</vt:lpstr>
      <vt:lpstr>GRPO的完整循环流程</vt:lpstr>
      <vt:lpstr>GRPO的完整循环流程</vt:lpstr>
      <vt:lpstr>GRPO的完整循环流程</vt:lpstr>
      <vt:lpstr>PowerPoint 演示文稿</vt:lpstr>
      <vt:lpstr>PowerPoint 演示文稿</vt:lpstr>
      <vt:lpstr>PowerPoint 演示文稿</vt:lpstr>
      <vt:lpstr>GRPO时代 KL散度被加到loss里</vt:lpstr>
      <vt:lpstr> E_(π_θ (x) ) [∇_θ k_3 (x)]=E_(π_θ (x) ) [-(π_"ref"  (x))/(π_θ (x) ) ∇_θ  log⁡〖π_θ (x)〗 ]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11</cp:revision>
  <dcterms:created xsi:type="dcterms:W3CDTF">2026-02-19T03:49:06Z</dcterms:created>
  <dcterms:modified xsi:type="dcterms:W3CDTF">2026-03-04T08:42:24Z</dcterms:modified>
</cp:coreProperties>
</file>