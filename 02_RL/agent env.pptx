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3" r:id="rId6"/>
    <p:sldId id="261" r:id="rId7"/>
    <p:sldId id="264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2047-DAAC-466D-A093-4B296F4C3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BB935-ECDB-BFEF-D803-A502AF86D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0E3C3-3C36-891C-285A-99D9ADFF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902ED-308C-48AA-379F-D946E188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DB42E-99CF-089D-5EAF-DFA08BF6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20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2AB4-755C-E3AD-8EFD-AC0F866FA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75402-A9C5-477C-6171-A10448D58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44120-DE3D-8164-0588-1548BA6D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71EE6-D699-2623-EE39-3DC0B2EE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4FB9D-45C4-78B2-60F9-0EC4FBA2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27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1116-8B27-AB8B-EC59-A4BA7BB8A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21AC7-A10A-CA10-5791-F4DA2A384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C28FD-DC5B-7EBE-E226-CCB289057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3EDC7-7FAA-9B1A-B105-6AF6C07E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844D6-EC2F-9574-EF33-97618987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268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C4CA9-547E-F80E-86C5-4CADD474F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5E466-DCAD-B8CC-D0F4-5C1037292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74655-8ED5-4524-A805-B26C332EF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6FBEC-BF76-E589-496C-6015D7F6A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13562-F772-35A6-2DF2-B39C7145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2F493-409B-2EED-D6D7-14CE2C9E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2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D600-1783-3D18-6016-79CD69DC2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852E3-6714-165F-3121-2C7C7D9A1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AF83E-DC5C-DBF8-E2CA-1E762CE9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1A1CD-B39A-A2A4-1C9C-B9F2A0417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E8AA12-1DA5-2F47-6580-4566D1DF7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22963F-016F-A2FA-DD7C-888B72C84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6869D-B780-74CA-9626-91B70154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939FEE-3509-EE56-96D8-5F50846F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277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BE1A-622A-8B20-775D-3B5B5D55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96281F-26E7-2031-B03B-3FBEF66D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0E3B7-FC1F-EEFC-D346-68431101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74512-28C5-BFE3-ED0F-B295061E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0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02F79-75BD-DFB2-9B78-4F21472C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E154E5-65DE-97F4-041C-C887BBD1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170EC-7F2B-C0D6-147A-20F64BAC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551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0E807-DD5D-C4D4-BF48-5A7E32FF2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D7DA8-0CBD-3318-3202-495ED1C23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C7ED3-BBFE-BBC9-536C-71F888346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566C2-07FE-C1A8-002C-0D3C57131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BF642-0FA1-9539-F217-F309ABAA7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DB968-D83D-A13B-5858-728079F8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835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FFCF8-1A6E-E3A3-EBC6-3B569F301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A9AF5-2634-D229-6357-22522A26925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FD9D9-8965-CB4F-B83B-EC21ED439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CDDCD-4AEF-C572-73AB-1C753F72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AB251-F87B-B715-9D04-2B75596DC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F7830-505D-DBD7-D56E-3540FF89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067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60CC-199C-90E9-91AE-80552B766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2285B-441A-A605-EAE0-27B1E98A2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564CD-2803-25E9-19E5-B01C62150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B5F0F-230B-7884-A8BB-2DE8B9E4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8CA63-FB87-CF63-0D04-901624A11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57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A4B851-DC61-CA45-BB33-6AE401AE4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0E9CB-2EB7-BB20-6117-4A21D60EF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0CC3E-A5BB-E517-1352-1ABD381A0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CA1B5-37C4-23A6-27FE-647D8351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6836C-40A8-15EF-7CD9-B83F4E63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16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BEBF96-1D26-7C74-EB21-F45DC9C9B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4979F-C508-7383-7EA2-B8DEEB9B2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82006-89F8-79F1-859A-B61F9F6BE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F2DD2-BB41-46FB-ABA6-E55BB457C706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C462E-25F7-1D77-8CEE-92741DFE8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BD769-E0CD-7480-0DF5-2592AAB4A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CFDA4-B880-4826-865A-D69AB0B40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1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jxzhangjhu.github.io/blog/2026/environment-scaling-for-agentic-rl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12.22857" TargetMode="External"/><Relationship Id="rId2" Type="http://schemas.openxmlformats.org/officeDocument/2006/relationships/hyperlink" Target="https://arxiv.org/abs/2509.1331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5.18703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5.18703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rxiv.org/abs/2602.1009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4.07164" TargetMode="External"/><Relationship Id="rId2" Type="http://schemas.openxmlformats.org/officeDocument/2006/relationships/hyperlink" Target="https://arxiv.org/abs/2509.1331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601.16443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5.05112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5.05112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C88D-C000-40B9-6DAC-B1E2019A51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agent env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B80E8-7AF9-BC72-55FF-340735B41E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赵钰哲</a:t>
            </a:r>
          </a:p>
        </p:txBody>
      </p:sp>
    </p:spTree>
    <p:extLst>
      <p:ext uri="{BB962C8B-B14F-4D97-AF65-F5344CB8AC3E}">
        <p14:creationId xmlns:p14="http://schemas.microsoft.com/office/powerpoint/2010/main" val="2895404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AFDAC-6E68-B62D-3F15-00DB9536F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4"/>
            <a:ext cx="10515600" cy="1530317"/>
          </a:xfrm>
        </p:spPr>
        <p:txBody>
          <a:bodyPr/>
          <a:lstStyle/>
          <a:p>
            <a:r>
              <a:rPr lang="en-US" altLang="zh-CN" dirty="0"/>
              <a:t>agentic bench</a:t>
            </a:r>
            <a:r>
              <a:rPr lang="zh-CN" altLang="en-US" dirty="0"/>
              <a:t>为评测而建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但训练</a:t>
            </a:r>
            <a:r>
              <a:rPr lang="en-US" altLang="zh-CN" dirty="0"/>
              <a:t>agent</a:t>
            </a:r>
            <a:r>
              <a:rPr lang="zh-CN" altLang="en-US" dirty="0"/>
              <a:t>能力需要足够多的交互</a:t>
            </a:r>
            <a:r>
              <a:rPr lang="en-US" altLang="zh-CN" dirty="0"/>
              <a:t>feedback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因此需要合成环境 用来：评测 训练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38647-876D-0320-F7D0-CC41240D290E}"/>
              </a:ext>
            </a:extLst>
          </p:cNvPr>
          <p:cNvSpPr txBox="1"/>
          <p:nvPr/>
        </p:nvSpPr>
        <p:spPr>
          <a:xfrm>
            <a:off x="9479438" y="41959"/>
            <a:ext cx="2712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2"/>
              </a:rPr>
              <a:t>Environment Scaling for Agentic RL | Jiaxin Zhang</a:t>
            </a:r>
            <a:endParaRPr lang="zh-CN" alt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F97EC3-3371-DE3C-273C-8C0EB91A7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707" y="1895441"/>
            <a:ext cx="9068586" cy="454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0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816E-446C-9650-A227-A1C385317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生成环境的</a:t>
            </a:r>
            <a:r>
              <a:rPr lang="en-US" altLang="zh-CN" dirty="0"/>
              <a:t>pipeline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AEDB6-8F41-136F-CC79-B1E83FF33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19" y="1976522"/>
            <a:ext cx="11457561" cy="376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3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BFBC7-2F95-CDE3-35F8-40B9C55CC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853266"/>
            <a:ext cx="10515600" cy="3877733"/>
          </a:xfrm>
        </p:spPr>
        <p:txBody>
          <a:bodyPr/>
          <a:lstStyle/>
          <a:p>
            <a:r>
              <a:rPr lang="zh-CN" altLang="en-US" dirty="0"/>
              <a:t>状态变量、规则、工具作为</a:t>
            </a:r>
            <a:r>
              <a:rPr lang="en-US" altLang="zh-CN" dirty="0"/>
              <a:t>skeleton</a:t>
            </a:r>
            <a:r>
              <a:rPr lang="zh-CN" altLang="en-US" dirty="0"/>
              <a:t>，在上面实例化具体任务</a:t>
            </a:r>
            <a:endParaRPr lang="en-US" altLang="zh-CN" dirty="0"/>
          </a:p>
          <a:p>
            <a:r>
              <a:rPr lang="zh-CN" altLang="en-US" dirty="0"/>
              <a:t>把工具看成一张图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只要一个工具的输出能喂给另一个的输入就连一条边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然后</a:t>
            </a:r>
            <a:r>
              <a:rPr lang="zh-CN" altLang="en-US" dirty="0"/>
              <a:t>在</a:t>
            </a:r>
            <a:r>
              <a:rPr lang="en-US" altLang="zh-CN" dirty="0"/>
              <a:t>tool-graph</a:t>
            </a:r>
            <a:r>
              <a:rPr lang="zh-CN" altLang="en-US" dirty="0"/>
              <a:t>上</a:t>
            </a:r>
            <a:r>
              <a:rPr lang="zh-CN" altLang="zh-CN" dirty="0"/>
              <a:t>做随机游走得到连贯的多步任务</a:t>
            </a:r>
            <a:endParaRPr lang="zh-CN" altLang="en-US" dirty="0"/>
          </a:p>
          <a:p>
            <a:r>
              <a:rPr lang="en-US" altLang="zh-CN" dirty="0" err="1"/>
              <a:t>AutoForge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在随机游走的序列里加入单向推理节点来提高难度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47479-6668-578D-5E4C-85B78D79AD6B}"/>
              </a:ext>
            </a:extLst>
          </p:cNvPr>
          <p:cNvSpPr txBox="1"/>
          <p:nvPr/>
        </p:nvSpPr>
        <p:spPr>
          <a:xfrm>
            <a:off x="9203266" y="0"/>
            <a:ext cx="2988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2"/>
              </a:rPr>
              <a:t>[2509.13311] Towards General Agentic Intelligence via Environment Scaling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1E8D4D-F98E-06A7-4AE2-BD1C4AF587A6}"/>
              </a:ext>
            </a:extLst>
          </p:cNvPr>
          <p:cNvSpPr txBox="1"/>
          <p:nvPr/>
        </p:nvSpPr>
        <p:spPr>
          <a:xfrm>
            <a:off x="9203266" y="923330"/>
            <a:ext cx="2730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3"/>
              </a:rPr>
              <a:t>[2512.22857] AutoForge: Automated Environment Synthesis for Agentic Reinforcement Learning</a:t>
            </a:r>
            <a:endParaRPr lang="zh-CN" alt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425C74E-08D4-5F25-D983-6D7BE8F6F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Generate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534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F323-709C-AB46-119B-CD21FCD45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AutoForge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6E6B5E-47EF-DB66-C91A-340021311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725" y="1517197"/>
            <a:ext cx="9876550" cy="517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587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440C12-E2AD-0C5A-4FA7-6B3965996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" y="875158"/>
            <a:ext cx="12132733" cy="51076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31EE58-DE4F-6898-988C-BF93D616F382}"/>
              </a:ext>
            </a:extLst>
          </p:cNvPr>
          <p:cNvSpPr txBox="1"/>
          <p:nvPr/>
        </p:nvSpPr>
        <p:spPr>
          <a:xfrm>
            <a:off x="6887633" y="0"/>
            <a:ext cx="5274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3"/>
              </a:rPr>
              <a:t>EnvFactory: Scaling Tool-Use Agents via Executable Environments Synthesis and Robust RL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227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0B91D6-DD92-8D8A-D671-A1AF5EE19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266" y="1129505"/>
            <a:ext cx="8233720" cy="36626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6867FF-67E9-8BC8-B93F-EBBCC71AD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EnvFactory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2CA34-D511-961C-0132-115119210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92132"/>
            <a:ext cx="10515600" cy="1858963"/>
          </a:xfrm>
        </p:spPr>
        <p:txBody>
          <a:bodyPr/>
          <a:lstStyle/>
          <a:p>
            <a:r>
              <a:rPr lang="zh-CN" altLang="zh-CN" dirty="0"/>
              <a:t>在选取某个工具前先解析它的输入依赖，产出合法的非线性链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如果输入有依赖，就补齐再继续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79DE3F-7860-C144-65C0-70AA6EEF519D}"/>
              </a:ext>
            </a:extLst>
          </p:cNvPr>
          <p:cNvSpPr txBox="1"/>
          <p:nvPr/>
        </p:nvSpPr>
        <p:spPr>
          <a:xfrm>
            <a:off x="8407400" y="0"/>
            <a:ext cx="37253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3"/>
              </a:rPr>
              <a:t>EnvFactory: Scaling Tool-Use Agents via Executable Environments Synthesis and Robust RL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815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86EE-EC88-2098-D88C-D6A4FE52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Build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6189-336C-8D3A-652A-4886A9DEA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225"/>
            <a:ext cx="10515600" cy="1391708"/>
          </a:xfrm>
        </p:spPr>
        <p:txBody>
          <a:bodyPr/>
          <a:lstStyle/>
          <a:p>
            <a:r>
              <a:rPr lang="zh-CN" altLang="en-US" dirty="0"/>
              <a:t>产出 容器 数据库</a:t>
            </a:r>
            <a:r>
              <a:rPr lang="en-US" altLang="zh-CN" dirty="0"/>
              <a:t>schema </a:t>
            </a:r>
            <a:r>
              <a:rPr lang="zh-CN" altLang="en-US" dirty="0"/>
              <a:t>种子数据 可执行的工具 初始状态检查</a:t>
            </a:r>
            <a:endParaRPr lang="en-US" altLang="zh-CN" dirty="0"/>
          </a:p>
          <a:p>
            <a:r>
              <a:rPr lang="en-US" altLang="zh-CN" dirty="0"/>
              <a:t>LLM</a:t>
            </a:r>
            <a:r>
              <a:rPr lang="zh-CN" altLang="en-US" dirty="0"/>
              <a:t>带修复循环：</a:t>
            </a:r>
            <a:r>
              <a:rPr lang="zh-CN" altLang="zh-CN" dirty="0"/>
              <a:t>生成代码、尝试构建并运行、把任何构建测试报错喂回给模型、最多重试</a:t>
            </a:r>
            <a:r>
              <a:rPr lang="en-US" altLang="zh-CN" dirty="0"/>
              <a:t>k</a:t>
            </a:r>
            <a:r>
              <a:rPr lang="zh-CN" altLang="zh-CN" dirty="0"/>
              <a:t>次；永远构建不起来的就丢掉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C35D7-6175-ED7C-5BB6-9C834729AEA4}"/>
              </a:ext>
            </a:extLst>
          </p:cNvPr>
          <p:cNvSpPr txBox="1"/>
          <p:nvPr/>
        </p:nvSpPr>
        <p:spPr>
          <a:xfrm>
            <a:off x="6951133" y="0"/>
            <a:ext cx="5240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2"/>
              </a:rPr>
              <a:t>[2602.10090] Agent World Model: Infinity Synthetic Environments for Agentic Reinforcement Learning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EBBEA1-5DC7-CD46-24E3-085DAFAA5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583" y="3191933"/>
            <a:ext cx="8360834" cy="357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6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8281-E73C-D221-FFC2-B8331485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环境里任务的</a:t>
            </a:r>
            <a:r>
              <a:rPr lang="en-US" altLang="zh-CN" dirty="0"/>
              <a:t>Verify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58FFF-F33E-50DD-F84B-87A2F1F45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59175"/>
          </a:xfrm>
        </p:spPr>
        <p:txBody>
          <a:bodyPr>
            <a:normAutofit/>
          </a:bodyPr>
          <a:lstStyle/>
          <a:p>
            <a:r>
              <a:rPr lang="zh-CN" altLang="zh-CN" dirty="0"/>
              <a:t>执行测试 — 针对文件、进程、输出的断言</a:t>
            </a:r>
            <a:endParaRPr lang="en-US" altLang="zh-CN" dirty="0"/>
          </a:p>
          <a:p>
            <a:r>
              <a:rPr lang="zh-CN" altLang="zh-CN" dirty="0"/>
              <a:t>数据库末态比对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把后端存储与预期末态做 diff</a:t>
            </a:r>
            <a:r>
              <a:rPr lang="en-US" altLang="zh-CN" dirty="0"/>
              <a:t>  </a:t>
            </a:r>
            <a:r>
              <a:rPr lang="zh-CN" altLang="zh-CN" dirty="0">
                <a:hlinkClick r:id="rId2"/>
              </a:rPr>
              <a:t>AgentScaler</a:t>
            </a:r>
            <a:r>
              <a:rPr lang="zh-CN" altLang="zh-CN" dirty="0"/>
              <a:t>、AWM</a:t>
            </a:r>
            <a:endParaRPr lang="en-US" altLang="zh-CN" dirty="0"/>
          </a:p>
          <a:p>
            <a:r>
              <a:rPr lang="zh-CN" altLang="zh-CN" dirty="0"/>
              <a:t>Hybrid</a:t>
            </a:r>
            <a:r>
              <a:rPr lang="en-US" altLang="zh-CN" dirty="0"/>
              <a:t> </a:t>
            </a:r>
            <a:r>
              <a:rPr lang="zh-CN" altLang="zh-CN" dirty="0"/>
              <a:t>verifier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把跑测试与一个读取轨迹的学习型模型结合起来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对 test-time 选择很有用</a:t>
            </a:r>
            <a:r>
              <a:rPr lang="en-US" altLang="zh-CN" dirty="0"/>
              <a:t>  </a:t>
            </a:r>
            <a:r>
              <a:rPr lang="zh-CN" altLang="zh-CN" dirty="0">
                <a:hlinkClick r:id="rId3"/>
              </a:rPr>
              <a:t>R2E-Gym</a:t>
            </a:r>
            <a:endParaRPr lang="en-US" altLang="zh-CN" dirty="0"/>
          </a:p>
          <a:p>
            <a:r>
              <a:rPr lang="zh-CN" altLang="zh-CN" dirty="0"/>
              <a:t>Rubric / LLM-as-judge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D5C14-11A2-D569-68B7-B2D6EF794065}"/>
              </a:ext>
            </a:extLst>
          </p:cNvPr>
          <p:cNvSpPr txBox="1"/>
          <p:nvPr/>
        </p:nvSpPr>
        <p:spPr>
          <a:xfrm>
            <a:off x="9076267" y="0"/>
            <a:ext cx="31157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3"/>
              </a:rPr>
              <a:t>[2504.07164] R2E-Gym: Procedural Environments and Hybrid Verifiers for Scaling Open-Weights SWE Agents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2B8E7-868C-DEEC-4859-50390B28D742}"/>
              </a:ext>
            </a:extLst>
          </p:cNvPr>
          <p:cNvSpPr txBox="1"/>
          <p:nvPr/>
        </p:nvSpPr>
        <p:spPr>
          <a:xfrm>
            <a:off x="838200" y="5519737"/>
            <a:ext cx="96033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generator–verifier 不对称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容易验证的领域往往难以生成好任务，反之亦然</a:t>
            </a:r>
          </a:p>
        </p:txBody>
      </p:sp>
    </p:spTree>
    <p:extLst>
      <p:ext uri="{BB962C8B-B14F-4D97-AF65-F5344CB8AC3E}">
        <p14:creationId xmlns:p14="http://schemas.microsoft.com/office/powerpoint/2010/main" val="174773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B6CF-9615-8A8E-E545-C7DF2E93E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对合成的环境 </a:t>
            </a:r>
            <a:r>
              <a:rPr lang="en-US" altLang="zh-CN" dirty="0"/>
              <a:t>filter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BDD1C-2D1E-365B-5AAB-CD0C856BB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solvable  </a:t>
            </a:r>
            <a:r>
              <a:rPr lang="zh-CN" altLang="zh-CN" dirty="0"/>
              <a:t>强模型能取得非零成功率</a:t>
            </a:r>
            <a:r>
              <a:rPr lang="en-US" altLang="zh-CN" dirty="0"/>
              <a:t> </a:t>
            </a:r>
            <a:r>
              <a:rPr lang="zh-CN" altLang="zh-CN" dirty="0"/>
              <a:t>pass@16 &gt; 0</a:t>
            </a:r>
            <a:endParaRPr lang="en-US" altLang="zh-CN" dirty="0"/>
          </a:p>
          <a:p>
            <a:r>
              <a:rPr lang="en-US" altLang="zh-CN" dirty="0"/>
              <a:t>non-trivial  </a:t>
            </a:r>
            <a:r>
              <a:rPr lang="zh-CN" altLang="zh-CN" dirty="0"/>
              <a:t>不是所有模型都能一次答对</a:t>
            </a:r>
            <a:endParaRPr lang="en-US" altLang="zh-CN" dirty="0"/>
          </a:p>
          <a:p>
            <a:r>
              <a:rPr lang="en-US" altLang="zh-CN" dirty="0"/>
              <a:t>non-contaminated  </a:t>
            </a:r>
            <a:r>
              <a:rPr lang="zh-CN" altLang="en-US" dirty="0"/>
              <a:t>训练任务</a:t>
            </a:r>
            <a:r>
              <a:rPr lang="zh-CN" altLang="zh-CN" dirty="0"/>
              <a:t>不是评测 benchmark 的近似重复</a:t>
            </a:r>
            <a:endParaRPr lang="en-US" altLang="zh-CN" dirty="0"/>
          </a:p>
          <a:p>
            <a:r>
              <a:rPr lang="en-US" altLang="zh-CN" dirty="0"/>
              <a:t>trainable  </a:t>
            </a:r>
            <a:r>
              <a:rPr lang="zh-CN" altLang="en-US" dirty="0"/>
              <a:t>能产生可用梯度</a:t>
            </a:r>
            <a:endParaRPr lang="en-US" altLang="zh-CN" dirty="0"/>
          </a:p>
          <a:p>
            <a:r>
              <a:rPr lang="zh-CN" altLang="en-US" dirty="0"/>
              <a:t>丢弃太多会增加损耗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可以采用</a:t>
            </a:r>
            <a:r>
              <a:rPr lang="en-US" altLang="zh-CN" dirty="0"/>
              <a:t>AWM</a:t>
            </a:r>
            <a:r>
              <a:rPr lang="zh-CN" altLang="en-US" dirty="0"/>
              <a:t>的修复循环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让 &gt;85% 的环境一次构建成功（平均约 1.1 次尝试）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41732B-C217-B230-9573-0F172356391C}"/>
              </a:ext>
            </a:extLst>
          </p:cNvPr>
          <p:cNvSpPr txBox="1"/>
          <p:nvPr/>
        </p:nvSpPr>
        <p:spPr>
          <a:xfrm>
            <a:off x="7721600" y="230188"/>
            <a:ext cx="4207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2"/>
              </a:rPr>
              <a:t>[2601.16443] Endless Terminals: Scaling RL Environments for Terminal Agents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954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1C89D-69A8-758A-F69C-21DA430C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collect</a:t>
            </a:r>
            <a:r>
              <a:rPr lang="zh-CN" altLang="en-US" dirty="0"/>
              <a:t>轨迹   </a:t>
            </a:r>
            <a:r>
              <a:rPr lang="en-US" altLang="zh-CN" dirty="0"/>
              <a:t>&amp;   </a:t>
            </a:r>
            <a:r>
              <a:rPr lang="zh-CN" altLang="en-US" dirty="0"/>
              <a:t>训练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026BF-0C4A-AC9E-ABBE-E6228179F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224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强</a:t>
            </a:r>
            <a:r>
              <a:rPr lang="en-US" altLang="zh-CN" dirty="0"/>
              <a:t>teacher</a:t>
            </a:r>
            <a:r>
              <a:rPr lang="zh-CN" altLang="en-US" dirty="0"/>
              <a:t>对每个任务多次解答尝试</a:t>
            </a:r>
            <a:r>
              <a:rPr lang="en-US" altLang="zh-CN" dirty="0"/>
              <a:t> </a:t>
            </a:r>
            <a:r>
              <a:rPr lang="zh-CN" altLang="en-US" dirty="0"/>
              <a:t>保留成功的轨迹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轨迹作</a:t>
            </a:r>
            <a:r>
              <a:rPr lang="zh-CN" altLang="zh-CN" dirty="0"/>
              <a:t>dual-use</a:t>
            </a:r>
            <a:r>
              <a:rPr lang="en-US" altLang="zh-CN" dirty="0"/>
              <a:t> </a:t>
            </a:r>
            <a:r>
              <a:rPr lang="zh-CN" altLang="en-US" dirty="0"/>
              <a:t>同时用于</a:t>
            </a:r>
            <a:r>
              <a:rPr lang="en-US" altLang="zh-CN" dirty="0"/>
              <a:t>SFT</a:t>
            </a:r>
            <a:r>
              <a:rPr lang="zh-CN" altLang="en-US" dirty="0"/>
              <a:t>和</a:t>
            </a:r>
            <a:r>
              <a:rPr lang="en-US" altLang="zh-CN" dirty="0"/>
              <a:t>RL</a:t>
            </a:r>
          </a:p>
          <a:p>
            <a:r>
              <a:rPr lang="en-US" altLang="zh-CN" dirty="0"/>
              <a:t>SFT warm start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指令遵循，经过</a:t>
            </a:r>
            <a:r>
              <a:rPr lang="en-US" altLang="zh-CN" dirty="0"/>
              <a:t>SFT</a:t>
            </a:r>
            <a:r>
              <a:rPr lang="zh-CN" altLang="en-US" dirty="0"/>
              <a:t>后模型应输出</a:t>
            </a:r>
            <a:r>
              <a:rPr lang="zh-CN" altLang="zh-CN" dirty="0"/>
              <a:t>scaffold 的动作/观测格式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使模型能产出成功</a:t>
            </a:r>
            <a:r>
              <a:rPr lang="en-US" altLang="zh-CN" dirty="0"/>
              <a:t>rollout</a:t>
            </a:r>
            <a:r>
              <a:rPr lang="zh-CN" altLang="en-US" dirty="0"/>
              <a:t>以获得</a:t>
            </a:r>
            <a:r>
              <a:rPr lang="en-US" altLang="zh-CN" dirty="0"/>
              <a:t>RL</a:t>
            </a:r>
            <a:r>
              <a:rPr lang="zh-CN" altLang="en-US" dirty="0"/>
              <a:t>训练梯度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有</a:t>
            </a:r>
            <a:r>
              <a:rPr lang="en-US" altLang="zh-CN" dirty="0"/>
              <a:t>SFT</a:t>
            </a:r>
            <a:r>
              <a:rPr lang="zh-CN" altLang="en-US" dirty="0"/>
              <a:t>学会</a:t>
            </a:r>
            <a:r>
              <a:rPr lang="en-US" altLang="zh-CN" dirty="0"/>
              <a:t>scaffold</a:t>
            </a:r>
            <a:r>
              <a:rPr lang="zh-CN" altLang="en-US" dirty="0"/>
              <a:t>会好得多，</a:t>
            </a:r>
            <a:r>
              <a:rPr lang="en-US" altLang="zh-CN" dirty="0"/>
              <a:t>RL</a:t>
            </a:r>
            <a:r>
              <a:rPr lang="zh-CN" altLang="en-US" dirty="0"/>
              <a:t>冷启动几乎无效</a:t>
            </a:r>
            <a:endParaRPr lang="en-US" altLang="zh-CN" dirty="0"/>
          </a:p>
          <a:p>
            <a:r>
              <a:rPr lang="en-US" altLang="zh-CN" dirty="0"/>
              <a:t>RL </a:t>
            </a:r>
          </a:p>
          <a:p>
            <a:pPr marL="0" indent="0">
              <a:buNone/>
            </a:pPr>
            <a:r>
              <a:rPr lang="en-US" altLang="zh-CN" dirty="0"/>
              <a:t>	PPO GRPO  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关键在防止</a:t>
            </a:r>
            <a:r>
              <a:rPr lang="zh-CN" altLang="zh-CN" dirty="0"/>
              <a:t>一个抖动的被模拟用户或一个坏环境主导更新（例如屏蔽那些因被模拟用户行为不当而失败的 episode）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360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E3D752-D15A-E628-18CC-3AD5A4577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100"/>
            <a:ext cx="12192000" cy="621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4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A5A5-744B-C10E-6EB7-147DD154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四个判据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FE8DB6-7374-CD5D-B3B2-77596A9F62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i="1"/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/>
                            </m:ctrlPr>
                          </m:mPr>
                          <m:mr>
                            <m:e>
                              <m:r>
                                <a:rPr lang="zh-CN" altLang="en-US" i="1"/>
                                <m:t>𝐻</m:t>
                              </m:r>
                              <m:d>
                                <m:dPr>
                                  <m:ctrlPr>
                                    <a:rPr lang="zh-CN" altLang="en-US" i="1"/>
                                  </m:ctrlPr>
                                </m:dPr>
                                <m:e>
                                  <m:r>
                                    <a:rPr lang="zh-CN" altLang="en-US" i="1"/>
                                    <m:t>𝑝</m:t>
                                  </m:r>
                                </m:e>
                              </m:d>
                              <m:r>
                                <a:rPr lang="zh-CN" altLang="en-US"/>
                                <m:t>=−</m:t>
                              </m:r>
                              <m:r>
                                <a:rPr lang="zh-CN" altLang="en-US" i="1"/>
                                <m:t>𝑝</m:t>
                              </m:r>
                              <m:func>
                                <m:funcPr>
                                  <m:ctrlPr>
                                    <a:rPr lang="zh-CN" altLang="en-US" i="1"/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/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/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zh-CN" altLang="en-US"/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i="1"/>
                                    <m:t>𝑝</m:t>
                                  </m:r>
                                </m:e>
                              </m:func>
                              <m:r>
                                <a:rPr lang="zh-CN" altLang="en-US"/>
                                <m:t>−</m:t>
                              </m:r>
                              <m:d>
                                <m:dPr>
                                  <m:ctrlPr>
                                    <a:rPr lang="zh-CN" altLang="en-US"/>
                                  </m:ctrlPr>
                                </m:dPr>
                                <m:e>
                                  <m:r>
                                    <a:rPr lang="zh-CN" altLang="en-US"/>
                                    <m:t>1−</m:t>
                                  </m:r>
                                  <m:r>
                                    <a:rPr lang="zh-CN" altLang="en-US" i="1"/>
                                    <m:t>𝑝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zh-CN" altLang="en-US" i="1"/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/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/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zh-CN" altLang="en-US"/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zh-CN" altLang="en-US"/>
                                      </m:ctrlPr>
                                    </m:dPr>
                                    <m:e>
                                      <m:r>
                                        <a:rPr lang="zh-CN" altLang="en-US"/>
                                        <m:t>1−</m:t>
                                      </m:r>
                                      <m:r>
                                        <a:rPr lang="zh-CN" altLang="en-US" i="1"/>
                                        <m:t>𝑝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zh-CN" altLang="en-US"/>
                                <m:t>,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zh-CN" altLang="en-US"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/>
                                    <m:t>arg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zh-CN" altLang="en-US" i="1"/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zh-CN" altLang="en-US"/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/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zh-CN" altLang="en-US" i="1"/>
                                            <m:t>𝑝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r>
                                        <a:rPr lang="zh-CN" altLang="en-US" i="1"/>
                                        <m:t>𝐻</m:t>
                                      </m:r>
                                      <m:d>
                                        <m:dPr>
                                          <m:ctrlPr>
                                            <a:rPr lang="zh-CN" altLang="en-US" i="1"/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/>
                                            <m:t>𝑝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  <m:r>
                                <a:rPr lang="zh-CN" altLang="en-US"/>
                                <m:t>=0.5</m:t>
                              </m:r>
                              <m:r>
                                <a:rPr lang="zh-CN" altLang="en-US" i="1" smtClean="0"/>
                                <m:t> 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CN" altLang="en-US" i="1"/>
                                  </m:ctrlPr>
                                </m:sSubPr>
                                <m:e>
                                  <m:r>
                                    <a:rPr lang="zh-CN" altLang="en-US" i="1"/>
                                    <m:t>𝑆</m:t>
                                  </m:r>
                                </m:e>
                                <m:sub>
                                  <m:r>
                                    <a:rPr lang="zh-CN" altLang="en-US" i="1"/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i="1"/>
                                  </m:ctrlPr>
                                </m:dPr>
                                <m:e>
                                  <m:r>
                                    <a:rPr lang="zh-CN" altLang="en-US" i="1"/>
                                    <m:t>𝑝</m:t>
                                  </m:r>
                                </m:e>
                              </m:d>
                              <m:r>
                                <a:rPr lang="zh-CN" altLang="en-US"/>
                                <m:t>=</m:t>
                              </m:r>
                              <m:func>
                                <m:funcPr>
                                  <m:ctrlPr>
                                    <a:rPr lang="zh-CN" altLang="en-US"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/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zh-CN" altLang="en-US"/>
                                      </m:ctrlPr>
                                    </m:dPr>
                                    <m:e>
                                      <m:r>
                                        <a:rPr lang="zh-CN" altLang="en-US"/>
                                        <m:t>0&lt;</m:t>
                                      </m:r>
                                      <m:r>
                                        <a:rPr lang="zh-CN" altLang="en-US" i="1"/>
                                        <m:t>𝐾</m:t>
                                      </m:r>
                                      <m:r>
                                        <a:rPr lang="zh-CN" altLang="en-US"/>
                                        <m:t>&lt;</m:t>
                                      </m:r>
                                      <m:r>
                                        <a:rPr lang="zh-CN" altLang="en-US" i="1"/>
                                        <m:t>𝑁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zh-CN" altLang="en-US"/>
                                <m:t>=1−</m:t>
                              </m:r>
                              <m:sSup>
                                <m:sSupPr>
                                  <m:ctrlPr>
                                    <a:rPr lang="zh-CN" altLang="en-US" i="1"/>
                                  </m:ctrlPr>
                                </m:sSupPr>
                                <m:e>
                                  <m:r>
                                    <a:rPr lang="zh-CN" altLang="en-US" i="1"/>
                                    <m:t>𝑝</m:t>
                                  </m:r>
                                </m:e>
                                <m:sup>
                                  <m:r>
                                    <a:rPr lang="zh-CN" altLang="en-US" i="1"/>
                                    <m:t>𝑁</m:t>
                                  </m:r>
                                </m:sup>
                              </m:sSup>
                              <m:r>
                                <a:rPr lang="zh-CN" altLang="en-US"/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/>
                                      </m:ctrlPr>
                                    </m:dPr>
                                    <m:e>
                                      <m:r>
                                        <a:rPr lang="zh-CN" altLang="en-US"/>
                                        <m:t>1−</m:t>
                                      </m:r>
                                      <m:r>
                                        <a:rPr lang="zh-CN" altLang="en-US" i="1"/>
                                        <m:t>𝑝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i="1"/>
                                    <m:t>𝑁</m:t>
                                  </m:r>
                                </m:sup>
                              </m:sSup>
                              <m:r>
                                <a:rPr lang="zh-CN" altLang="en-US"/>
                                <m:t>,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zh-CN" altLang="en-US"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/>
                                    <m:t>arg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zh-CN" altLang="en-US" i="1"/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zh-CN" altLang="en-US"/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/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zh-CN" altLang="en-US" i="1"/>
                                            <m:t>𝑝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/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/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/>
                                            <m:t>𝑁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i="1"/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/>
                                            <m:t>𝑝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  <m:r>
                                <a:rPr lang="zh-CN" altLang="en-US"/>
                                <m:t>=0.5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CN" altLang="en-US" i="1"/>
                                  </m:ctrlPr>
                                </m:sSubPr>
                                <m:e>
                                  <m:r>
                                    <a:rPr lang="zh-CN" altLang="en-US" i="1"/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/>
                                    <m:t>RLOO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i="1"/>
                                  </m:ctrlPr>
                                </m:dPr>
                                <m:e>
                                  <m:r>
                                    <a:rPr lang="zh-CN" altLang="en-US" i="1"/>
                                    <m:t>𝑘</m:t>
                                  </m:r>
                                </m:e>
                              </m:d>
                              <m:r>
                                <a:rPr lang="zh-CN" altLang="en-US"/>
                                <m:t>=</m:t>
                              </m:r>
                              <m:f>
                                <m:fPr>
                                  <m:ctrlPr>
                                    <a:rPr lang="zh-CN" altLang="en-US" i="1"/>
                                  </m:ctrlPr>
                                </m:fPr>
                                <m:num>
                                  <m:r>
                                    <a:rPr lang="zh-CN" altLang="en-US" i="1"/>
                                    <m:t>𝑘</m:t>
                                  </m:r>
                                  <m:d>
                                    <m:dPr>
                                      <m:ctrlPr>
                                        <a:rPr lang="zh-CN" altLang="en-US" i="1"/>
                                      </m:ctrlPr>
                                    </m:dPr>
                                    <m:e>
                                      <m:r>
                                        <a:rPr lang="zh-CN" altLang="en-US" i="1"/>
                                        <m:t>𝑁</m:t>
                                      </m:r>
                                      <m:r>
                                        <a:rPr lang="zh-CN" altLang="en-US"/>
                                        <m:t>−</m:t>
                                      </m:r>
                                      <m:r>
                                        <a:rPr lang="zh-CN" altLang="en-US" i="1"/>
                                        <m:t>𝑘</m:t>
                                      </m:r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/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/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/>
                                            <m:t>𝑁</m:t>
                                          </m:r>
                                          <m:r>
                                            <a:rPr lang="zh-CN" altLang="en-US"/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/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zh-CN" altLang="en-US"/>
                                <m:t>,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zh-CN" altLang="en-US"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/>
                                    <m:t>arg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zh-CN" altLang="en-US" i="1"/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zh-CN" altLang="en-US"/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/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zh-CN" altLang="en-US" i="1"/>
                                            <m:t>𝑘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/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/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zh-CN" altLang="en-US"/>
                                            <m:t>RLOO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i="1"/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/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  <m:r>
                                <a:rPr lang="zh-CN" altLang="en-US"/>
                                <m:t>=</m:t>
                              </m:r>
                              <m:r>
                                <a:rPr lang="zh-CN" altLang="en-US" i="1"/>
                                <m:t>𝑁</m:t>
                              </m:r>
                              <m:r>
                                <a:rPr lang="zh-CN" altLang="en-US"/>
                                <m:t>/2</m:t>
                              </m:r>
                              <m:r>
                                <a:rPr lang="zh-CN" altLang="en-US" i="1" smtClean="0"/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i="1"/>
                                <m:t>𝐶</m:t>
                              </m:r>
                              <m:d>
                                <m:dPr>
                                  <m:ctrlPr>
                                    <a:rPr lang="zh-CN" altLang="en-US" i="1"/>
                                  </m:ctrlPr>
                                </m:dPr>
                                <m:e>
                                  <m:r>
                                    <a:rPr lang="zh-CN" altLang="en-US" i="1"/>
                                    <m:t>𝑘</m:t>
                                  </m:r>
                                </m:e>
                              </m:d>
                              <m:r>
                                <a:rPr lang="zh-CN" altLang="en-US"/>
                                <m:t>=</m:t>
                              </m:r>
                              <m:r>
                                <a:rPr lang="zh-CN" altLang="en-US" i="1"/>
                                <m:t>𝑘</m:t>
                              </m:r>
                              <m:d>
                                <m:dPr>
                                  <m:ctrlPr>
                                    <a:rPr lang="zh-CN" altLang="en-US" i="1"/>
                                  </m:ctrlPr>
                                </m:dPr>
                                <m:e>
                                  <m:r>
                                    <a:rPr lang="zh-CN" altLang="en-US" i="1"/>
                                    <m:t>𝑁</m:t>
                                  </m:r>
                                  <m:r>
                                    <a:rPr lang="zh-CN" altLang="en-US"/>
                                    <m:t>−</m:t>
                                  </m:r>
                                  <m:r>
                                    <a:rPr lang="zh-CN" altLang="en-US" i="1"/>
                                    <m:t>𝑘</m:t>
                                  </m:r>
                                </m:e>
                              </m:d>
                              <m:r>
                                <a:rPr lang="zh-CN" altLang="en-US"/>
                                <m:t>,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zh-CN" altLang="en-US"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/>
                                    <m:t>arg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zh-CN" altLang="en-US" i="1"/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zh-CN" altLang="en-US"/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/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zh-CN" altLang="en-US" i="1"/>
                                            <m:t>𝑘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r>
                                        <a:rPr lang="zh-CN" altLang="en-US" i="1"/>
                                        <m:t>𝐶</m:t>
                                      </m:r>
                                      <m:d>
                                        <m:dPr>
                                          <m:ctrlPr>
                                            <a:rPr lang="zh-CN" altLang="en-US" i="1"/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/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  <m:r>
                                <a:rPr lang="zh-CN" altLang="en-US"/>
                                <m:t>=</m:t>
                              </m:r>
                              <m:r>
                                <a:rPr lang="zh-CN" altLang="en-US" i="1"/>
                                <m:t>𝑁</m:t>
                              </m:r>
                              <m:r>
                                <a:rPr lang="zh-CN" altLang="en-US"/>
                                <m:t>/2</m:t>
                              </m:r>
                              <m:r>
                                <a:rPr lang="zh-CN" altLang="en-US" i="1" smtClean="0"/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dirty="0"/>
              </a:p>
              <a:p>
                <a:r>
                  <a:rPr lang="zh-CN" altLang="en-US" dirty="0"/>
                  <a:t>单条 </a:t>
                </a:r>
                <a:r>
                  <a:rPr lang="en-US" altLang="zh-CN" dirty="0"/>
                  <a:t>rollout </a:t>
                </a:r>
                <a:r>
                  <a:rPr lang="zh-CN" altLang="en-US" dirty="0"/>
                  <a:t>的成功概率为 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，成功数为 </a:t>
                </a:r>
                <a:r>
                  <a:rPr lang="en-US" altLang="zh-CN" dirty="0"/>
                  <a:t>k</a:t>
                </a:r>
              </a:p>
              <a:p>
                <a:r>
                  <a:rPr lang="zh-CN" altLang="en-US" dirty="0"/>
                  <a:t>熵 </a:t>
                </a:r>
                <a:r>
                  <a:rPr lang="en-US" altLang="zh-CN" dirty="0"/>
                  <a:t>rollout</a:t>
                </a:r>
                <a:r>
                  <a:rPr lang="zh-CN" altLang="en-US" dirty="0"/>
                  <a:t>结果携带的信息量</a:t>
                </a:r>
                <a:endParaRPr lang="en-US" altLang="zh-CN" dirty="0"/>
              </a:p>
              <a:p>
                <a:r>
                  <a:rPr lang="zh-CN" altLang="en-US" dirty="0"/>
                  <a:t>组过滤存活率 有成功有失败</a:t>
                </a:r>
                <a:endParaRPr lang="en-US" altLang="zh-CN" dirty="0"/>
              </a:p>
              <a:p>
                <a:r>
                  <a:rPr lang="en-US" altLang="zh-CN" dirty="0"/>
                  <a:t>RLOO</a:t>
                </a:r>
                <a:r>
                  <a:rPr lang="zh-CN" altLang="en-US" dirty="0"/>
                  <a:t>优势能量 留一法 </a:t>
                </a:r>
                <a:r>
                  <a:rPr lang="en-US" altLang="zh-CN" dirty="0"/>
                  <a:t>baseline</a:t>
                </a:r>
                <a:r>
                  <a:rPr lang="zh-CN" altLang="en-US" dirty="0"/>
                  <a:t>是组内其他的平均奖励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成功：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𝐴</m:t>
                        </m:r>
                      </m:e>
                      <m:sub>
                        <m:r>
                          <a:rPr lang="zh-CN" altLang="en-US" i="1"/>
                          <m:t>𝑖</m:t>
                        </m:r>
                      </m:sub>
                    </m:sSub>
                    <m:r>
                      <a:rPr lang="zh-CN" altLang="en-US"/>
                      <m:t>=1−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r>
                          <a:rPr lang="zh-CN" altLang="en-US" i="1"/>
                          <m:t>𝑘</m:t>
                        </m:r>
                        <m:r>
                          <a:rPr lang="zh-CN" altLang="en-US"/>
                          <m:t>−1</m:t>
                        </m:r>
                      </m:num>
                      <m:den>
                        <m:r>
                          <a:rPr lang="zh-CN" altLang="en-US" i="1"/>
                          <m:t>𝑁</m:t>
                        </m:r>
                        <m:r>
                          <a:rPr lang="zh-CN" altLang="en-US"/>
                          <m:t>−1</m:t>
                        </m:r>
                      </m:den>
                    </m:f>
                    <m:r>
                      <a:rPr lang="zh-CN" altLang="en-US"/>
                      <m:t>=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r>
                          <a:rPr lang="zh-CN" altLang="en-US" i="1"/>
                          <m:t>𝑁</m:t>
                        </m:r>
                        <m:r>
                          <a:rPr lang="zh-CN" altLang="en-US"/>
                          <m:t>−</m:t>
                        </m:r>
                        <m:r>
                          <a:rPr lang="zh-CN" altLang="en-US" i="1"/>
                          <m:t>𝑘</m:t>
                        </m:r>
                      </m:num>
                      <m:den>
                        <m:r>
                          <a:rPr lang="zh-CN" altLang="en-US" i="1"/>
                          <m:t>𝑁</m:t>
                        </m:r>
                        <m:r>
                          <a:rPr lang="zh-CN" altLang="en-US"/>
                          <m:t>−1</m:t>
                        </m:r>
                      </m:den>
                    </m:f>
                  </m:oMath>
                </a14:m>
                <a:r>
                  <a:rPr lang="zh-CN" altLang="en-US" dirty="0"/>
                  <a:t>；失败：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𝐴</m:t>
                        </m:r>
                      </m:e>
                      <m:sub>
                        <m:r>
                          <a:rPr lang="zh-CN" altLang="en-US" i="1"/>
                          <m:t>𝑖</m:t>
                        </m:r>
                      </m:sub>
                    </m:sSub>
                    <m:r>
                      <a:rPr lang="zh-CN" altLang="en-US"/>
                      <m:t>=0−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r>
                          <a:rPr lang="zh-CN" altLang="en-US" i="1"/>
                          <m:t>𝑘</m:t>
                        </m:r>
                      </m:num>
                      <m:den>
                        <m:r>
                          <a:rPr lang="zh-CN" altLang="en-US" i="1"/>
                          <m:t>𝑁</m:t>
                        </m:r>
                        <m:r>
                          <a:rPr lang="zh-CN" altLang="en-US"/>
                          <m:t>−1</m:t>
                        </m:r>
                      </m:den>
                    </m:f>
                    <m:r>
                      <a:rPr lang="zh-CN" altLang="en-US"/>
                      <m:t>=−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r>
                          <a:rPr lang="zh-CN" altLang="en-US" i="1"/>
                          <m:t>𝑘</m:t>
                        </m:r>
                      </m:num>
                      <m:den>
                        <m:r>
                          <a:rPr lang="zh-CN" altLang="en-US" i="1"/>
                          <m:t>𝑁</m:t>
                        </m:r>
                        <m:r>
                          <a:rPr lang="zh-CN" altLang="en-US"/>
                          <m:t>−1</m:t>
                        </m:r>
                      </m:den>
                    </m:f>
                  </m:oMath>
                </a14:m>
                <a:r>
                  <a:rPr lang="zh-CN" altLang="en-US" dirty="0"/>
                  <a:t>  取平方平均</a:t>
                </a:r>
                <a:endParaRPr lang="en-US" altLang="zh-CN" dirty="0"/>
              </a:p>
              <a:p>
                <a:r>
                  <a:rPr lang="zh-CN" altLang="en-US" dirty="0"/>
                  <a:t>成败对比对数 一组回答里能凑出多少对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FE8DB6-7374-CD5D-B3B2-77596A9F62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812" t="-18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6AC02AB-3015-F9F2-15FC-4A9DEBC2A5A4}"/>
              </a:ext>
            </a:extLst>
          </p:cNvPr>
          <p:cNvSpPr txBox="1"/>
          <p:nvPr/>
        </p:nvSpPr>
        <p:spPr>
          <a:xfrm>
            <a:off x="6341533" y="0"/>
            <a:ext cx="5850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3"/>
              </a:rPr>
              <a:t>[2605.05112] Rollout Pass-Rate Control: Steering Binary-Reward RL Toward Its Most Informative Regime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024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8B2D-C952-E155-4964-4E029D6A2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前缀采样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E4B1DF-C21D-1700-A804-C82AECD6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81" y="1498600"/>
            <a:ext cx="8280238" cy="5096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0D190D-A224-CB5A-8B9B-455676E62916}"/>
              </a:ext>
            </a:extLst>
          </p:cNvPr>
          <p:cNvSpPr txBox="1"/>
          <p:nvPr/>
        </p:nvSpPr>
        <p:spPr>
          <a:xfrm>
            <a:off x="6341533" y="0"/>
            <a:ext cx="5850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hlinkClick r:id="rId3"/>
              </a:rPr>
              <a:t>[2605.05112] Rollout Pass-Rate Control: Steering Binary-Reward RL Toward Its Most Informative Regime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0706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1EA83-0197-19F1-8851-3989EE58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通过数距离 </a:t>
            </a:r>
            <a:r>
              <a:rPr lang="zh-CN" altLang="zh-CN" dirty="0"/>
              <a:t> |k−4| 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1EB1D-1AC7-389E-35F5-3FDF0EB8A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106" y="1817688"/>
            <a:ext cx="7747787" cy="454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13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2114</TotalTime>
  <Words>1642</Words>
  <Application>Microsoft Office PowerPoint</Application>
  <PresentationFormat>Widescreen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Theme</vt:lpstr>
      <vt:lpstr>agent env</vt:lpstr>
      <vt:lpstr>PowerPoint Presentation</vt:lpstr>
      <vt:lpstr>生成环境的pipeline</vt:lpstr>
      <vt:lpstr>Generate</vt:lpstr>
      <vt:lpstr>AutoForge</vt:lpstr>
      <vt:lpstr>PowerPoint Presentation</vt:lpstr>
      <vt:lpstr>EnvFactory</vt:lpstr>
      <vt:lpstr>Build</vt:lpstr>
      <vt:lpstr>环境里任务的Verify</vt:lpstr>
      <vt:lpstr>对合成的环境 filter</vt:lpstr>
      <vt:lpstr>collect轨迹   &amp;   训练</vt:lpstr>
      <vt:lpstr>PowerPoint Presentation</vt:lpstr>
      <vt:lpstr>四个判据</vt:lpstr>
      <vt:lpstr>前缀采样</vt:lpstr>
      <vt:lpstr>通过数距离  |k−4|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Yuzhe Zhao (FESCO Adecco Human Resources)</dc:creator>
  <cp:lastModifiedBy>Yuzhe Zhao (FESCO Adecco Human Resources)</cp:lastModifiedBy>
  <cp:revision>4</cp:revision>
  <dcterms:created xsi:type="dcterms:W3CDTF">2026-09-24T01:54:25Z</dcterms:created>
  <dcterms:modified xsi:type="dcterms:W3CDTF">2026-09-28T12:15:39Z</dcterms:modified>
</cp:coreProperties>
</file>