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2D9D7-706D-78B6-57A6-0E43B39AC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EBD5BF-8E99-DE5D-2F91-D79EFCA74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724BD4-3B90-2409-9606-31E34B7C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2AD0B-D86D-B206-A668-58FC86AB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036C7-6459-999F-7DFB-C0344972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04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A8DF1-FA56-5C90-E8A2-05616C32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2B41A-9796-8667-3616-A222ED098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6A0E98-89E9-B324-7539-48B0FFE7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653C23-A456-D1D5-7670-185933D2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A3BF02-BFDA-A6EF-CD7C-64D84F39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23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69743-4D7C-7492-D7D2-16453A13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53E386-11A3-2E15-256C-6B4D158A0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CC8FD5-D83F-3B15-D850-AA05DABF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8F7B9F-33C9-AC4C-E423-C70F5B29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ECF60A-3267-0373-238A-D165AFE4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B91F3-9B16-ED03-6123-0C747F51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3FD59-9C37-9227-0DE1-DB5D48946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845BA9-28C6-426D-9581-874C7EACD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A145C2-5523-67BE-6508-59F062AE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037C35-ED4E-FE08-D586-4A657FFC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748BEC-2462-B4A6-D9B8-3828B5BBC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48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D2B1D-AB7B-7599-7E48-42EB35E6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F5F98-3153-9ED0-25C0-0BB2D4CE6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1A81E3-F6C8-C52A-AFB2-D8094E829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CD5FB-4881-1724-87E4-6B85D75AA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471400-2EDD-94A3-B6D0-B5A9E3B00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DA2553-DF7E-DB66-3B59-32974277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5AA851-F15D-C3F1-9EC0-2168672C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B26DD1-537E-366E-1E2F-4D0EF39C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27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6986BE-4E9E-0722-977E-26069D39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123D9E-3C3C-8A89-E0F0-5E5DC27A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697159-B4D3-25CD-FA6D-11A2D4E1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5A9A47-75A2-ABB0-6BE3-A9B5C2BF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460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BA8C22-ECD2-8F7B-0EBA-5FF489E3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C55F1E-DDA3-B2C1-3E08-99906D65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7EF3FB-F421-DA51-DEB3-3AEE4281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02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3E8F8-C2D3-5B2B-CBAB-2806BF46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97DDE-EAB1-95FD-CB3E-B6AEE40F5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7A65C8-FB27-F923-9676-D10D51AF9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ABF5AB-1236-976C-7F94-EB95F9C4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E8296C-090A-17F0-DDD7-EEC4D543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6BB8E0-C07B-36AC-9E5E-421F05E0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07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27780-31EA-F47E-5924-07A13603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90084A-F343-825E-7CE8-11E40B7E0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1BB7F1-2EDB-C79C-9D2B-9757C6E86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61DA47-B36B-6723-C6FE-0DB1AEBF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FF52B0-AADB-4F0A-D020-392FFA6C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CE155D-E520-D652-BF36-3603C248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90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0E8EF-2CAF-30DF-4771-8CD79B8E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F91ECD-0918-0CC2-EA3B-C2C93E398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56F18-BDC4-727A-901C-4739C59A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4E1EE-0CE3-55A0-C27F-BA2177AD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0492D-85EC-B939-3EB1-B93B114A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04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5BA9BA-A6A3-26BD-CB05-C48991288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7CAB36-1F19-C8E8-590F-FD8305860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E0548A-4DB9-9AED-F902-CC01C2F8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0D893-D9AD-ABD4-5AEC-BEA399F2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E5C026-470C-8084-261D-87AF4E5E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65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2B239A-D068-BD33-75D8-6AEC9711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1FFF47-2B42-43D4-A969-80181344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671DE-4B6A-50CE-2076-E12A7032B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78BF6-8CF5-4BC8-ADCB-4C26B78C6097}" type="datetimeFigureOut">
              <a:rPr lang="zh-CN" altLang="en-US" smtClean="0"/>
              <a:t>2026/5/2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FC5C7-0D33-FA93-1D1C-078BCE710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89A64A-0A28-F692-63A8-133DA0E42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F72B4-C642-4869-BAFF-E391E978A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77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81B9E-5C86-4C33-5C4E-2169D228A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6943"/>
            <a:ext cx="9144000" cy="3605016"/>
          </a:xfrm>
        </p:spPr>
        <p:txBody>
          <a:bodyPr>
            <a:normAutofit/>
          </a:bodyPr>
          <a:lstStyle/>
          <a:p>
            <a:r>
              <a:rPr lang="en-US" altLang="zh-CN" sz="18000" b="1" dirty="0">
                <a:latin typeface="+mn-ea"/>
                <a:ea typeface="+mn-ea"/>
              </a:rPr>
              <a:t>DAPO</a:t>
            </a:r>
            <a:br>
              <a:rPr lang="en-US" altLang="zh-CN" sz="14400" b="1" dirty="0">
                <a:latin typeface="+mn-ea"/>
                <a:ea typeface="+mn-ea"/>
              </a:rPr>
            </a:br>
            <a:r>
              <a:rPr lang="en-US" altLang="zh-CN" sz="2800" b="1" dirty="0"/>
              <a:t>D</a:t>
            </a:r>
            <a:r>
              <a:rPr lang="en-US" altLang="zh-CN" sz="2800" dirty="0"/>
              <a:t>ecoupled Clip and </a:t>
            </a:r>
            <a:r>
              <a:rPr lang="en-US" altLang="zh-CN" sz="2800" b="1" dirty="0"/>
              <a:t>D</a:t>
            </a:r>
            <a:r>
              <a:rPr lang="en-US" altLang="zh-CN" sz="2800" dirty="0"/>
              <a:t>ynamic </a:t>
            </a:r>
            <a:r>
              <a:rPr lang="en-US" altLang="zh-CN" sz="2800" dirty="0" err="1"/>
              <a:t>s</a:t>
            </a:r>
            <a:r>
              <a:rPr lang="en-US" altLang="zh-CN" sz="2800" b="1" dirty="0" err="1"/>
              <a:t>A</a:t>
            </a:r>
            <a:r>
              <a:rPr lang="en-US" altLang="zh-CN" sz="2800" dirty="0" err="1"/>
              <a:t>mpling</a:t>
            </a:r>
            <a:r>
              <a:rPr lang="en-US" altLang="zh-CN" sz="2800" dirty="0"/>
              <a:t> </a:t>
            </a:r>
            <a:r>
              <a:rPr lang="en-US" altLang="zh-CN" sz="2800" b="1" dirty="0"/>
              <a:t>P</a:t>
            </a:r>
            <a:r>
              <a:rPr lang="en-US" altLang="zh-CN" sz="2800" dirty="0"/>
              <a:t>olicy </a:t>
            </a:r>
            <a:r>
              <a:rPr lang="en-US" altLang="zh-CN" sz="2800" b="1" dirty="0"/>
              <a:t>O</a:t>
            </a:r>
            <a:r>
              <a:rPr lang="en-US" altLang="zh-CN" sz="2800" dirty="0"/>
              <a:t>ptimization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785274-A7D3-BB1C-1C4E-FFDD557C8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86425"/>
            <a:ext cx="9144000" cy="1295400"/>
          </a:xfrm>
        </p:spPr>
        <p:txBody>
          <a:bodyPr>
            <a:normAutofit/>
          </a:bodyPr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273714D-4A2F-64FE-8150-9E167338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532"/>
            <a:ext cx="12192000" cy="193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5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6D8FB-EF76-820C-1969-96BD8D56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0F5673-8448-8B26-5C26-522D7A6F4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Clip-Higher</a:t>
            </a:r>
          </a:p>
          <a:p>
            <a:r>
              <a:rPr lang="en-US" altLang="zh-CN" dirty="0"/>
              <a:t>Dynamic Sampling</a:t>
            </a:r>
          </a:p>
          <a:p>
            <a:r>
              <a:rPr lang="en-US" altLang="zh-CN" dirty="0"/>
              <a:t>Token-Level Policy Gradient Loss</a:t>
            </a:r>
          </a:p>
          <a:p>
            <a:r>
              <a:rPr lang="en-US" altLang="zh-CN" dirty="0"/>
              <a:t>Overlong Reward Shaping</a:t>
            </a:r>
          </a:p>
          <a:p>
            <a:r>
              <a:rPr lang="zh-CN" altLang="en-US" dirty="0"/>
              <a:t>移除</a:t>
            </a:r>
            <a:r>
              <a:rPr lang="en-US" altLang="zh-CN" dirty="0"/>
              <a:t>KL</a:t>
            </a:r>
            <a:r>
              <a:rPr lang="zh-CN" altLang="en-US" dirty="0"/>
              <a:t>约束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528485E-4E02-9572-3A94-69A998DF8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44762"/>
              </p:ext>
            </p:extLst>
          </p:nvPr>
        </p:nvGraphicFramePr>
        <p:xfrm>
          <a:off x="8451850" y="182561"/>
          <a:ext cx="3397250" cy="64928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7250">
                  <a:extLst>
                    <a:ext uri="{9D8B030D-6E8A-4147-A177-3AD203B41FA5}">
                      <a16:colId xmlns:a16="http://schemas.microsoft.com/office/drawing/2014/main" val="411617289"/>
                    </a:ext>
                  </a:extLst>
                </a:gridCol>
              </a:tblGrid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OrcaDude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1706657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戾君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924432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迷途小白喲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12707088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W0ND3RFULHE4VEN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16156792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InterMilan_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2592813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Gryffindvenclaw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91015425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蕾西亚万岁啊我透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75345298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无脚的鸟</a:t>
                      </a:r>
                      <a:r>
                        <a:rPr lang="en-US" altLang="zh-CN" sz="2400" u="none" strike="noStrike">
                          <a:effectLst/>
                        </a:rPr>
                        <a:t>66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3322598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乐冰啊乐冰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05922055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OrcaDude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1556210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戾君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1005046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蜡比大新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610101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MONKEYYY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1933206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哈哈</a:t>
                      </a:r>
                      <a:r>
                        <a:rPr lang="en-US" sz="2400" u="none" strike="noStrike">
                          <a:effectLst/>
                        </a:rPr>
                        <a:t>h</a:t>
                      </a:r>
                      <a:r>
                        <a:rPr lang="zh-CN" altLang="en-US" sz="2400" u="none" strike="noStrike">
                          <a:effectLst/>
                        </a:rPr>
                        <a:t>味道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2232737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>
                          <a:effectLst/>
                        </a:rPr>
                        <a:t>A_sirr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76999529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400" u="none" strike="noStrike">
                          <a:effectLst/>
                        </a:rPr>
                        <a:t>白剽一枚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0901593"/>
                  </a:ext>
                </a:extLst>
              </a:tr>
              <a:tr h="381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AELee</a:t>
                      </a:r>
                      <a:r>
                        <a:rPr lang="en-US" sz="2400" u="none" strike="noStrike" dirty="0">
                          <a:effectLst/>
                        </a:rPr>
                        <a:t>_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15161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60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6C921-384D-FD18-21F8-352C1074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Clip-Higher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439491-7D2C-890D-7324-CDC50719F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32" y="1924049"/>
            <a:ext cx="5595294" cy="3648075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149184D-2D76-091B-C769-F69B916D5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9643" y="1924049"/>
            <a:ext cx="5838825" cy="4351338"/>
          </a:xfrm>
        </p:spPr>
        <p:txBody>
          <a:bodyPr/>
          <a:lstStyle/>
          <a:p>
            <a:r>
              <a:rPr lang="zh-CN" altLang="en-US" dirty="0"/>
              <a:t>熵坍缩</a:t>
            </a:r>
            <a:endParaRPr lang="en-US" altLang="zh-CN" dirty="0"/>
          </a:p>
          <a:p>
            <a:r>
              <a:rPr lang="zh-CN" altLang="en-US" dirty="0"/>
              <a:t>模型生成各</a:t>
            </a:r>
            <a:r>
              <a:rPr lang="en-US" altLang="zh-CN" dirty="0"/>
              <a:t>token</a:t>
            </a:r>
            <a:r>
              <a:rPr lang="zh-CN" altLang="en-US" dirty="0"/>
              <a:t>的概率越接近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熵越高</a:t>
            </a:r>
            <a:endParaRPr lang="en-US" altLang="zh-CN" dirty="0"/>
          </a:p>
          <a:p>
            <a:r>
              <a:rPr lang="zh-CN" altLang="en-US" dirty="0"/>
              <a:t>低熵意味着模型的输出倾向于单一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这样模型的探索受限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过早得到一个确定性的模型</a:t>
            </a:r>
            <a:endParaRPr lang="en-US" altLang="zh-CN" dirty="0"/>
          </a:p>
          <a:p>
            <a:r>
              <a:rPr lang="zh-CN" altLang="en-US" dirty="0"/>
              <a:t>不利于</a:t>
            </a:r>
            <a:r>
              <a:rPr lang="en-US" altLang="zh-CN" dirty="0"/>
              <a:t>GRPO</a:t>
            </a:r>
            <a:r>
              <a:rPr lang="zh-CN" altLang="en-US" dirty="0"/>
              <a:t>进行组内比较</a:t>
            </a:r>
          </a:p>
        </p:txBody>
      </p:sp>
    </p:spTree>
    <p:extLst>
      <p:ext uri="{BB962C8B-B14F-4D97-AF65-F5344CB8AC3E}">
        <p14:creationId xmlns:p14="http://schemas.microsoft.com/office/powerpoint/2010/main" val="240191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44F09-1335-465E-AD6A-8B6AA931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Clip-Higher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9BE3A1-99CF-B463-74F3-A47DC395D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𝑐𝑙𝑖𝑝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dirty="0" err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zh-CN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l-GR" altLang="zh-CN" b="0" i="1" dirty="0" smtClean="0">
                            <a:latin typeface="Cambria Math" panose="02040503050406030204" pitchFamily="18" charset="0"/>
                          </a:rPr>
                          <m:t>,1−</m:t>
                        </m:r>
                        <m:r>
                          <a:rPr lang="el-GR" altLang="zh-CN" b="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l-GR" altLang="zh-CN" b="0" i="1" dirty="0" smtClean="0">
                            <a:latin typeface="Cambria Math" panose="02040503050406030204" pitchFamily="18" charset="0"/>
                          </a:rPr>
                          <m:t>,1+</m:t>
                        </m:r>
                        <m:r>
                          <a:rPr lang="el-GR" altLang="zh-CN" b="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DAPO</a:t>
                </a:r>
                <a:r>
                  <a:rPr lang="zh-CN" altLang="en-US" dirty="0"/>
                  <a:t>认为这样的裁剪会限制模型的探索</a:t>
                </a:r>
                <a:endParaRPr lang="en-US" altLang="zh-CN" dirty="0"/>
              </a:p>
              <a:p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old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lang="zh-CN" altLang="en-US" dirty="0"/>
                  <a:t>的两个动作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l-GR" altLang="zh-CN" b="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取常见的</a:t>
                </a:r>
                <a:r>
                  <a:rPr lang="en-US" altLang="zh-CN" dirty="0"/>
                  <a:t>0.2</a:t>
                </a:r>
                <a:r>
                  <a:rPr lang="zh-CN" altLang="en-US" dirty="0"/>
                  <a:t>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更新后二者的最大概率为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=0.012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1.08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低概率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的涨幅非常有限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本来概率就高的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所占概率会更高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9BE3A1-99CF-B463-74F3-A47DC395D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C5DD9EF-A8CB-9FD4-5CAE-D3790811E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72108"/>
            <a:ext cx="12192000" cy="92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04B94-7F1E-8530-1697-BDE53587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Clip-Higher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667247-CB80-630A-EA98-DD545AFBC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4860925"/>
              </a:xfrm>
            </p:spPr>
            <p:txBody>
              <a:bodyPr/>
              <a:lstStyle/>
              <a:p>
                <a:r>
                  <a:rPr lang="en-US" altLang="zh-CN" dirty="0"/>
                  <a:t>DAPO</a:t>
                </a:r>
                <a:r>
                  <a:rPr lang="zh-CN" altLang="en-US" dirty="0"/>
                  <a:t>提高</a:t>
                </a:r>
                <a:r>
                  <a:rPr lang="en-US" altLang="zh-CN" dirty="0"/>
                  <a:t>clip</a:t>
                </a:r>
                <a:r>
                  <a:rPr lang="zh-CN" altLang="en-US" dirty="0"/>
                  <a:t>的上界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如果一个好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的概率极低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那应该允许其概率的提升较为激进</a:t>
                </a:r>
                <a:endParaRPr lang="en-US" altLang="zh-CN" dirty="0"/>
              </a:p>
              <a:p>
                <a:r>
                  <a:rPr lang="en-US" altLang="zh-CN" dirty="0"/>
                  <a:t>DAPO</a:t>
                </a:r>
                <a:r>
                  <a:rPr lang="zh-CN" altLang="en-US" dirty="0"/>
                  <a:t>把上下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裁剪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范围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解耦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low</m:t>
                        </m:r>
                      </m:sub>
                    </m:sSub>
                  </m:oMath>
                </a14:m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high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这样为低概率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的概率提升留出更多空间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增加了策略的熵</a:t>
                </a:r>
                <a:endParaRPr lang="en-US" altLang="zh-CN" dirty="0"/>
              </a:p>
              <a:p>
                <a:r>
                  <a:rPr lang="zh-CN" altLang="en-US" dirty="0"/>
                  <a:t>要不要提升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low</m:t>
                        </m:r>
                      </m:sub>
                    </m:sSub>
                  </m:oMath>
                </a14:m>
                <a:r>
                  <a:rPr lang="en-US" altLang="zh-CN" dirty="0"/>
                  <a:t>?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提升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low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的话</m:t>
                    </m:r>
                  </m:oMath>
                </a14:m>
                <a:r>
                  <a:rPr lang="zh-CN" altLang="en-US" dirty="0"/>
                  <a:t>，负</a:t>
                </a:r>
                <a:r>
                  <a:rPr lang="en-US" altLang="zh-CN" dirty="0"/>
                  <a:t>advantage token</a:t>
                </a:r>
                <a:r>
                  <a:rPr lang="zh-CN" altLang="en-US" dirty="0"/>
                  <a:t>的概率可以被压得更低甚至</a:t>
                </a:r>
                <a:r>
                  <a:rPr lang="en-US" altLang="zh-CN" dirty="0"/>
                  <a:t>0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会造成</a:t>
                </a:r>
                <a:r>
                  <a:rPr lang="en-US" altLang="zh-CN" dirty="0"/>
                  <a:t>sampling space collapse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667247-CB80-630A-EA98-DD545AFBC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4860925"/>
              </a:xfrm>
              <a:blipFill>
                <a:blip r:embed="rId2"/>
                <a:stretch>
                  <a:fillRect l="-967" t="-2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39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95722-B4F8-A039-FAA4-7EACBE82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Sampling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01F688-B66C-2181-210E-C61B63723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16731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mean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std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如果一个组内的回答全对或全错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就无法形成奖励信号，模型就无法更新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zh-CN" altLang="en-US" smtClean="0">
                        <a:latin typeface="Cambria Math" panose="02040503050406030204" pitchFamily="18" charset="0"/>
                      </a:rPr>
                      <m:t>0&lt;</m:t>
                    </m:r>
                    <m:d>
                      <m:dPr>
                        <m:begChr m:val="∣"/>
                        <m:endChr m:val="∣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lit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equivalent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endChr m:val="∣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lit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zh-CN" altLang="en-US">
                                <a:latin typeface="Cambria Math" panose="02040503050406030204" pitchFamily="18" charset="0"/>
                              </a:rPr>
                              <m:t>equivalent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表示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个输出里正确的个数</a:t>
                </a:r>
              </a:p>
              <a:p>
                <a:r>
                  <a:rPr lang="en-US" altLang="zh-CN" dirty="0"/>
                  <a:t>DAPO</a:t>
                </a:r>
                <a:r>
                  <a:rPr lang="zh-CN" altLang="en-US" dirty="0"/>
                  <a:t>只保留既有正确样本又有错误样本的组</a:t>
                </a:r>
                <a:endParaRPr lang="en-US" altLang="zh-CN" dirty="0"/>
              </a:p>
              <a:p>
                <a:r>
                  <a:rPr lang="zh-CN" altLang="en-US" dirty="0"/>
                  <a:t>动态采样不一定阻碍训练效率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 </a:t>
                </a:r>
                <a:r>
                  <a:rPr lang="en-US" altLang="zh-CN" dirty="0"/>
                  <a:t>RL </a:t>
                </a:r>
                <a:r>
                  <a:rPr lang="zh-CN" altLang="en-US" dirty="0"/>
                  <a:t>系统是同步的，并且生成阶段没有流水线化，那么生成时间通常由长尾样本主导</a:t>
                </a:r>
                <a:endParaRPr lang="en-US" altLang="zh-CN" dirty="0"/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01F688-B66C-2181-210E-C61B63723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167311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41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F55A8-23F6-94A2-AF48-24ADBB2E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Token-Level Policy Gradient Loss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11C0EA-DE5A-BF40-19D1-CBF4D6F92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197213"/>
                <a:ext cx="10515600" cy="359411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GRPO</a:t>
                </a:r>
                <a:r>
                  <a:rPr lang="zh-CN" altLang="en-US" dirty="0"/>
                  <a:t>先在每个回答内部对各个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取平均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再在组内对各个样本取平均</a:t>
                </a:r>
                <a:endParaRPr lang="en-US" altLang="zh-CN" dirty="0"/>
              </a:p>
              <a:p>
                <a:r>
                  <a:rPr lang="zh-CN" altLang="en-US" dirty="0"/>
                  <a:t>每个样本的权重是相同的，越长的回答里的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的权重越小</a:t>
                </a:r>
                <a:endParaRPr lang="en-US" altLang="zh-CN" dirty="0"/>
              </a:p>
              <a:p>
                <a:r>
                  <a:rPr lang="zh-CN" altLang="en-US" dirty="0"/>
                  <a:t>问题：高质量长样本中的</a:t>
                </a:r>
                <a:r>
                  <a:rPr lang="en-US" altLang="zh-CN" dirty="0"/>
                  <a:t>reasoning pattern</a:t>
                </a:r>
                <a:r>
                  <a:rPr lang="zh-CN" altLang="en-US" dirty="0"/>
                  <a:t>被低估</a:t>
                </a:r>
                <a:endParaRPr lang="en-US" altLang="zh-CN" dirty="0"/>
              </a:p>
              <a:p>
                <a:r>
                  <a:rPr lang="zh-CN" altLang="en-US" dirty="0"/>
                  <a:t>问题：低质量超长样本惩罚不足</a:t>
                </a:r>
              </a:p>
              <a:p>
                <a:r>
                  <a:rPr lang="en-US" altLang="zh-CN" dirty="0"/>
                  <a:t>DAPO</a:t>
                </a:r>
                <a:r>
                  <a:rPr lang="zh-CN" altLang="en-US" dirty="0"/>
                  <a:t>按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统一归一化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nary>
                          <m:naryPr>
                            <m:chr m:val="∑"/>
                            <m:grow m:val="on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</m:nary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zh-CN" altLang="en-US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11C0EA-DE5A-BF40-19D1-CBF4D6F92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197213"/>
                <a:ext cx="10515600" cy="3594112"/>
              </a:xfrm>
              <a:blipFill>
                <a:blip r:embed="rId2"/>
                <a:stretch>
                  <a:fillRect l="-1043" t="-3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A21F216-1C81-65C3-0992-EE81CEFB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" y="1690688"/>
            <a:ext cx="11020425" cy="150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4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0E596-4878-A951-C569-68CCE187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Overlong Reward Shaping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6CFB141-60FA-AA35-C781-BCFF16663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r>
                  <a:rPr lang="zh-CN" altLang="en-US" dirty="0"/>
                  <a:t>超长过滤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截断超长的样本，被截断的样本不参与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更新</a:t>
                </a:r>
                <a:endParaRPr lang="en-US" altLang="zh-CN" dirty="0"/>
              </a:p>
              <a:p>
                <a:r>
                  <a:rPr lang="zh-CN" altLang="en-US" dirty="0"/>
                  <a:t>软超长惩罚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length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∣≤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cache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sub>
                                      </m:s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>
                                              <a:latin typeface="Cambria Math" panose="02040503050406030204" pitchFamily="18" charset="0"/>
                                            </a:rPr>
                                            <m:t>cache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−∣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cache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cache</m:t>
                                  </m:r>
                                </m:sub>
                              </m:s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&lt;∣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∣≤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&lt;∣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cache</m:t>
                        </m:r>
                      </m:sub>
                    </m:sSub>
                  </m:oMath>
                </a14:m>
                <a:r>
                  <a:rPr lang="zh-CN" altLang="en-US" dirty="0"/>
                  <a:t>表示缓冲区的长度，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zh-CN" altLang="en-US" dirty="0"/>
                  <a:t>表示长度上限</a:t>
                </a:r>
                <a:endParaRPr lang="en-US" altLang="zh-CN" dirty="0"/>
              </a:p>
              <a:p>
                <a:r>
                  <a:rPr lang="zh-CN" altLang="en-US" dirty="0"/>
                  <a:t>期望最大长度</a:t>
                </a:r>
                <a:r>
                  <a:rPr lang="en-US" altLang="zh-CN" dirty="0"/>
                  <a:t>16384</a:t>
                </a:r>
                <a:r>
                  <a:rPr lang="zh-CN" altLang="en-US" dirty="0"/>
                  <a:t>  缓冲区</a:t>
                </a:r>
                <a:r>
                  <a:rPr lang="en-US" altLang="zh-CN" dirty="0"/>
                  <a:t>4096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最大可生成长度</a:t>
                </a:r>
                <a:r>
                  <a:rPr lang="en-US" altLang="zh-CN" dirty="0"/>
                  <a:t>20480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6CFB141-60FA-AA35-C781-BCFF16663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162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1B9D1-4CB3-5044-D02A-297BE75C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去掉</a:t>
            </a:r>
            <a:r>
              <a:rPr lang="en-US" altLang="zh-CN" dirty="0"/>
              <a:t>GRPO</a:t>
            </a:r>
            <a:r>
              <a:rPr lang="zh-CN" altLang="en-US" dirty="0"/>
              <a:t>目标函数里的</a:t>
            </a:r>
            <a:r>
              <a:rPr lang="en-US" altLang="zh-CN" dirty="0"/>
              <a:t>KL</a:t>
            </a:r>
            <a:r>
              <a:rPr lang="zh-CN" altLang="en-US" dirty="0"/>
              <a:t>散度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A2A00-6A4A-64FB-A0C2-9DDB26752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3138"/>
            <a:ext cx="10515600" cy="1074738"/>
          </a:xfrm>
        </p:spPr>
        <p:txBody>
          <a:bodyPr/>
          <a:lstStyle/>
          <a:p>
            <a:r>
              <a:rPr lang="en-US" altLang="zh-CN" dirty="0"/>
              <a:t>DAPO</a:t>
            </a:r>
            <a:r>
              <a:rPr lang="zh-CN" altLang="en-US" dirty="0"/>
              <a:t>希望训练长 </a:t>
            </a:r>
            <a:r>
              <a:rPr lang="en-US" altLang="zh-CN" dirty="0" err="1"/>
              <a:t>CoT</a:t>
            </a:r>
            <a:r>
              <a:rPr lang="en-US" altLang="zh-CN" dirty="0"/>
              <a:t> </a:t>
            </a:r>
            <a:r>
              <a:rPr lang="zh-CN" altLang="en-US" dirty="0"/>
              <a:t>推理模型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KL</a:t>
            </a:r>
            <a:r>
              <a:rPr lang="zh-CN" altLang="en-US" dirty="0"/>
              <a:t>散度的限制并非必要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F877E2-D0CC-4EB7-F768-F82321D9D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89" y="1882684"/>
            <a:ext cx="11684422" cy="270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8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507</Words>
  <Application>Microsoft Office PowerPoint</Application>
  <PresentationFormat>宽屏</PresentationFormat>
  <Paragraphs>79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Cambria Math</vt:lpstr>
      <vt:lpstr>Office 主题​​</vt:lpstr>
      <vt:lpstr>DAPO Decoupled Clip and Dynamic sAmpling Policy Optimization</vt:lpstr>
      <vt:lpstr>主要内容</vt:lpstr>
      <vt:lpstr>Clip-Higher</vt:lpstr>
      <vt:lpstr>Clip-Higher</vt:lpstr>
      <vt:lpstr>Clip-Higher</vt:lpstr>
      <vt:lpstr>Dynamic Sampling</vt:lpstr>
      <vt:lpstr>Token-Level Policy Gradient Loss</vt:lpstr>
      <vt:lpstr>Overlong Reward Shaping</vt:lpstr>
      <vt:lpstr>去掉GRPO目标函数里的KL散度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3</cp:revision>
  <dcterms:created xsi:type="dcterms:W3CDTF">2026-05-01T11:36:50Z</dcterms:created>
  <dcterms:modified xsi:type="dcterms:W3CDTF">2026-05-02T14:25:37Z</dcterms:modified>
</cp:coreProperties>
</file>