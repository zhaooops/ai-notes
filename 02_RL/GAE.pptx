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528" y="-1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0BFADB-06FB-42DE-9D26-825BDF59F5C7}" type="datetimeFigureOut">
              <a:rPr lang="zh-CN" altLang="en-US" smtClean="0"/>
              <a:t>2025/11/20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B14804-CBAB-4F72-8ABE-8C9749A647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02129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B14804-CBAB-4F72-8ABE-8C9749A64731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907954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B14804-CBAB-4F72-8ABE-8C9749A64731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48590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5859AB-13D2-BB56-5973-5E4256CA73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BDBB695-2243-ACFC-61AB-433F6F198A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2257594-B8A6-6D98-0BCB-E11D6C6E35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80F55-3007-43B4-B273-32A799466C10}" type="datetimeFigureOut">
              <a:rPr lang="zh-CN" altLang="en-US" smtClean="0"/>
              <a:t>2025/11/20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D178E7E-6D7C-1E75-0DC4-941D5EDBA5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66DA4C5-C07B-AC0C-0AB4-EB921D341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21C03-5DB1-48B5-B16D-6E322806A2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38728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C18C64-5E51-D260-36F7-EC8C67415B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CF356E1-6F5D-8561-0DAC-B5F9AB722B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C7F1FBE-2480-86E4-132A-B32EDFAA8E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80F55-3007-43B4-B273-32A799466C10}" type="datetimeFigureOut">
              <a:rPr lang="zh-CN" altLang="en-US" smtClean="0"/>
              <a:t>2025/11/20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B7A9217-B9AA-7072-6015-2DFECE752A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0538106-0E31-5C44-1AE2-51349273C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21C03-5DB1-48B5-B16D-6E322806A2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29698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13B4F6-8925-214C-393F-FF828813F1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83F364B-CFCE-129D-C11E-FD7AE14889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283032B-1C4E-B50F-9CFF-DA215EE36F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80F55-3007-43B4-B273-32A799466C10}" type="datetimeFigureOut">
              <a:rPr lang="zh-CN" altLang="en-US" smtClean="0"/>
              <a:t>2025/11/20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8AAAF16-34C5-A0BF-0C25-402D8E20B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D3EBA10-8FB7-6C6C-5364-CF6F625F9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21C03-5DB1-48B5-B16D-6E322806A2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50887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3623FD6-8A55-07E0-C2CC-7B884C493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A25D7AD-BC5B-3629-86B3-3CCF953CA9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D69E8A9-9863-013B-A992-229DE4D351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0BD0D5D-339B-6BE0-1C4F-1165604BCB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80F55-3007-43B4-B273-32A799466C10}" type="datetimeFigureOut">
              <a:rPr lang="zh-CN" altLang="en-US" smtClean="0"/>
              <a:t>2025/11/20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C271749-D319-2C48-D11C-41ECCB4D47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976889D-7A01-7776-CED6-6C9D51EB2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21C03-5DB1-48B5-B16D-6E322806A2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45056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084C14-A704-F772-F977-5382F86000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BF0D840-2834-BE2E-8573-9978E9F78B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4736BD0-8497-3061-659D-ECEA32461C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02F5EFE-1F0E-DCD1-4460-08ECB6A6220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449AE56-DFF2-6AF4-3585-6165BA6488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82E8CF7-531F-450E-CC28-2AC6C33766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80F55-3007-43B4-B273-32A799466C10}" type="datetimeFigureOut">
              <a:rPr lang="zh-CN" altLang="en-US" smtClean="0"/>
              <a:t>2025/11/20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0E683533-6585-D55B-6548-277A2B20D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0CE9C1F-D9CE-2B26-2BB3-02224FA15B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21C03-5DB1-48B5-B16D-6E322806A2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50645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603413-7922-F2C7-594E-87F6F24040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AC85CF4-E797-E26D-629F-84E8FE74E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80F55-3007-43B4-B273-32A799466C10}" type="datetimeFigureOut">
              <a:rPr lang="zh-CN" altLang="en-US" smtClean="0"/>
              <a:t>2025/11/20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B95F832-6C81-F56D-5391-F823BBFAC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3D1EFCC-3DE1-5C2B-D9F0-84B806C6C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21C03-5DB1-48B5-B16D-6E322806A2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7427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3CD6034-67EA-41B6-FDC5-03440382BE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80F55-3007-43B4-B273-32A799466C10}" type="datetimeFigureOut">
              <a:rPr lang="zh-CN" altLang="en-US" smtClean="0"/>
              <a:t>2025/11/20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8A9D3F3-3307-B0A9-D440-DB3B66B552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E96DDC4-C687-74BB-6881-E30BAF362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21C03-5DB1-48B5-B16D-6E322806A2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24052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5F225E-0284-9E94-97CD-F9C5C25271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35E94E7-85E0-9557-662E-6B5E7E2166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15278DE-651D-A071-537A-E133498E10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C4E1641-D645-F782-85E5-D33376B775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80F55-3007-43B4-B273-32A799466C10}" type="datetimeFigureOut">
              <a:rPr lang="zh-CN" altLang="en-US" smtClean="0"/>
              <a:t>2025/11/20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AB52723-D32A-F851-D198-AA281EE32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CA02C6C-E380-7438-79C5-7598148AE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21C03-5DB1-48B5-B16D-6E322806A2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46125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4B175F-6CF0-D9B2-98E8-5EC7E58830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63FECBC-7EAB-F6AA-59A6-A264D807CD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8FE31E0-4F31-B7CF-2D07-90163B8163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999953B-E62C-2081-D68E-B65498E2F7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80F55-3007-43B4-B273-32A799466C10}" type="datetimeFigureOut">
              <a:rPr lang="zh-CN" altLang="en-US" smtClean="0"/>
              <a:t>2025/11/20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9D0BA1B-393A-4980-A45C-1D766770BB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45002F4-86E9-E111-D006-8B4395694A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21C03-5DB1-48B5-B16D-6E322806A2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22312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72F2F0-5676-0498-BD68-2E9A501DD3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7254EC2-DE8E-226F-26EA-6C1D758FD2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469BF2F-8C5F-9DF7-A3DF-BF517A1B5B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80F55-3007-43B4-B273-32A799466C10}" type="datetimeFigureOut">
              <a:rPr lang="zh-CN" altLang="en-US" smtClean="0"/>
              <a:t>2025/11/20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F17C39C-D892-FB3C-570D-0DB695F375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0B4CE58-B73F-C463-F135-AB2985739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21C03-5DB1-48B5-B16D-6E322806A2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29011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4A252C7B-C88C-8242-775A-12EB1516FB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59DA99D-003D-AF9E-934C-A5B87B18DB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54E7E4D-2899-4A20-6F57-DE5C0EABCC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80F55-3007-43B4-B273-32A799466C10}" type="datetimeFigureOut">
              <a:rPr lang="zh-CN" altLang="en-US" smtClean="0"/>
              <a:t>2025/11/20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DEC0FF6-E3B3-9567-1950-ECD01E426C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572A04D-0E4C-4A01-02AA-D7C856E8E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321C03-5DB1-48B5-B16D-6E322806A2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03088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118108F-A03F-1D43-A509-ED08B20D57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961A161-6919-19AA-0EAB-431A1801AF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7B17175-93E7-F7DC-CED3-151105F951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980F55-3007-43B4-B273-32A799466C10}" type="datetimeFigureOut">
              <a:rPr lang="zh-CN" altLang="en-US" smtClean="0"/>
              <a:t>2025/11/20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A46C1BC-B63D-4660-0216-54E75C8FF8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B1D3C9C-5EDC-CB7E-498C-04B7201E8A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321C03-5DB1-48B5-B16D-6E322806A20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17996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gi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eb.stanford.edu/class/cs234/slides/lecture7pre.pdf" TargetMode="External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eb.stanford.edu/class/cs234/slides/lecture7pre.pdf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eb.stanford.edu/class/cs234/slides/lecture7pre.pdf" TargetMode="Externa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gi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gif"/><Relationship Id="rId3" Type="http://schemas.openxmlformats.org/officeDocument/2006/relationships/image" Target="../media/image15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F5BAA3-22B7-B149-3AAD-AE3D0DB0B6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499441" y="874643"/>
            <a:ext cx="13190882" cy="3022255"/>
          </a:xfrm>
        </p:spPr>
        <p:txBody>
          <a:bodyPr>
            <a:normAutofit/>
          </a:bodyPr>
          <a:lstStyle/>
          <a:p>
            <a:r>
              <a:rPr lang="en-US" altLang="zh-CN" sz="4800" dirty="0"/>
              <a:t>Generalized Advantage Estimation</a:t>
            </a:r>
            <a:br>
              <a:rPr lang="en-US" altLang="zh-CN" sz="9600" b="1" dirty="0">
                <a:latin typeface="黑体" panose="02010609060101010101" pitchFamily="49" charset="-122"/>
                <a:ea typeface="黑体" panose="02010609060101010101" pitchFamily="49" charset="-122"/>
                <a:cs typeface="Arial Unicode MS" panose="020B0604020202020204" pitchFamily="34" charset="-122"/>
              </a:rPr>
            </a:br>
            <a:r>
              <a:rPr lang="zh-CN" altLang="en-US" sz="12000" b="1" dirty="0">
                <a:latin typeface="黑体" panose="02010609060101010101" pitchFamily="49" charset="-122"/>
                <a:ea typeface="黑体" panose="02010609060101010101" pitchFamily="49" charset="-122"/>
                <a:cs typeface="Arial Unicode MS" panose="020B0604020202020204" pitchFamily="34" charset="-122"/>
              </a:rPr>
              <a:t>广义优势估计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0921898-5245-5206-EEA3-F97860C797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27595"/>
            <a:ext cx="9144000" cy="1655762"/>
          </a:xfrm>
        </p:spPr>
        <p:txBody>
          <a:bodyPr/>
          <a:lstStyle/>
          <a:p>
            <a:r>
              <a:rPr lang="zh-CN" altLang="en-US" dirty="0"/>
              <a:t>东川路第一可爱猫猫虫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BA546A62-6599-113D-ECB7-20914AAB2E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9481" y="4945685"/>
            <a:ext cx="893038" cy="893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47051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00B910-7F1E-77E0-5E6D-1A09F17E31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主要内容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03FE6C09-4292-B24F-7A21-BA914B83DA1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优势函数</a:t>
                </a:r>
                <a:endParaRPr lang="en-US" altLang="zh-CN" dirty="0"/>
              </a:p>
              <a:p>
                <a:r>
                  <a:rPr lang="en-US" altLang="zh-CN" dirty="0"/>
                  <a:t>N</a:t>
                </a:r>
                <a:r>
                  <a:rPr lang="zh-CN" altLang="en-US" dirty="0"/>
                  <a:t>步优势函数估计器</a:t>
                </a:r>
                <a:endParaRPr lang="en-US" altLang="zh-CN" dirty="0"/>
              </a:p>
              <a:p>
                <a:r>
                  <a:rPr lang="zh-CN" altLang="en-US" dirty="0"/>
                  <a:t>方差与偏差的权衡</a:t>
                </a:r>
                <a:endParaRPr lang="en-US" altLang="zh-CN" dirty="0"/>
              </a:p>
              <a:p>
                <a:r>
                  <a:rPr lang="zh-CN" altLang="en-US" dirty="0"/>
                  <a:t>指数加权平均</a:t>
                </a:r>
                <a:endParaRPr lang="en-US" altLang="zh-CN" dirty="0"/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zh-CN" b="0" i="1" smtClean="0">
                        <a:latin typeface="Cambria Math" panose="02040503050406030204" pitchFamily="18" charset="0"/>
                      </a:rPr>
                      <m:t>γ</m:t>
                    </m:r>
                  </m:oMath>
                </a14:m>
                <a:r>
                  <a:rPr lang="zh-CN" altLang="en-US" dirty="0"/>
                  <a:t>与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endParaRPr lang="en-US" altLang="zh-CN" b="0" dirty="0"/>
              </a:p>
              <a:p>
                <a:r>
                  <a:rPr lang="zh-CN" altLang="en-US" dirty="0"/>
                  <a:t>代码实现</a:t>
                </a:r>
                <a:endParaRPr lang="en-US" altLang="zh-CN" b="0" dirty="0"/>
              </a:p>
              <a:p>
                <a:endParaRPr lang="en-US" altLang="zh-CN" b="0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03FE6C09-4292-B24F-7A21-BA914B83DA1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5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522849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AE5B1D9-F264-716A-F999-EBC97C3731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优势函数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F11D89C1-ED1A-1D62-1BA7-1532509A4F2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6"/>
                <a:ext cx="10515600" cy="3720410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endParaRPr lang="en-US" altLang="zh-CN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endParaRPr lang="en-US" altLang="zh-CN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i="1" dirty="0">
                    <a:latin typeface="Cambria Math" panose="02040503050406030204" pitchFamily="18" charset="0"/>
                  </a:rPr>
                  <a:t>	</a:t>
                </a:r>
                <a:r>
                  <a:rPr lang="en-US" altLang="zh-CN" b="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b="0" dirty="0">
                    <a:latin typeface="Cambria Math" panose="02040503050406030204" pitchFamily="18" charset="0"/>
                  </a:rPr>
                  <a:t>的动作价值</a:t>
                </a:r>
                <a:endParaRPr lang="en-US" altLang="zh-CN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b="0" dirty="0"/>
                  <a:t>	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 b="0" dirty="0"/>
                  <a:t>的状态价值</a:t>
                </a:r>
                <a:endParaRPr lang="en-US" altLang="zh-CN" b="0" dirty="0"/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F11D89C1-ED1A-1D62-1BA7-1532509A4F2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6"/>
                <a:ext cx="10515600" cy="3720410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707449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标题 1">
                <a:extLst>
                  <a:ext uri="{FF2B5EF4-FFF2-40B4-BE49-F238E27FC236}">
                    <a16:creationId xmlns:a16="http://schemas.microsoft.com/office/drawing/2014/main" id="{9EAD5BE7-8CE2-5722-CC62-95D5612FA2AF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561252" y="-169670"/>
                <a:ext cx="10515600" cy="1325563"/>
              </a:xfrm>
            </p:spPr>
            <p:txBody>
              <a:bodyPr/>
              <a:lstStyle/>
              <a:p>
                <a:r>
                  <a:rPr lang="zh-CN" altLang="en-US" dirty="0"/>
                  <a:t>对期望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dirty="0"/>
                  <a:t>进行估计</a:t>
                </a:r>
              </a:p>
            </p:txBody>
          </p:sp>
        </mc:Choice>
        <mc:Fallback xmlns="">
          <p:sp>
            <p:nvSpPr>
              <p:cNvPr id="2" name="标题 1">
                <a:extLst>
                  <a:ext uri="{FF2B5EF4-FFF2-40B4-BE49-F238E27FC236}">
                    <a16:creationId xmlns:a16="http://schemas.microsoft.com/office/drawing/2014/main" id="{9EAD5BE7-8CE2-5722-CC62-95D5612FA2A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561252" y="-169670"/>
                <a:ext cx="10515600" cy="1325563"/>
              </a:xfrm>
              <a:blipFill>
                <a:blip r:embed="rId2"/>
                <a:stretch>
                  <a:fillRect l="-23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7A3F2110-BF1B-AFF6-3990-CEA92FE70E6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78735"/>
                <a:ext cx="10515600" cy="5626100"/>
              </a:xfrm>
            </p:spPr>
            <p:txBody>
              <a:bodyPr>
                <a:normAutofit/>
              </a:bodyPr>
              <a:lstStyle/>
              <a:p>
                <a:r>
                  <a:rPr lang="en-US" altLang="zh-CN" dirty="0"/>
                  <a:t>Advantage estimator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endParaRPr lang="en-US" altLang="zh-CN" b="0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sup>
                    </m:sSub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dirty="0"/>
                  <a:t> 时序差分误差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1-step advantage estimator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𝛾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i="1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+2</m:t>
                            </m:r>
                          </m:sub>
                        </m:sSub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b="0" dirty="0"/>
                  <a:t>	2</a:t>
                </a:r>
                <a:r>
                  <a:rPr lang="en-US" altLang="zh-CN" dirty="0"/>
                  <a:t>-step advantage estimator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𝛾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+2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+3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+…−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endParaRPr lang="en-US" altLang="zh-CN" b="0" dirty="0"/>
              </a:p>
              <a:p>
                <a:pPr marL="0" indent="0">
                  <a:buNone/>
                </a:pPr>
                <a:r>
                  <a:rPr lang="en-US" altLang="zh-CN" b="0" dirty="0"/>
                  <a:t>	</a:t>
                </a:r>
                <a:r>
                  <a:rPr lang="zh-CN" altLang="en-US" dirty="0"/>
                  <a:t>无穷步优势估计器</a:t>
                </a:r>
                <a:endParaRPr lang="en-US" altLang="zh-CN" b="0" dirty="0"/>
              </a:p>
              <a:p>
                <a:pPr marL="0" indent="0">
                  <a:buNone/>
                </a:pPr>
                <a:r>
                  <a:rPr lang="en-US" altLang="zh-CN" b="0" dirty="0"/>
                  <a:t>	</a:t>
                </a:r>
                <a:r>
                  <a:rPr lang="zh-CN" altLang="en-US" b="0" dirty="0"/>
                  <a:t>蒙特卡洛（</a:t>
                </a:r>
                <a:r>
                  <a:rPr lang="en-US" altLang="zh-CN" dirty="0"/>
                  <a:t>Monte Carlo</a:t>
                </a:r>
                <a:r>
                  <a:rPr lang="zh-CN" altLang="en-US" dirty="0"/>
                  <a:t>）</a:t>
                </a:r>
                <a:r>
                  <a:rPr lang="zh-CN" altLang="en-US" b="0" dirty="0"/>
                  <a:t>估计 </a:t>
                </a:r>
                <a:endParaRPr lang="en-US" altLang="zh-CN" b="0" dirty="0"/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7A3F2110-BF1B-AFF6-3990-CEA92FE70E6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78735"/>
                <a:ext cx="10515600" cy="5626100"/>
              </a:xfrm>
              <a:blipFill>
                <a:blip r:embed="rId3"/>
                <a:stretch>
                  <a:fillRect l="-1043" t="-205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>
            <a:extLst>
              <a:ext uri="{FF2B5EF4-FFF2-40B4-BE49-F238E27FC236}">
                <a16:creationId xmlns:a16="http://schemas.microsoft.com/office/drawing/2014/main" id="{09311012-9D10-BD95-3C2A-6065191E36C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17098" y="4889499"/>
            <a:ext cx="1325563" cy="1603376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43DE4165-D9BE-F0B9-79A3-45EB687EE9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0536" y="805154"/>
            <a:ext cx="4240212" cy="449890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0108ED98-536F-BDB7-83D1-00DFB2A8F96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9837" y="1259503"/>
            <a:ext cx="4491058" cy="367892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ED4DF3A6-6B87-558E-4CAF-F4A76FD00AF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22796" y="1627395"/>
            <a:ext cx="5769204" cy="740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51591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标题 1">
                <a:extLst>
                  <a:ext uri="{FF2B5EF4-FFF2-40B4-BE49-F238E27FC236}">
                    <a16:creationId xmlns:a16="http://schemas.microsoft.com/office/drawing/2014/main" id="{D0B6B657-33A3-D816-8AFE-5DD2CD032D73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𝛾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+2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+3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+…−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" name="标题 1">
                <a:extLst>
                  <a:ext uri="{FF2B5EF4-FFF2-40B4-BE49-F238E27FC236}">
                    <a16:creationId xmlns:a16="http://schemas.microsoft.com/office/drawing/2014/main" id="{D0B6B657-33A3-D816-8AFE-5DD2CD032D7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7F60CC0-1015-8063-D4AA-EA9A8F0461B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回顾蒙特卡洛估计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无穷步优势估计器从时刻</a:t>
                </a:r>
                <a:r>
                  <a:rPr lang="en-US" altLang="zh-CN" dirty="0"/>
                  <a:t>t</a:t>
                </a:r>
                <a:r>
                  <a:rPr lang="zh-CN" altLang="en-US" dirty="0"/>
                  <a:t>开始收集直到回合结束的所有奖励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采样的是每条轨迹的真实回报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方差大 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无偏性的必然结果</a:t>
                </a:r>
                <a:endParaRPr lang="en-US" altLang="zh-CN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𝛾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+2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+3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+…</m:t>
                    </m:r>
                  </m:oMath>
                </a14:m>
                <a:endParaRPr lang="en-US" altLang="zh-CN" b="0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从时间</a:t>
                </a:r>
                <a:r>
                  <a:rPr lang="en-US" altLang="zh-CN" dirty="0"/>
                  <a:t>t</a:t>
                </a:r>
                <a:r>
                  <a:rPr lang="zh-CN" altLang="en-US" dirty="0"/>
                  <a:t>开始的完整折扣回报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7F60CC0-1015-8063-D4AA-EA9A8F0461B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521" r="-2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737067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F319AD-9A5E-6912-CB45-3BD5815F09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949609" cy="1325563"/>
          </a:xfrm>
        </p:spPr>
        <p:txBody>
          <a:bodyPr/>
          <a:lstStyle/>
          <a:p>
            <a:r>
              <a:rPr lang="en-US" altLang="zh-CN" dirty="0"/>
              <a:t>n-step advantage estimator</a:t>
            </a:r>
            <a:r>
              <a:rPr lang="zh-CN" altLang="en-US" dirty="0"/>
              <a:t>里的方差和偏差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952E8AD-6ABE-352B-F1E5-3D6AFFCEED7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667250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̂"/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sup>
                    </m:sSub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endParaRPr lang="en-US" altLang="zh-CN" b="0" dirty="0"/>
              </a:p>
              <a:p>
                <a:pPr marL="0" indent="0">
                  <a:buNone/>
                </a:pPr>
                <a:r>
                  <a:rPr lang="en-US" altLang="zh-CN" b="0" dirty="0"/>
                  <a:t>	</a:t>
                </a:r>
                <a:r>
                  <a:rPr lang="zh-CN" altLang="en-US" b="0" dirty="0"/>
                  <a:t>高偏差 低方差</a:t>
                </a:r>
                <a:endParaRPr lang="en-US" altLang="zh-CN" b="0" dirty="0"/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̂"/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sup>
                    </m:sSub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 =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𝛾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+2</m:t>
                            </m:r>
                          </m:sub>
                        </m:sSub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endParaRPr lang="en-US" altLang="zh-CN" b="0" dirty="0"/>
              </a:p>
              <a:p>
                <a:r>
                  <a:rPr lang="en-US" altLang="zh-CN" b="0" dirty="0"/>
                  <a:t>……</a:t>
                </a:r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̂"/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𝑖𝑛𝑓</m:t>
                            </m:r>
                          </m:e>
                        </m:d>
                      </m:sup>
                    </m:sSub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𝛾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+2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+3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+…−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endParaRPr lang="en-US" altLang="zh-CN" b="0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高方差 低偏差</a:t>
                </a:r>
                <a:endParaRPr lang="en-US" altLang="zh-CN" dirty="0"/>
              </a:p>
              <a:p>
                <a:r>
                  <a:rPr lang="en-US" altLang="zh-CN" dirty="0"/>
                  <a:t>k</a:t>
                </a:r>
                <a:r>
                  <a:rPr lang="zh-CN" altLang="en-US" dirty="0"/>
                  <a:t>步优势估计器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en-US" altLang="zh-CN" b="0" dirty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̂"/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sup>
                    </m:sSub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bSup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 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endParaRPr lang="en-US" altLang="zh-CN" b="0" dirty="0"/>
              </a:p>
              <a:p>
                <a:pPr marL="0" indent="0">
                  <a:buNone/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952E8AD-6ABE-352B-F1E5-3D6AFFCEED7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667250"/>
              </a:xfrm>
              <a:blipFill>
                <a:blip r:embed="rId2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本框 3">
            <a:extLst>
              <a:ext uri="{FF2B5EF4-FFF2-40B4-BE49-F238E27FC236}">
                <a16:creationId xmlns:a16="http://schemas.microsoft.com/office/drawing/2014/main" id="{0190B7D9-7EDB-C9D4-88BC-BC54287E4332}"/>
              </a:ext>
            </a:extLst>
          </p:cNvPr>
          <p:cNvSpPr txBox="1"/>
          <p:nvPr/>
        </p:nvSpPr>
        <p:spPr>
          <a:xfrm>
            <a:off x="9100531" y="5970824"/>
            <a:ext cx="28143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hlinkClick r:id="rId3"/>
              </a:rPr>
              <a:t>web.stanford.edu/class/cs234/slides/lecture7pre.pdf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17977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标题 1">
                <a:extLst>
                  <a:ext uri="{FF2B5EF4-FFF2-40B4-BE49-F238E27FC236}">
                    <a16:creationId xmlns:a16="http://schemas.microsoft.com/office/drawing/2014/main" id="{2C25A5D6-F0C2-4345-76AF-AB9DF2F11524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用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sup>
                    </m:sSub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br>
                  <a:rPr lang="en-US" altLang="zh-CN" dirty="0"/>
                </a:br>
                <a:r>
                  <a:rPr lang="zh-CN" altLang="en-US" dirty="0"/>
                  <a:t>表示</a:t>
                </a:r>
                <a:r>
                  <a:rPr lang="en-US" altLang="zh-CN" dirty="0"/>
                  <a:t>n-step advantage estimator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2" name="标题 1">
                <a:extLst>
                  <a:ext uri="{FF2B5EF4-FFF2-40B4-BE49-F238E27FC236}">
                    <a16:creationId xmlns:a16="http://schemas.microsoft.com/office/drawing/2014/main" id="{2C25A5D6-F0C2-4345-76AF-AB9DF2F1152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 t="-12903" b="-2119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412FEED0-518B-2751-0F47-081B6A5E15E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5151645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̂"/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sup>
                    </m:sSub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endParaRPr lang="en-US" altLang="zh-CN" b="0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sup>
                    </m:sSubSup>
                  </m:oMath>
                </a14:m>
                <a:endParaRPr lang="en-US" altLang="zh-CN" dirty="0"/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̂"/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sup>
                    </m:sSub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𝛾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+2</m:t>
                            </m:r>
                          </m:sub>
                        </m:sSub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endParaRPr lang="en-US" altLang="zh-CN" b="0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sup>
                    </m:sSub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𝛾</m:t>
                    </m:r>
                    <m:sSubSup>
                      <m:sSub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sup>
                    </m:sSubSup>
                  </m:oMath>
                </a14:m>
                <a:r>
                  <a:rPr lang="en-US" altLang="zh-CN" dirty="0"/>
                  <a:t> 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望远镜求和  </a:t>
                </a:r>
                <a:r>
                  <a:rPr lang="en-US" altLang="zh-CN" dirty="0"/>
                  <a:t>telescoping sum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en-US" altLang="zh-CN" b="0" dirty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sup>
                    </m:sSub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b="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+2</m:t>
                            </m:r>
                          </m:sub>
                        </m:sSub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e>
                    </m:d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en-US" altLang="zh-CN" b="0" dirty="0"/>
                  <a:t>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𝛾</m:t>
                    </m:r>
                    <m:sSubSup>
                      <m:sSub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sup>
                    </m:sSub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𝛾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+2</m:t>
                            </m:r>
                          </m:sub>
                        </m:sSub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𝛾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e>
                    </m:d>
                  </m:oMath>
                </a14:m>
                <a:endParaRPr lang="en-US" altLang="zh-CN" dirty="0"/>
              </a:p>
              <a:p>
                <a:r>
                  <a:rPr lang="en-US" altLang="zh-CN" b="0" dirty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̂"/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acc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sup>
                    </m:sSub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bSup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 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bSup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sup>
                    </m:sSup>
                    <m:sSubSup>
                      <m:sSub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sup>
                    </m:sSubSup>
                  </m:oMath>
                </a14:m>
                <a:endParaRPr lang="en-US" altLang="zh-CN" b="0" dirty="0"/>
              </a:p>
              <a:p>
                <a:pPr marL="0" indent="0">
                  <a:buNone/>
                </a:pPr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412FEED0-518B-2751-0F47-081B6A5E15E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5151645"/>
              </a:xfrm>
              <a:blipFill>
                <a:blip r:embed="rId3"/>
                <a:stretch>
                  <a:fillRect l="-10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本框 3">
            <a:extLst>
              <a:ext uri="{FF2B5EF4-FFF2-40B4-BE49-F238E27FC236}">
                <a16:creationId xmlns:a16="http://schemas.microsoft.com/office/drawing/2014/main" id="{0FAC3EBD-987C-A004-4513-8694831CD4FC}"/>
              </a:ext>
            </a:extLst>
          </p:cNvPr>
          <p:cNvSpPr txBox="1"/>
          <p:nvPr/>
        </p:nvSpPr>
        <p:spPr>
          <a:xfrm>
            <a:off x="9100531" y="5970824"/>
            <a:ext cx="28143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hlinkClick r:id="rId4"/>
              </a:rPr>
              <a:t>web.stanford.edu/class/cs234/slides/lecture7pre.pdf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95353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9F1592-80D6-1AAF-DC34-B3D0757B2B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GAE</a:t>
            </a:r>
            <a:r>
              <a:rPr lang="zh-CN" altLang="en-US" dirty="0"/>
              <a:t>用指数进行指数加权平均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1C060CE8-C306-8A61-48C3-2293695F1DF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2919096"/>
              </a:xfrm>
            </p:spPr>
            <p:txBody>
              <a:bodyPr>
                <a:normAutofit/>
              </a:bodyPr>
              <a:lstStyle/>
              <a:p>
                <a:r>
                  <a:rPr lang="zh-CN" altLang="en-US" dirty="0"/>
                  <a:t>几何分布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在独立重复试验中，试验次数预先不能确定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设每次试验成功的概率为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b="0" i="1" smtClean="0"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lang="zh-CN" altLang="en-US" dirty="0"/>
                  <a:t>，将试验进行到成功一次为止，以</a:t>
                </a:r>
                <a:r>
                  <a:rPr lang="en-US" altLang="zh-CN" dirty="0"/>
                  <a:t>X</a:t>
                </a:r>
                <a:r>
                  <a:rPr lang="zh-CN" altLang="en-US" dirty="0"/>
                  <a:t>表示所需的试验次数，则</a:t>
                </a:r>
                <a:r>
                  <a:rPr lang="en-US" altLang="zh-CN" dirty="0"/>
                  <a:t>X</a:t>
                </a:r>
                <a:r>
                  <a:rPr lang="zh-CN" altLang="en-US" dirty="0"/>
                  <a:t>的分布律为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lit/>
                      </m:rPr>
                      <a:rPr lang="en-US" altLang="zh-CN" b="0" i="1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lit/>
                      </m:rPr>
                      <a:rPr lang="en-US" altLang="zh-CN" b="0" i="1" smtClean="0">
                        <a:latin typeface="Cambria Math" panose="02040503050406030204" pitchFamily="18" charset="0"/>
                      </a:rPr>
                      <m:t>}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m:rPr>
                                <m:sty m:val="p"/>
                              </m:r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λ</m:t>
                            </m:r>
                          </m:e>
                        </m:d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m:rPr>
                        <m:sty m:val="p"/>
                      </m:rPr>
                      <a:rPr lang="en-US" altLang="zh-CN" b="0" i="1" smtClean="0">
                        <a:latin typeface="Cambria Math" panose="02040503050406030204" pitchFamily="18" charset="0"/>
                      </a:rPr>
                      <m:t>λ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=1,2,…</m:t>
                    </m:r>
                  </m:oMath>
                </a14:m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称随机变量</a:t>
                </a:r>
                <a:r>
                  <a:rPr lang="en-US" altLang="zh-CN" dirty="0"/>
                  <a:t>X</a:t>
                </a:r>
                <a:r>
                  <a:rPr lang="zh-CN" altLang="en-US" dirty="0"/>
                  <a:t>服从参数为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b="0" i="1" smtClean="0"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lang="zh-CN" altLang="en-US" dirty="0"/>
                  <a:t>的几何分布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1C060CE8-C306-8A61-48C3-2293695F1DF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2919096"/>
              </a:xfrm>
              <a:blipFill>
                <a:blip r:embed="rId2"/>
                <a:stretch>
                  <a:fillRect l="-1217" t="-3758" b="-542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图片 8">
            <a:extLst>
              <a:ext uri="{FF2B5EF4-FFF2-40B4-BE49-F238E27FC236}">
                <a16:creationId xmlns:a16="http://schemas.microsoft.com/office/drawing/2014/main" id="{500D0BDA-4E91-18D3-3C1C-CDD75BA100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00531" y="240845"/>
            <a:ext cx="2905246" cy="1771033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BA01693C-650D-DCA4-92DA-5D1F96B560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7644" y="4744721"/>
            <a:ext cx="7068807" cy="46735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内容占位符 2">
                <a:extLst>
                  <a:ext uri="{FF2B5EF4-FFF2-40B4-BE49-F238E27FC236}">
                    <a16:creationId xmlns:a16="http://schemas.microsoft.com/office/drawing/2014/main" id="{0B35FBB1-D1FB-1EDB-2D4A-7F1D69E4965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746760" y="5212080"/>
                <a:ext cx="10515600" cy="182880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zh-CN" altLang="en-US" dirty="0"/>
                  <a:t>几何分布 首项为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b="0" i="1" smtClean="0"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lang="zh-CN" altLang="en-US" dirty="0"/>
                  <a:t>，公比为</a:t>
                </a:r>
                <a14:m>
                  <m:oMath xmlns:m="http://schemas.openxmlformats.org/officeDocument/2006/math"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1−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endParaRPr lang="en-US" altLang="zh-CN" b="0" dirty="0"/>
              </a:p>
              <a:p>
                <a:r>
                  <a:rPr lang="en-US" altLang="zh-CN" dirty="0"/>
                  <a:t>GAE</a:t>
                </a:r>
                <a:r>
                  <a:rPr lang="zh-CN" altLang="en-US" dirty="0"/>
                  <a:t>权重</a:t>
                </a:r>
                <a:r>
                  <a:rPr lang="en-US" altLang="zh-CN" dirty="0"/>
                  <a:t> </a:t>
                </a:r>
                <a:r>
                  <a:rPr lang="zh-CN" altLang="en-US" dirty="0"/>
                  <a:t>首项为</a:t>
                </a:r>
                <a14:m>
                  <m:oMath xmlns:m="http://schemas.openxmlformats.org/officeDocument/2006/math"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1−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zh-CN" altLang="en-US" b="0" dirty="0"/>
                  <a:t>，公比为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b="0" i="1" smtClean="0"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lang="en-US" altLang="zh-CN" b="0" dirty="0"/>
                  <a:t> 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指数加权平均</a:t>
                </a:r>
                <a:endParaRPr lang="en-US" altLang="zh-CN" b="0" dirty="0"/>
              </a:p>
            </p:txBody>
          </p:sp>
        </mc:Choice>
        <mc:Fallback xmlns="">
          <p:sp>
            <p:nvSpPr>
              <p:cNvPr id="12" name="内容占位符 2">
                <a:extLst>
                  <a:ext uri="{FF2B5EF4-FFF2-40B4-BE49-F238E27FC236}">
                    <a16:creationId xmlns:a16="http://schemas.microsoft.com/office/drawing/2014/main" id="{0B35FBB1-D1FB-1EDB-2D4A-7F1D69E496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760" y="5212080"/>
                <a:ext cx="10515600" cy="1828800"/>
              </a:xfrm>
              <a:prstGeom prst="rect">
                <a:avLst/>
              </a:prstGeom>
              <a:blipFill>
                <a:blip r:embed="rId5"/>
                <a:stretch>
                  <a:fillRect l="-1043" t="-5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文本框 13">
            <a:extLst>
              <a:ext uri="{FF2B5EF4-FFF2-40B4-BE49-F238E27FC236}">
                <a16:creationId xmlns:a16="http://schemas.microsoft.com/office/drawing/2014/main" id="{FF54C38E-4693-C278-7C21-CAF4D179FAF4}"/>
              </a:ext>
            </a:extLst>
          </p:cNvPr>
          <p:cNvSpPr txBox="1"/>
          <p:nvPr/>
        </p:nvSpPr>
        <p:spPr>
          <a:xfrm>
            <a:off x="9100531" y="5970824"/>
            <a:ext cx="28143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hlinkClick r:id="rId6"/>
              </a:rPr>
              <a:t>web.stanford.edu/class/cs234/slides/lecture7pre.pdf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021541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80792AC-44CB-84A8-15F7-B2A4D553C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GAE</a:t>
            </a:r>
            <a:r>
              <a:rPr lang="zh-CN" altLang="en-US" dirty="0"/>
              <a:t>就是</a:t>
            </a:r>
            <a:r>
              <a:rPr lang="en-US" altLang="zh-CN" dirty="0"/>
              <a:t>k</a:t>
            </a:r>
            <a:r>
              <a:rPr lang="zh-CN" altLang="en-US" dirty="0"/>
              <a:t>步优势估计器的指数加权平均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7865E615-82B8-87BD-0CE5-7349B6E6C1B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48360" y="5602818"/>
                <a:ext cx="10515600" cy="1123102"/>
              </a:xfrm>
            </p:spPr>
            <p:txBody>
              <a:bodyPr/>
              <a:lstStyle/>
              <a:p>
                <a:r>
                  <a:rPr lang="en-US" altLang="zh-CN" dirty="0"/>
                  <a:t>exponentially-weighted average</a:t>
                </a:r>
              </a:p>
              <a:p>
                <a:r>
                  <a:rPr lang="en-US" altLang="zh-CN" dirty="0"/>
                  <a:t>GAE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b="0" i="1" smtClean="0">
                        <a:latin typeface="Cambria Math" panose="02040503050406030204" pitchFamily="18" charset="0"/>
                      </a:rPr>
                      <m:t>γ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altLang="zh-CN" b="0" i="1" smtClean="0">
                        <a:latin typeface="Cambria Math" panose="02040503050406030204" pitchFamily="18" charset="0"/>
                      </a:rPr>
                      <m:t>λ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b="0" i="1" smtClean="0"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lang="zh-CN" altLang="en-US" dirty="0"/>
                  <a:t>为</a:t>
                </a:r>
                <a:r>
                  <a:rPr lang="en-US" altLang="zh-CN" dirty="0"/>
                  <a:t>GAE</a:t>
                </a:r>
                <a:r>
                  <a:rPr lang="zh-CN" altLang="en-US" dirty="0"/>
                  <a:t>的权重参数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7865E615-82B8-87BD-0CE5-7349B6E6C1B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48360" y="5602818"/>
                <a:ext cx="10515600" cy="1123102"/>
              </a:xfrm>
              <a:blipFill>
                <a:blip r:embed="rId2"/>
                <a:stretch>
                  <a:fillRect l="-1043" t="-9783" b="-27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图片 13">
            <a:extLst>
              <a:ext uri="{FF2B5EF4-FFF2-40B4-BE49-F238E27FC236}">
                <a16:creationId xmlns:a16="http://schemas.microsoft.com/office/drawing/2014/main" id="{43D29896-7428-94B7-A6D0-9015FFB9B479}"/>
              </a:ext>
            </a:extLst>
          </p:cNvPr>
          <p:cNvPicPr>
            <a:picLocks/>
          </p:cNvPicPr>
          <p:nvPr/>
        </p:nvPicPr>
        <p:blipFill>
          <a:blip r:embed="rId3"/>
          <a:srcRect b="82399"/>
          <a:stretch>
            <a:fillRect/>
          </a:stretch>
        </p:blipFill>
        <p:spPr>
          <a:xfrm>
            <a:off x="1203960" y="1837585"/>
            <a:ext cx="9784080" cy="692255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62920F33-1C75-E1C7-0779-B7A0D5D80D25}"/>
              </a:ext>
            </a:extLst>
          </p:cNvPr>
          <p:cNvPicPr>
            <a:picLocks/>
          </p:cNvPicPr>
          <p:nvPr/>
        </p:nvPicPr>
        <p:blipFill>
          <a:blip r:embed="rId3"/>
          <a:srcRect t="18100" b="70534"/>
          <a:stretch>
            <a:fillRect/>
          </a:stretch>
        </p:blipFill>
        <p:spPr>
          <a:xfrm>
            <a:off x="1203960" y="2453217"/>
            <a:ext cx="9784080" cy="447040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8737B6E0-57AA-60DD-2050-CD610DB8030B}"/>
              </a:ext>
            </a:extLst>
          </p:cNvPr>
          <p:cNvPicPr>
            <a:picLocks/>
          </p:cNvPicPr>
          <p:nvPr/>
        </p:nvPicPr>
        <p:blipFill>
          <a:blip r:embed="rId3"/>
          <a:srcRect l="-727" t="28967" r="727" b="46095"/>
          <a:stretch>
            <a:fillRect/>
          </a:stretch>
        </p:blipFill>
        <p:spPr>
          <a:xfrm>
            <a:off x="1132840" y="2900257"/>
            <a:ext cx="9784080" cy="980864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94BE8734-C101-F1DB-3067-E2C70389710D}"/>
              </a:ext>
            </a:extLst>
          </p:cNvPr>
          <p:cNvPicPr>
            <a:picLocks/>
          </p:cNvPicPr>
          <p:nvPr/>
        </p:nvPicPr>
        <p:blipFill>
          <a:blip r:embed="rId3"/>
          <a:srcRect t="53905" b="25437"/>
          <a:stretch>
            <a:fillRect/>
          </a:stretch>
        </p:blipFill>
        <p:spPr>
          <a:xfrm>
            <a:off x="1214120" y="3845296"/>
            <a:ext cx="9784080" cy="812483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FE945FFA-FB9F-8EA7-25F4-6373D38ED52A}"/>
              </a:ext>
            </a:extLst>
          </p:cNvPr>
          <p:cNvPicPr>
            <a:picLocks/>
          </p:cNvPicPr>
          <p:nvPr/>
        </p:nvPicPr>
        <p:blipFill>
          <a:blip r:embed="rId3"/>
          <a:srcRect t="75061"/>
          <a:stretch>
            <a:fillRect/>
          </a:stretch>
        </p:blipFill>
        <p:spPr>
          <a:xfrm>
            <a:off x="1203960" y="4621954"/>
            <a:ext cx="9784080" cy="980864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F09FFCA0-88A2-8480-61BD-AF24F3D6083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32115" y="5328392"/>
            <a:ext cx="1411525" cy="1113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59621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标题 1">
                <a:extLst>
                  <a:ext uri="{FF2B5EF4-FFF2-40B4-BE49-F238E27FC236}">
                    <a16:creationId xmlns:a16="http://schemas.microsoft.com/office/drawing/2014/main" id="{11E9EB39-0F97-CF98-5577-8A6B7590B628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altLang="zh-CN" dirty="0"/>
                  <a:t>GAE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b="0" i="1" smtClean="0">
                        <a:latin typeface="Cambria Math" panose="02040503050406030204" pitchFamily="18" charset="0"/>
                      </a:rPr>
                      <m:t>γ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,0)</m:t>
                    </m:r>
                  </m:oMath>
                </a14:m>
                <a:r>
                  <a:rPr lang="zh-CN" altLang="en-US" dirty="0"/>
                  <a:t>与</a:t>
                </a:r>
                <a:r>
                  <a:rPr lang="en-US" altLang="zh-CN" dirty="0"/>
                  <a:t>GAE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b="0" i="1" smtClean="0">
                        <a:latin typeface="Cambria Math" panose="02040503050406030204" pitchFamily="18" charset="0"/>
                      </a:rPr>
                      <m:t>γ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,1)</m:t>
                    </m:r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" name="标题 1">
                <a:extLst>
                  <a:ext uri="{FF2B5EF4-FFF2-40B4-BE49-F238E27FC236}">
                    <a16:creationId xmlns:a16="http://schemas.microsoft.com/office/drawing/2014/main" id="{11E9EB39-0F97-CF98-5577-8A6B7590B62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A10FABE-6373-C33D-9510-321C687B639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747895"/>
              </a:xfrm>
            </p:spPr>
            <p:txBody>
              <a:bodyPr>
                <a:normAutofit/>
              </a:bodyPr>
              <a:lstStyle/>
              <a:p>
                <a:r>
                  <a:rPr lang="en-US" altLang="zh-CN" dirty="0"/>
                  <a:t>GAE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b="0" i="1" smtClean="0">
                        <a:latin typeface="Cambria Math" panose="02040503050406030204" pitchFamily="18" charset="0"/>
                      </a:rPr>
                      <m:t>γ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,0)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即为</m:t>
                    </m:r>
                  </m:oMath>
                </a14:m>
                <a:r>
                  <a:rPr lang="en-US" altLang="zh-CN" dirty="0"/>
                  <a:t>TD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	GAE</a:t>
                </a:r>
                <a:r>
                  <a:rPr lang="zh-CN" altLang="en-US" dirty="0"/>
                  <a:t>退化成了经典</a:t>
                </a:r>
                <a:r>
                  <a:rPr lang="en-US" altLang="zh-CN" dirty="0"/>
                  <a:t>Actor-Critic</a:t>
                </a:r>
                <a:r>
                  <a:rPr lang="zh-CN" altLang="en-US" dirty="0"/>
                  <a:t>算法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基于</a:t>
                </a:r>
                <a:r>
                  <a:rPr lang="en-US" altLang="zh-CN" dirty="0"/>
                  <a:t>TD(0)</a:t>
                </a:r>
                <a:r>
                  <a:rPr lang="zh-CN" altLang="en-US" dirty="0"/>
                  <a:t>残差的优势函数估计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依赖单步</a:t>
                </a:r>
                <a:r>
                  <a:rPr lang="en-US" altLang="zh-CN" dirty="0"/>
                  <a:t>reward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偏差高，方差低</a:t>
                </a:r>
                <a:endParaRPr lang="en-US" altLang="zh-CN" dirty="0"/>
              </a:p>
              <a:p>
                <a:r>
                  <a:rPr lang="en-US" altLang="zh-CN" dirty="0"/>
                  <a:t>GAE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b="0" i="1" smtClean="0">
                        <a:latin typeface="Cambria Math" panose="02040503050406030204" pitchFamily="18" charset="0"/>
                      </a:rPr>
                      <m:t>γ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,1)</m:t>
                    </m:r>
                  </m:oMath>
                </a14:m>
                <a:r>
                  <a:rPr lang="zh-CN" altLang="en-US" dirty="0"/>
                  <a:t>即为</a:t>
                </a:r>
                <a:r>
                  <a:rPr lang="en-US" altLang="zh-CN" dirty="0"/>
                  <a:t>MC</a:t>
                </a:r>
              </a:p>
              <a:p>
                <a:pPr marL="0" indent="0">
                  <a:buNone/>
                </a:pPr>
                <a:r>
                  <a:rPr lang="en-US" altLang="zh-CN" dirty="0"/>
                  <a:t>	GAE</a:t>
                </a:r>
                <a:r>
                  <a:rPr lang="zh-CN" altLang="en-US" dirty="0"/>
                  <a:t>退化成了</a:t>
                </a:r>
                <a:r>
                  <a:rPr lang="en-US" altLang="zh-CN" dirty="0"/>
                  <a:t>reinforce</a:t>
                </a:r>
                <a:r>
                  <a:rPr lang="zh-CN" altLang="en-US" dirty="0"/>
                  <a:t>算法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基于蒙特卡洛方法的优势函数估计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偏差低，方差高</a:t>
                </a:r>
                <a:endParaRPr lang="en-US" altLang="zh-CN" dirty="0"/>
              </a:p>
              <a:p>
                <a:pPr marL="0" indent="0">
                  <a:buNone/>
                </a:pPr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A10FABE-6373-C33D-9510-321C687B639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747895"/>
              </a:xfrm>
              <a:blipFill>
                <a:blip r:embed="rId3"/>
                <a:stretch>
                  <a:fillRect l="-1043" t="-218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138936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标题 1">
                <a:extLst>
                  <a:ext uri="{FF2B5EF4-FFF2-40B4-BE49-F238E27FC236}">
                    <a16:creationId xmlns:a16="http://schemas.microsoft.com/office/drawing/2014/main" id="{C5827F52-7ABE-165E-A6D7-EA4A6C17BEEE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838200" y="110582"/>
                <a:ext cx="10515600" cy="1325563"/>
              </a:xfrm>
            </p:spPr>
            <p:txBody>
              <a:bodyPr/>
              <a:lstStyle/>
              <a:p>
                <a:r>
                  <a:rPr lang="en-US" altLang="zh-CN" dirty="0"/>
                  <a:t>GAE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b="0" i="1" smtClean="0">
                        <a:latin typeface="Cambria Math" panose="02040503050406030204" pitchFamily="18" charset="0"/>
                      </a:rPr>
                      <m:t>γ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altLang="zh-CN" b="0" i="1" smtClean="0">
                        <a:latin typeface="Cambria Math" panose="02040503050406030204" pitchFamily="18" charset="0"/>
                      </a:rPr>
                      <m:t>λ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里的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b="0" i="1" smtClean="0">
                        <a:latin typeface="Cambria Math" panose="02040503050406030204" pitchFamily="18" charset="0"/>
                      </a:rPr>
                      <m:t>γ</m:t>
                    </m:r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" name="标题 1">
                <a:extLst>
                  <a:ext uri="{FF2B5EF4-FFF2-40B4-BE49-F238E27FC236}">
                    <a16:creationId xmlns:a16="http://schemas.microsoft.com/office/drawing/2014/main" id="{C5827F52-7ABE-165E-A6D7-EA4A6C17BEE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38200" y="110582"/>
                <a:ext cx="10515600" cy="1325563"/>
              </a:xfrm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>
            <a:extLst>
              <a:ext uri="{FF2B5EF4-FFF2-40B4-BE49-F238E27FC236}">
                <a16:creationId xmlns:a16="http://schemas.microsoft.com/office/drawing/2014/main" id="{2884C246-FD24-D263-C2FF-2B67D2E1F7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300" y="2156905"/>
            <a:ext cx="11709400" cy="129392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内容占位符 2">
                <a:extLst>
                  <a:ext uri="{FF2B5EF4-FFF2-40B4-BE49-F238E27FC236}">
                    <a16:creationId xmlns:a16="http://schemas.microsoft.com/office/drawing/2014/main" id="{59D70852-4838-12DF-C34E-493AB1B464A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02217"/>
                <a:ext cx="10515600" cy="976520"/>
              </a:xfrm>
            </p:spPr>
            <p:txBody>
              <a:bodyPr>
                <a:normAutofit lnSpcReduction="10000"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𝛾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+2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𝛾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+3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+…−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endParaRPr lang="en-US" altLang="zh-CN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b="0" dirty="0"/>
                  <a:t>	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altLang="zh-CN" b="0" i="1" smtClean="0">
                        <a:latin typeface="Cambria Math" panose="02040503050406030204" pitchFamily="18" charset="0"/>
                      </a:rPr>
                      <m:t>γ</m:t>
                    </m:r>
                  </m:oMath>
                </a14:m>
                <a:r>
                  <a:rPr lang="zh-CN" altLang="en-US" dirty="0"/>
                  <a:t>是折扣因子？</a:t>
                </a:r>
              </a:p>
            </p:txBody>
          </p:sp>
        </mc:Choice>
        <mc:Fallback xmlns="">
          <p:sp>
            <p:nvSpPr>
              <p:cNvPr id="6" name="内容占位符 2">
                <a:extLst>
                  <a:ext uri="{FF2B5EF4-FFF2-40B4-BE49-F238E27FC236}">
                    <a16:creationId xmlns:a16="http://schemas.microsoft.com/office/drawing/2014/main" id="{59D70852-4838-12DF-C34E-493AB1B464A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02217"/>
                <a:ext cx="10515600" cy="976520"/>
              </a:xfrm>
              <a:blipFill>
                <a:blip r:embed="rId4"/>
                <a:stretch>
                  <a:fillRect b="-1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内容占位符 2">
                <a:extLst>
                  <a:ext uri="{FF2B5EF4-FFF2-40B4-BE49-F238E27FC236}">
                    <a16:creationId xmlns:a16="http://schemas.microsoft.com/office/drawing/2014/main" id="{BB44C158-075A-72D3-8FDB-06BDF5DC20A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3429000"/>
                <a:ext cx="10515600" cy="97652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lnSpcReduction="10000"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zh-CN" altLang="en-US" dirty="0"/>
                  <a:t>以无折扣成本总和为优化目标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没有折扣因子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b="0" i="1" smtClean="0">
                        <a:latin typeface="Cambria Math" panose="02040503050406030204" pitchFamily="18" charset="0"/>
                      </a:rPr>
                      <m:t>γ</m:t>
                    </m:r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7" name="内容占位符 2">
                <a:extLst>
                  <a:ext uri="{FF2B5EF4-FFF2-40B4-BE49-F238E27FC236}">
                    <a16:creationId xmlns:a16="http://schemas.microsoft.com/office/drawing/2014/main" id="{BB44C158-075A-72D3-8FDB-06BDF5DC20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429000"/>
                <a:ext cx="10515600" cy="976520"/>
              </a:xfrm>
              <a:prstGeom prst="rect">
                <a:avLst/>
              </a:prstGeom>
              <a:blipFill>
                <a:blip r:embed="rId5"/>
                <a:stretch>
                  <a:fillRect l="-1043" t="-15000" b="-1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图片 8">
            <a:extLst>
              <a:ext uri="{FF2B5EF4-FFF2-40B4-BE49-F238E27FC236}">
                <a16:creationId xmlns:a16="http://schemas.microsoft.com/office/drawing/2014/main" id="{C8D72B6F-AC6F-5AFE-7353-B6AC1F861AB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250" y="4281109"/>
            <a:ext cx="11239500" cy="2466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64975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标题 1">
                <a:extLst>
                  <a:ext uri="{FF2B5EF4-FFF2-40B4-BE49-F238E27FC236}">
                    <a16:creationId xmlns:a16="http://schemas.microsoft.com/office/drawing/2014/main" id="{830FE8D9-E1B6-67C4-B481-FE78CB5B22D9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b="0" i="1" smtClean="0">
                          <a:latin typeface="Cambria Math" panose="02040503050406030204" pitchFamily="18" charset="0"/>
                        </a:rPr>
                        <m:t>γ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" name="标题 1">
                <a:extLst>
                  <a:ext uri="{FF2B5EF4-FFF2-40B4-BE49-F238E27FC236}">
                    <a16:creationId xmlns:a16="http://schemas.microsoft.com/office/drawing/2014/main" id="{830FE8D9-E1B6-67C4-B481-FE78CB5B22D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0C661F60-E3C0-6750-92ED-407B921EC13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zh-CN" altLang="en-US" b="0" dirty="0"/>
                  <a:t>论文里的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b="0" i="1" smtClean="0">
                        <a:latin typeface="Cambria Math" panose="02040503050406030204" pitchFamily="18" charset="0"/>
                      </a:rPr>
                      <m:t>γ</m:t>
                    </m:r>
                  </m:oMath>
                </a14:m>
                <a:r>
                  <a:rPr lang="zh-CN" altLang="en-US" dirty="0"/>
                  <a:t>是一个为了工程实践而引入的算法参数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而非问题定义的一部分</a:t>
                </a:r>
                <a:endParaRPr lang="en-US" altLang="zh-CN" dirty="0"/>
              </a:p>
              <a:p>
                <a:r>
                  <a:rPr lang="zh-CN" altLang="en-US" dirty="0"/>
                  <a:t>引入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b="0" i="1" smtClean="0">
                        <a:latin typeface="Cambria Math" panose="02040503050406030204" pitchFamily="18" charset="0"/>
                      </a:rPr>
                      <m:t>γ</m:t>
                    </m:r>
                  </m:oMath>
                </a14:m>
                <a:r>
                  <a:rPr lang="zh-CN" altLang="en-US" dirty="0"/>
                  <a:t>以后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优化目标从无折扣变成了有折扣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这就引入了偏差 变成了有偏估计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	</a:t>
                </a:r>
                <a:r>
                  <a:rPr lang="zh-CN" altLang="en-US" dirty="0"/>
                  <a:t>用一个有偏差但低方差的梯度估计器，去优化一个无偏差的目标函数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0C661F60-E3C0-6750-92ED-407B921EC13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217" t="-23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751170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C34878-DED2-76B7-A7DA-127CA7114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GAE</a:t>
            </a:r>
            <a:r>
              <a:rPr lang="zh-CN" altLang="en-US" dirty="0"/>
              <a:t>的代码实现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92A16FA-B233-81AB-ED0D-35EEEE784000}"/>
              </a:ext>
            </a:extLst>
          </p:cNvPr>
          <p:cNvPicPr>
            <a:picLocks/>
          </p:cNvPicPr>
          <p:nvPr/>
        </p:nvPicPr>
        <p:blipFill>
          <a:blip r:embed="rId3"/>
          <a:srcRect b="82399"/>
          <a:stretch>
            <a:fillRect/>
          </a:stretch>
        </p:blipFill>
        <p:spPr>
          <a:xfrm>
            <a:off x="838200" y="2045737"/>
            <a:ext cx="9784080" cy="69225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35CE522A-C0EB-BC8D-7925-D5337E480028}"/>
                  </a:ext>
                </a:extLst>
              </p:cNvPr>
              <p:cNvSpPr txBox="1"/>
              <p:nvPr/>
            </p:nvSpPr>
            <p:spPr>
              <a:xfrm>
                <a:off x="838200" y="1517003"/>
                <a:ext cx="6096000" cy="5287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sup>
                      </m:sSubSup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𝛾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</m:e>
                      </m:d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2800" b="0" i="1" smtClean="0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altLang="zh-CN" sz="28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35CE522A-C0EB-BC8D-7925-D5337E4800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517003"/>
                <a:ext cx="6096000" cy="52873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图片 7">
            <a:extLst>
              <a:ext uri="{FF2B5EF4-FFF2-40B4-BE49-F238E27FC236}">
                <a16:creationId xmlns:a16="http://schemas.microsoft.com/office/drawing/2014/main" id="{4B69763F-C2CD-F2A9-944A-E3CD4FDF7171}"/>
              </a:ext>
            </a:extLst>
          </p:cNvPr>
          <p:cNvPicPr>
            <a:picLocks/>
          </p:cNvPicPr>
          <p:nvPr/>
        </p:nvPicPr>
        <p:blipFill>
          <a:blip r:embed="rId3"/>
          <a:srcRect t="75061"/>
          <a:stretch>
            <a:fillRect/>
          </a:stretch>
        </p:blipFill>
        <p:spPr>
          <a:xfrm>
            <a:off x="838200" y="2602609"/>
            <a:ext cx="9784080" cy="980864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6F960BD9-A0E4-86E8-495B-955FEA5CC5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6737" y="3489009"/>
            <a:ext cx="5716503" cy="530966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3A1A5B90-B644-7BCB-557E-5EAFB376CB4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56737" y="4069007"/>
            <a:ext cx="6684353" cy="530966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C6BFD257-7481-D3D8-072B-EC0078B0D72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56737" y="4649005"/>
            <a:ext cx="7946213" cy="53111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436072A5-530B-EA9D-FC89-1E0DA3E5877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0154" y="2015640"/>
            <a:ext cx="1305109" cy="1305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07521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C8884B8F-9A08-BF24-C5B5-6237CC406E58}"/>
              </a:ext>
            </a:extLst>
          </p:cNvPr>
          <p:cNvSpPr txBox="1"/>
          <p:nvPr/>
        </p:nvSpPr>
        <p:spPr>
          <a:xfrm>
            <a:off x="0" y="1091420"/>
            <a:ext cx="12192000" cy="5736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25"/>
              </a:lnSpc>
              <a:buNone/>
            </a:pPr>
            <a:r>
              <a:rPr lang="en-US" altLang="zh-CN" sz="20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altLang="zh-CN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numpy </a:t>
            </a:r>
            <a:r>
              <a:rPr lang="en-US" altLang="zh-CN" sz="20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US" altLang="zh-CN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np</a:t>
            </a:r>
          </a:p>
          <a:p>
            <a:pPr>
              <a:lnSpc>
                <a:spcPts val="2025"/>
              </a:lnSpc>
              <a:buNone/>
            </a:pPr>
            <a:r>
              <a:rPr lang="en-US" altLang="zh-CN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altLang="zh-CN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0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GAE</a:t>
            </a:r>
            <a:r>
              <a:rPr lang="en-US" altLang="zh-CN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pPr>
              <a:lnSpc>
                <a:spcPts val="2025"/>
              </a:lnSpc>
              <a:buNone/>
            </a:pPr>
            <a:r>
              <a:rPr lang="en-US" altLang="zh-CN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altLang="zh-CN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0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__init__</a:t>
            </a:r>
            <a:r>
              <a:rPr lang="en-US" altLang="zh-CN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2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zh-CN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2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n_workers</a:t>
            </a:r>
            <a:r>
              <a:rPr lang="en-US" altLang="zh-CN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zh-CN" sz="20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2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worker_steps</a:t>
            </a:r>
            <a:r>
              <a:rPr lang="en-US" altLang="zh-CN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zh-CN" sz="20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2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gamma</a:t>
            </a:r>
            <a:r>
              <a:rPr lang="en-US" altLang="zh-CN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zh-CN" sz="20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lang="en-US" altLang="zh-CN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2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lambda_</a:t>
            </a:r>
            <a:r>
              <a:rPr lang="en-US" altLang="zh-CN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altLang="zh-CN" sz="20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lang="en-US" altLang="zh-CN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pPr>
              <a:lnSpc>
                <a:spcPts val="2025"/>
              </a:lnSpc>
              <a:buNone/>
            </a:pPr>
            <a:r>
              <a:rPr lang="en-US" altLang="zh-CN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zh-CN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.lambda_ 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lambda_</a:t>
            </a:r>
          </a:p>
          <a:p>
            <a:pPr>
              <a:lnSpc>
                <a:spcPts val="2025"/>
              </a:lnSpc>
              <a:buNone/>
            </a:pPr>
            <a:r>
              <a:rPr lang="en-US" altLang="zh-CN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zh-CN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.gamma 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gamma</a:t>
            </a:r>
          </a:p>
          <a:p>
            <a:pPr>
              <a:lnSpc>
                <a:spcPts val="2025"/>
              </a:lnSpc>
              <a:buNone/>
            </a:pPr>
            <a:r>
              <a:rPr lang="en-US" altLang="zh-CN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zh-CN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.worker_steps 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worker_steps</a:t>
            </a:r>
          </a:p>
          <a:p>
            <a:pPr>
              <a:lnSpc>
                <a:spcPts val="2025"/>
              </a:lnSpc>
              <a:buNone/>
            </a:pPr>
            <a:r>
              <a:rPr lang="en-US" altLang="zh-CN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zh-CN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.n_workers 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n_workers</a:t>
            </a:r>
          </a:p>
          <a:p>
            <a:pPr>
              <a:lnSpc>
                <a:spcPts val="2025"/>
              </a:lnSpc>
              <a:buNone/>
            </a:pPr>
            <a:r>
              <a:rPr lang="en-US" altLang="zh-CN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US" altLang="zh-CN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0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__call__</a:t>
            </a:r>
            <a:r>
              <a:rPr lang="en-US" altLang="zh-CN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2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zh-CN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sz="2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done</a:t>
            </a:r>
            <a:r>
              <a:rPr lang="en-US" altLang="zh-CN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 np.ndarray, </a:t>
            </a:r>
            <a:r>
              <a:rPr lang="en-US" altLang="zh-CN" sz="2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rewards</a:t>
            </a:r>
            <a:r>
              <a:rPr lang="en-US" altLang="zh-CN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 np.ndarray, </a:t>
            </a:r>
            <a:r>
              <a:rPr lang="en-US" altLang="zh-CN" sz="2000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values</a:t>
            </a:r>
            <a:r>
              <a:rPr lang="en-US" altLang="zh-CN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: np.ndarray) -&gt; np.ndarray:</a:t>
            </a:r>
          </a:p>
          <a:p>
            <a:pPr>
              <a:lnSpc>
                <a:spcPts val="2025"/>
              </a:lnSpc>
              <a:buNone/>
            </a:pPr>
            <a:r>
              <a:rPr lang="en-US" altLang="zh-CN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advantages 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np.zeros((</a:t>
            </a:r>
            <a:r>
              <a:rPr lang="en-US" altLang="zh-CN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zh-CN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.n_workers, </a:t>
            </a:r>
            <a:r>
              <a:rPr lang="en-US" altLang="zh-CN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zh-CN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.worker_steps), </a:t>
            </a:r>
            <a:r>
              <a:rPr lang="en-US" altLang="zh-CN" sz="20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dtype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np.float32)</a:t>
            </a:r>
          </a:p>
          <a:p>
            <a:pPr>
              <a:lnSpc>
                <a:spcPts val="2025"/>
              </a:lnSpc>
              <a:buNone/>
            </a:pPr>
            <a:r>
              <a:rPr lang="en-US" altLang="zh-CN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last_advantage 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endParaRPr lang="en-US" altLang="zh-CN" sz="20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2025"/>
              </a:lnSpc>
              <a:buNone/>
            </a:pPr>
            <a:r>
              <a:rPr lang="en-US" altLang="zh-CN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last_value 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values[:, 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altLang="zh-CN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pPr>
              <a:lnSpc>
                <a:spcPts val="2025"/>
              </a:lnSpc>
              <a:buNone/>
            </a:pPr>
            <a:r>
              <a:rPr lang="en-US" altLang="zh-CN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sz="20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zh-CN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t </a:t>
            </a:r>
            <a:r>
              <a:rPr lang="en-US" altLang="zh-CN" sz="20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n-US" altLang="zh-CN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0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reversed</a:t>
            </a:r>
            <a:r>
              <a:rPr lang="en-US" altLang="zh-CN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20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range</a:t>
            </a:r>
            <a:r>
              <a:rPr lang="en-US" altLang="zh-CN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zh-CN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.worker_steps)):</a:t>
            </a:r>
          </a:p>
          <a:p>
            <a:pPr>
              <a:lnSpc>
                <a:spcPts val="2025"/>
              </a:lnSpc>
              <a:buNone/>
            </a:pPr>
            <a:r>
              <a:rPr lang="en-US" altLang="zh-CN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mask 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1.0</a:t>
            </a:r>
            <a:r>
              <a:rPr lang="en-US" altLang="zh-CN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altLang="zh-CN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done[:, t]</a:t>
            </a:r>
          </a:p>
          <a:p>
            <a:pPr>
              <a:lnSpc>
                <a:spcPts val="2025"/>
              </a:lnSpc>
              <a:buNone/>
            </a:pPr>
            <a:r>
              <a:rPr lang="en-US" altLang="zh-CN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last_value 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last_value 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altLang="zh-CN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mask</a:t>
            </a:r>
          </a:p>
          <a:p>
            <a:pPr>
              <a:lnSpc>
                <a:spcPts val="2025"/>
              </a:lnSpc>
              <a:buNone/>
            </a:pPr>
            <a:r>
              <a:rPr lang="en-US" altLang="zh-CN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last_advantage 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last_advantage 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altLang="zh-CN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mask</a:t>
            </a:r>
          </a:p>
          <a:p>
            <a:pPr>
              <a:lnSpc>
                <a:spcPts val="2025"/>
              </a:lnSpc>
              <a:buNone/>
            </a:pPr>
            <a:r>
              <a:rPr lang="en-US" altLang="zh-CN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delta 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rewards[:, t] 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altLang="zh-CN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zh-CN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.gamma 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altLang="zh-CN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last_value 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altLang="zh-CN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values[:, t]</a:t>
            </a:r>
          </a:p>
          <a:p>
            <a:pPr>
              <a:lnSpc>
                <a:spcPts val="2025"/>
              </a:lnSpc>
              <a:buNone/>
            </a:pPr>
            <a:r>
              <a:rPr lang="en-US" altLang="zh-CN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last_advantage 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delta 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altLang="zh-CN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zh-CN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.gamma 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altLang="zh-CN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US" altLang="zh-CN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.lambda_ 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altLang="zh-CN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last_advantage</a:t>
            </a:r>
          </a:p>
          <a:p>
            <a:pPr>
              <a:lnSpc>
                <a:spcPts val="2025"/>
              </a:lnSpc>
              <a:buNone/>
            </a:pPr>
            <a:r>
              <a:rPr lang="en-US" altLang="zh-CN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advantages[:, t] 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last_advantage</a:t>
            </a:r>
          </a:p>
          <a:p>
            <a:pPr>
              <a:lnSpc>
                <a:spcPts val="2025"/>
              </a:lnSpc>
              <a:buNone/>
            </a:pPr>
            <a:r>
              <a:rPr lang="en-US" altLang="zh-CN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    last_value </a:t>
            </a:r>
            <a:r>
              <a:rPr lang="en-US" altLang="zh-CN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values[:, t]</a:t>
            </a:r>
          </a:p>
          <a:p>
            <a:pPr>
              <a:lnSpc>
                <a:spcPts val="2025"/>
              </a:lnSpc>
              <a:buNone/>
            </a:pPr>
            <a:r>
              <a:rPr lang="en-US" altLang="zh-CN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sz="20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zh-CN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advantages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AA32486-AA1A-B89A-8C2F-C37E0018523D}"/>
              </a:ext>
            </a:extLst>
          </p:cNvPr>
          <p:cNvSpPr txBox="1"/>
          <p:nvPr/>
        </p:nvSpPr>
        <p:spPr>
          <a:xfrm>
            <a:off x="969066" y="178761"/>
            <a:ext cx="400049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https://github.com/labmlai/annotated_deep_learning_paper_implementations/tree/master/labml_nn/rl/ppo/gae.py</a:t>
            </a:r>
            <a:endParaRPr lang="zh-CN" altLang="en-US" dirty="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B872CCDA-71D6-96A2-AC36-9B254B0A43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4781" y="342629"/>
            <a:ext cx="6292002" cy="833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11482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07685CE2-8053-F7F7-7A50-C1D9CA26541C}"/>
              </a:ext>
            </a:extLst>
          </p:cNvPr>
          <p:cNvSpPr txBox="1"/>
          <p:nvPr/>
        </p:nvSpPr>
        <p:spPr>
          <a:xfrm>
            <a:off x="488508" y="582067"/>
            <a:ext cx="10090702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/>
              <a:t>参数: n_workers=2, worker_steps=3, gamma=0.9, lambda=0.8</a:t>
            </a:r>
          </a:p>
          <a:p>
            <a:endParaRPr lang="zh-CN" altLang="en-US" sz="2800" dirty="0"/>
          </a:p>
          <a:p>
            <a:r>
              <a:rPr lang="zh-CN" altLang="en-US" sz="2800" dirty="0"/>
              <a:t>输入数据:</a:t>
            </a:r>
          </a:p>
          <a:p>
            <a:r>
              <a:rPr lang="zh-CN" altLang="en-US" sz="2800" dirty="0"/>
              <a:t>done:</a:t>
            </a:r>
          </a:p>
          <a:p>
            <a:r>
              <a:rPr lang="zh-CN" altLang="en-US" sz="2800" dirty="0"/>
              <a:t>[[0. 0. 1.]</a:t>
            </a:r>
          </a:p>
          <a:p>
            <a:r>
              <a:rPr lang="zh-CN" altLang="en-US" sz="2800" dirty="0"/>
              <a:t> [0. 0. 0.]]</a:t>
            </a:r>
          </a:p>
          <a:p>
            <a:r>
              <a:rPr lang="zh-CN" altLang="en-US" sz="2800" dirty="0"/>
              <a:t>rewards:</a:t>
            </a:r>
          </a:p>
          <a:p>
            <a:r>
              <a:rPr lang="zh-CN" altLang="en-US" sz="2800" dirty="0"/>
              <a:t>[[1.  2.  3. ]</a:t>
            </a:r>
          </a:p>
          <a:p>
            <a:r>
              <a:rPr lang="zh-CN" altLang="en-US" sz="2800" dirty="0"/>
              <a:t> [0.5 1.5 2.5]]</a:t>
            </a:r>
          </a:p>
          <a:p>
            <a:r>
              <a:rPr lang="zh-CN" altLang="en-US" sz="2800" dirty="0"/>
              <a:t>values:</a:t>
            </a:r>
          </a:p>
          <a:p>
            <a:r>
              <a:rPr lang="zh-CN" altLang="en-US" sz="2800" dirty="0"/>
              <a:t>[[0.1 0.2 0.3 0. ]</a:t>
            </a:r>
          </a:p>
          <a:p>
            <a:r>
              <a:rPr lang="zh-CN" altLang="en-US" sz="2800" dirty="0"/>
              <a:t> [0.1 0.2 0.3 0. ]]</a:t>
            </a:r>
          </a:p>
          <a:p>
            <a:r>
              <a:rPr lang="zh-CN" altLang="en-US" sz="2800" dirty="0"/>
              <a:t>初始化: last_value = [0. 0.], last_advantage = 0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663CD458-4778-FBB5-8EA6-036214AFE6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5748" y="1699498"/>
            <a:ext cx="9326252" cy="814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85900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AF108FA8-67B6-7544-D436-84D77CBE86FD}"/>
              </a:ext>
            </a:extLst>
          </p:cNvPr>
          <p:cNvSpPr txBox="1"/>
          <p:nvPr/>
        </p:nvSpPr>
        <p:spPr>
          <a:xfrm>
            <a:off x="554105" y="617597"/>
            <a:ext cx="11432485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/>
              <a:t>--- 时间步 t=2 ---</a:t>
            </a:r>
          </a:p>
          <a:p>
            <a:r>
              <a:rPr lang="zh-CN" altLang="en-US" sz="2800" dirty="0"/>
              <a:t>done[:, 2] = [1. 0.]</a:t>
            </a:r>
          </a:p>
          <a:p>
            <a:r>
              <a:rPr lang="zh-CN" altLang="en-US" sz="2800" dirty="0"/>
              <a:t>mask = 1 - done[:, 2] = [0. 1.]</a:t>
            </a:r>
          </a:p>
          <a:p>
            <a:r>
              <a:rPr lang="zh-CN" altLang="en-US" sz="2800" dirty="0"/>
              <a:t>应用mask前: last_value = [0. 0.], last_advantage = 0</a:t>
            </a:r>
          </a:p>
          <a:p>
            <a:r>
              <a:rPr lang="zh-CN" altLang="en-US" sz="2800" dirty="0"/>
              <a:t>应用mask后: last_value = [0. 0.], last_advantage = [0. 0.]</a:t>
            </a:r>
          </a:p>
          <a:p>
            <a:r>
              <a:rPr lang="zh-CN" altLang="en-US" sz="2800" dirty="0"/>
              <a:t>rewards[:, 2] = [3.  2.5]</a:t>
            </a:r>
          </a:p>
          <a:p>
            <a:r>
              <a:rPr lang="zh-CN" altLang="en-US" sz="2800" dirty="0"/>
              <a:t>values[:, 2] = [0.3 0.3]</a:t>
            </a:r>
          </a:p>
          <a:p>
            <a:r>
              <a:rPr lang="zh-CN" altLang="en-US" sz="2800" dirty="0"/>
              <a:t>delta = rewards + gamma*last_value - values = [2.7 2.2]</a:t>
            </a:r>
          </a:p>
          <a:p>
            <a:r>
              <a:rPr lang="zh-CN" altLang="en-US" sz="2800" dirty="0"/>
              <a:t>new last_advantage = delta + gamma*lambda*last_advantage = [2.7 2.2]</a:t>
            </a:r>
          </a:p>
          <a:p>
            <a:r>
              <a:rPr lang="zh-CN" altLang="en-US" sz="2800" dirty="0"/>
              <a:t>advantages[:, 2] = [2.7 2.2]</a:t>
            </a:r>
          </a:p>
          <a:p>
            <a:r>
              <a:rPr lang="zh-CN" altLang="en-US" sz="2800" dirty="0"/>
              <a:t>更新last_value = values[:, 2] = [0.3 0.3]</a:t>
            </a:r>
          </a:p>
        </p:txBody>
      </p:sp>
    </p:spTree>
    <p:extLst>
      <p:ext uri="{BB962C8B-B14F-4D97-AF65-F5344CB8AC3E}">
        <p14:creationId xmlns:p14="http://schemas.microsoft.com/office/powerpoint/2010/main" val="19384220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5342573E-D2E3-117E-A4BD-77D7EFC365C2}"/>
              </a:ext>
            </a:extLst>
          </p:cNvPr>
          <p:cNvSpPr txBox="1"/>
          <p:nvPr/>
        </p:nvSpPr>
        <p:spPr>
          <a:xfrm>
            <a:off x="119656" y="921058"/>
            <a:ext cx="12072344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dirty="0"/>
              <a:t>--- </a:t>
            </a:r>
            <a:r>
              <a:rPr lang="zh-CN" altLang="en-US" sz="2800" dirty="0"/>
              <a:t>时间步 </a:t>
            </a:r>
            <a:r>
              <a:rPr lang="en-US" altLang="zh-CN" sz="2800" dirty="0"/>
              <a:t>t=1 ---</a:t>
            </a:r>
          </a:p>
          <a:p>
            <a:r>
              <a:rPr lang="en-US" altLang="zh-CN" sz="2800" dirty="0"/>
              <a:t>done[:, 1] = [0. 0.]</a:t>
            </a:r>
          </a:p>
          <a:p>
            <a:r>
              <a:rPr lang="en-US" altLang="zh-CN" sz="2800" dirty="0"/>
              <a:t>mask = 1 - done[:, 1] = [1. 1.]</a:t>
            </a:r>
          </a:p>
          <a:p>
            <a:r>
              <a:rPr lang="zh-CN" altLang="en-US" sz="2800" dirty="0"/>
              <a:t>应用</a:t>
            </a:r>
            <a:r>
              <a:rPr lang="en-US" altLang="zh-CN" sz="2800" dirty="0"/>
              <a:t>mask</a:t>
            </a:r>
            <a:r>
              <a:rPr lang="zh-CN" altLang="en-US" sz="2800" dirty="0"/>
              <a:t>前</a:t>
            </a:r>
            <a:r>
              <a:rPr lang="en-US" altLang="zh-CN" sz="2800" dirty="0"/>
              <a:t>: last_value = [0.3 0.3], last_advantage = [2.7 2.2]</a:t>
            </a:r>
          </a:p>
          <a:p>
            <a:r>
              <a:rPr lang="zh-CN" altLang="en-US" sz="2800" dirty="0"/>
              <a:t>应用</a:t>
            </a:r>
            <a:r>
              <a:rPr lang="en-US" altLang="zh-CN" sz="2800" dirty="0"/>
              <a:t>mask</a:t>
            </a:r>
            <a:r>
              <a:rPr lang="zh-CN" altLang="en-US" sz="2800" dirty="0"/>
              <a:t>后</a:t>
            </a:r>
            <a:r>
              <a:rPr lang="en-US" altLang="zh-CN" sz="2800" dirty="0"/>
              <a:t>: last_value = [0.3 0.3], last_advantage = [2.7 2.2]</a:t>
            </a:r>
          </a:p>
          <a:p>
            <a:r>
              <a:rPr lang="en-US" altLang="zh-CN" sz="2800" dirty="0"/>
              <a:t>rewards[:, 1] = [2.  1.5]</a:t>
            </a:r>
          </a:p>
          <a:p>
            <a:r>
              <a:rPr lang="en-US" altLang="zh-CN" sz="2800" dirty="0"/>
              <a:t>values[:, 1] = [0.2 0.2]</a:t>
            </a:r>
          </a:p>
          <a:p>
            <a:r>
              <a:rPr lang="en-US" altLang="zh-CN" sz="2800" dirty="0"/>
              <a:t>delta = rewards + gamma*last_value - values = [2.07      1.5699999]</a:t>
            </a:r>
          </a:p>
          <a:p>
            <a:r>
              <a:rPr lang="en-US" altLang="zh-CN" sz="2800" dirty="0"/>
              <a:t>new last_advantage = delta + gamma*lambda*last_advantage = [4.014 3.154]</a:t>
            </a:r>
          </a:p>
          <a:p>
            <a:r>
              <a:rPr lang="en-US" altLang="zh-CN" sz="2800" dirty="0"/>
              <a:t>advantages[:, 1] = [4.014 3.154]</a:t>
            </a:r>
          </a:p>
          <a:p>
            <a:r>
              <a:rPr lang="zh-CN" altLang="en-US" sz="2800" dirty="0"/>
              <a:t>更新</a:t>
            </a:r>
            <a:r>
              <a:rPr lang="en-US" altLang="zh-CN" sz="2800" dirty="0"/>
              <a:t>last_value = values[:, 1] = [0.2 0.2]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9528166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1B140F6E-3E95-B15D-F4EC-A4F9D5E0EA43}"/>
              </a:ext>
            </a:extLst>
          </p:cNvPr>
          <p:cNvSpPr txBox="1"/>
          <p:nvPr/>
        </p:nvSpPr>
        <p:spPr>
          <a:xfrm>
            <a:off x="101821" y="0"/>
            <a:ext cx="1170432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/>
              <a:t>--- 时间步 t=0 ---</a:t>
            </a:r>
          </a:p>
          <a:p>
            <a:r>
              <a:rPr lang="zh-CN" altLang="en-US" sz="2800" dirty="0"/>
              <a:t>done[:, 0] = [0. 0.]</a:t>
            </a:r>
          </a:p>
          <a:p>
            <a:r>
              <a:rPr lang="zh-CN" altLang="en-US" sz="2800" dirty="0"/>
              <a:t>mask = 1 - done[:, 0] = [1. 1.]</a:t>
            </a:r>
          </a:p>
          <a:p>
            <a:r>
              <a:rPr lang="zh-CN" altLang="en-US" sz="2800" dirty="0"/>
              <a:t>应用mask前: last_value = [0.2 0.2], last_advantage = [4.014 3.154]</a:t>
            </a:r>
          </a:p>
          <a:p>
            <a:r>
              <a:rPr lang="zh-CN" altLang="en-US" sz="2800" dirty="0"/>
              <a:t>应用mask后: last_value = [0.2 0.2], last_advantage = [4.014 3.154]</a:t>
            </a:r>
          </a:p>
          <a:p>
            <a:r>
              <a:rPr lang="zh-CN" altLang="en-US" sz="2800" dirty="0"/>
              <a:t>rewards[:, 0] = [1.  0.5]</a:t>
            </a:r>
          </a:p>
          <a:p>
            <a:r>
              <a:rPr lang="zh-CN" altLang="en-US" sz="2800" dirty="0"/>
              <a:t>values[:, 0] = [0.1 0.1]</a:t>
            </a:r>
          </a:p>
          <a:p>
            <a:r>
              <a:rPr lang="zh-CN" altLang="en-US" sz="2800" dirty="0"/>
              <a:t>delta = rewards + gamma*last_value - values = [1.0799999 0.58     ]</a:t>
            </a:r>
          </a:p>
          <a:p>
            <a:r>
              <a:rPr lang="zh-CN" altLang="en-US" sz="2800" dirty="0"/>
              <a:t>new last_advantage = delta + gamma*lambda*last_advantage = [3.97008   2.8508801]</a:t>
            </a:r>
          </a:p>
          <a:p>
            <a:r>
              <a:rPr lang="zh-CN" altLang="en-US" sz="2800" dirty="0"/>
              <a:t>advantages[:, 0] = [3.97008   2.8508801]</a:t>
            </a:r>
          </a:p>
          <a:p>
            <a:r>
              <a:rPr lang="zh-CN" altLang="en-US" sz="2800" dirty="0"/>
              <a:t>更新last_value = values[:, 0] = [0.1 0.1]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6132EC5-67DA-AAB8-D10B-7B654CAE2CDC}"/>
              </a:ext>
            </a:extLst>
          </p:cNvPr>
          <p:cNvSpPr txBox="1"/>
          <p:nvPr/>
        </p:nvSpPr>
        <p:spPr>
          <a:xfrm>
            <a:off x="1627533" y="5262979"/>
            <a:ext cx="6097656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/>
              <a:t>最终</a:t>
            </a:r>
            <a:r>
              <a:rPr lang="en-US" altLang="zh-CN" sz="2800" dirty="0"/>
              <a:t>advantages</a:t>
            </a:r>
            <a:r>
              <a:rPr lang="zh-CN" altLang="en-US" sz="2800" dirty="0"/>
              <a:t>矩阵</a:t>
            </a:r>
            <a:r>
              <a:rPr lang="en-US" altLang="zh-CN" sz="2800" dirty="0"/>
              <a:t>:</a:t>
            </a:r>
          </a:p>
          <a:p>
            <a:r>
              <a:rPr lang="en-US" altLang="zh-CN" sz="2800" dirty="0"/>
              <a:t>[[3.97008   4.014     2.7      ]</a:t>
            </a:r>
          </a:p>
          <a:p>
            <a:r>
              <a:rPr lang="en-US" altLang="zh-CN" sz="2800" dirty="0"/>
              <a:t> [2.8508801 3.154     2.2      ]]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8549586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1385</TotalTime>
  <Words>1682</Words>
  <Application>Microsoft Office PowerPoint</Application>
  <PresentationFormat>宽屏</PresentationFormat>
  <Paragraphs>163</Paragraphs>
  <Slides>18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5" baseType="lpstr">
      <vt:lpstr>等线</vt:lpstr>
      <vt:lpstr>等线 Light</vt:lpstr>
      <vt:lpstr>黑体</vt:lpstr>
      <vt:lpstr>Arial</vt:lpstr>
      <vt:lpstr>Cambria Math</vt:lpstr>
      <vt:lpstr>Consolas</vt:lpstr>
      <vt:lpstr>Office 主题​​</vt:lpstr>
      <vt:lpstr>Generalized Advantage Estimation 广义优势估计</vt:lpstr>
      <vt:lpstr>主要内容</vt:lpstr>
      <vt:lpstr>优势函数</vt:lpstr>
      <vt:lpstr>对期望Q_π (s_t,a_t )-V_π (s_t )进行估计</vt:lpstr>
      <vt:lpstr>r_t+γr_(t+1)+γ^2 r_(t+2)+γ^3 r_(t+3)+…-V(s_t )</vt:lpstr>
      <vt:lpstr>n-step advantage estimator里的方差和偏差</vt:lpstr>
      <vt:lpstr>用δ_t^V=r_t+γV(s_(t+1) )-V(s_t ) 表示n-step advantage estimator</vt:lpstr>
      <vt:lpstr>GAE用指数进行指数加权平均</vt:lpstr>
      <vt:lpstr>GAE就是k步优势估计器的指数加权平均</vt:lpstr>
      <vt:lpstr>GAE(γ,0)与GAE(γ,1)</vt:lpstr>
      <vt:lpstr>GAE(γ,λ)里的γ</vt:lpstr>
      <vt:lpstr>γ</vt:lpstr>
      <vt:lpstr>GAE的代码实现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钰哲 赵</dc:creator>
  <cp:lastModifiedBy>钰哲 赵</cp:lastModifiedBy>
  <cp:revision>9</cp:revision>
  <dcterms:created xsi:type="dcterms:W3CDTF">2025-11-19T02:49:53Z</dcterms:created>
  <dcterms:modified xsi:type="dcterms:W3CDTF">2025-11-20T03:53:27Z</dcterms:modified>
</cp:coreProperties>
</file>