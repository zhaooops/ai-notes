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24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62C6B-11DB-4EA8-99C7-8F3CB1E44A74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B1BE6A-C486-498C-8C51-6CEA5BF73D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74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B1BE6A-C486-498C-8C51-6CEA5BF73DF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39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5F6D0-96C5-ACB1-8A0E-449424FB9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51B0A4-AA15-AD84-599D-55AF5ADFC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DFC3F-125B-B599-0689-9680C480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07D203-7DB1-1B6A-7C95-350FE011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61D425-E8C2-4810-AB21-C59CAB7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09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44B63-693E-5742-F5D5-1A3649BDD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63CAF-2F72-27EE-CAB9-8E185AB3F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F8CB1-A1A8-CC4D-A6F1-C2AFB1B32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67A557-A40E-9FFB-9266-06AA1A720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7A5471-A283-6338-7D51-186862DA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67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F7F95A-7710-C86F-96F7-65561EC2C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6A34A0-C56D-F123-A33B-A27497086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927123-04A4-E3B4-8A3A-BCD7CEABD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7E75F7-C62A-C754-FF13-28D30311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FF25A1-04F6-D000-C592-B878EF3E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85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FB5CAF-3E8F-86F8-47DE-E28FA9C9B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CA1920-EC75-F070-1496-2D13ACB2C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620DD8-23C1-EC35-41F5-0C2E261D4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C9792B-3A5F-DAF5-FEEA-DBC3E22A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EF0D68-0DAE-CDF3-BA01-7687C913B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720A61-B70D-788A-ACB7-F445BE22C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181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360464-E57C-C709-5E32-E71ECBB3E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98EE7E-519D-8D3D-A6A3-FF0CBC02F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15A1CE-FF40-66E1-B363-9B6DE31D1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AEFE5E-1E51-69F0-35F6-6924A36AC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CD3196-956B-E66D-8490-BE321446C3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5A2C69-C524-3211-49E6-0B4E3B9E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58C77A-05F3-41EE-7FE8-325D940D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70FEFF-A637-427B-0F42-D4CD54F69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54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0A86C-3B57-90E0-C05B-10C0AEEC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3DBF9F-904E-C4F6-98D1-D95DB6CA9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BC6552E-37F1-092B-A7F2-BFE5F89FF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7DF2A2-0427-4C7B-0749-CF3D4212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163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996A8D2-274F-9877-99BB-51D8B94BB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2A6ABC-FB3F-12FC-CF65-CE0C9C34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7A1D4E-5818-2D17-C039-F4482FE5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29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E5B31-4A32-FACD-0B28-28FC4681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6B3568-3F0B-E73F-D3E2-A09C4B820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7AB6D6-0EC1-0541-BE10-86B47A426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F63128-FD1C-E57A-81C6-4A096F6AA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FEB21D-DC6D-94B5-D76C-443DD824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889AF9-0E31-EA21-6483-24B0A340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941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6F667-AE78-3DEB-9851-7C8A39A3C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DAE55F-85D6-BB7F-3BC2-A3D3717A3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C97DBC-9826-52B5-B006-42923296B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F15A46-3403-17CC-D186-F89262C9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6307EC-D543-3FAE-E736-163D2DA1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1A32EE-9E04-8DB6-A113-4A7A09C7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41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59EF7-A18A-40EE-7C2F-496A60D2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D1E95D-8575-EE0F-F1EF-169473F1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B8C003-F109-900F-FACE-B2C565389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92CCF6-800C-865B-6B5D-61E259E1A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2AE654-392D-F162-20C6-379498B3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146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190AC6-DA72-81CD-A8A0-EC24830E0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0A4584-C30A-60BC-8CD3-964B9BDD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4E7F1E-4194-69C3-9638-54892A00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CB5187-8C12-1E9D-35B4-A6F1654F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E3927-95DF-2774-7AF0-E2213C63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05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3A8581-586C-2DAD-CC3E-66E30BD4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933638-A736-B175-9D63-43C63D121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F710FF-4F3D-9409-AF4F-18A71372E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8817CF-7CF5-4EB0-9B44-05147FD7BDC9}" type="datetimeFigureOut">
              <a:rPr lang="zh-CN" altLang="en-US" smtClean="0"/>
              <a:t>2025/10/9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03ABD8-69A1-3351-EC15-4463282FF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4143AB-FA95-C261-9B5C-DAC23830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B6626-0B05-4D53-8281-664FE2D61A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995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gif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ED730-5C32-FED7-8060-4A17BAD73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8151" y="1418051"/>
            <a:ext cx="9955696" cy="3738563"/>
          </a:xfrm>
        </p:spPr>
        <p:txBody>
          <a:bodyPr>
            <a:normAutofit fontScale="90000"/>
          </a:bodyPr>
          <a:lstStyle/>
          <a:p>
            <a:br>
              <a:rPr lang="en-US" altLang="zh-CN" dirty="0"/>
            </a:br>
            <a:r>
              <a:rPr lang="en-US" altLang="zh-CN" sz="7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PPO</a:t>
            </a:r>
            <a:r>
              <a:rPr lang="zh-CN" altLang="en-US" sz="7200" dirty="0"/>
              <a:t>、</a:t>
            </a:r>
            <a:r>
              <a:rPr lang="en-US" altLang="zh-CN" sz="7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GRPO</a:t>
            </a:r>
            <a:r>
              <a:rPr lang="zh-CN" altLang="en-US" sz="7200" dirty="0"/>
              <a:t>的理论基础</a:t>
            </a:r>
            <a:br>
              <a:rPr lang="en-US" altLang="zh-CN" sz="7200" dirty="0"/>
            </a:br>
            <a:r>
              <a:rPr lang="zh-CN" altLang="en-US" sz="12200" dirty="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策略梯度</a:t>
            </a:r>
            <a:br>
              <a:rPr lang="en-US" altLang="zh-CN" sz="7200" dirty="0"/>
            </a:br>
            <a:r>
              <a:rPr lang="zh-CN" altLang="en-US" sz="7200" dirty="0"/>
              <a:t>与</a:t>
            </a:r>
            <a:r>
              <a:rPr lang="en-US" altLang="zh-CN" sz="8000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Reinforce</a:t>
            </a:r>
            <a:r>
              <a:rPr lang="zh-CN" altLang="en-US" sz="8000" dirty="0"/>
              <a:t>算法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2B4CBA-D8AB-B0D0-AAA1-4F38198ECC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5202238"/>
            <a:ext cx="9144000" cy="165576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BA3982D-DE76-D767-1199-0435CB92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4" y="125964"/>
            <a:ext cx="10193129" cy="12920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5178F48-2D9B-C727-3292-B6C6EF268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337" y="4985618"/>
            <a:ext cx="1662803" cy="144016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8E2C171-0F69-9A11-4DC4-6CC579D86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56" y="4985618"/>
            <a:ext cx="1662803" cy="144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45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F9F205-120A-7788-E583-54C4566BB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13"/>
            <a:ext cx="10515600" cy="1325563"/>
          </a:xfrm>
        </p:spPr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41A4D-1786-8BC2-07F2-3ACE3FEFB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Value-based</a:t>
            </a:r>
            <a:r>
              <a:rPr lang="zh-CN" altLang="en-US" dirty="0"/>
              <a:t>方法遇到的问题</a:t>
            </a:r>
            <a:endParaRPr lang="en-US" altLang="zh-CN" dirty="0"/>
          </a:p>
          <a:p>
            <a:r>
              <a:rPr lang="zh-CN" altLang="en-US" dirty="0"/>
              <a:t>问题的本质</a:t>
            </a:r>
            <a:endParaRPr lang="en-US" altLang="zh-CN" dirty="0"/>
          </a:p>
          <a:p>
            <a:r>
              <a:rPr lang="zh-CN" altLang="en-US" dirty="0"/>
              <a:t>如何解决</a:t>
            </a:r>
            <a:endParaRPr lang="en-US" altLang="zh-CN" dirty="0"/>
          </a:p>
          <a:p>
            <a:r>
              <a:rPr lang="en-US" altLang="zh-CN" dirty="0"/>
              <a:t>policy-based</a:t>
            </a:r>
            <a:r>
              <a:rPr lang="zh-CN" altLang="en-US" dirty="0"/>
              <a:t>方法</a:t>
            </a:r>
            <a:endParaRPr lang="en-US" altLang="zh-CN" dirty="0"/>
          </a:p>
          <a:p>
            <a:r>
              <a:rPr lang="zh-CN" altLang="en-US" dirty="0"/>
              <a:t>策略梯度方法</a:t>
            </a:r>
            <a:endParaRPr lang="en-US" altLang="zh-CN" dirty="0"/>
          </a:p>
          <a:p>
            <a:r>
              <a:rPr lang="zh-CN" altLang="en-US" dirty="0"/>
              <a:t>梯度下降与梯度上升</a:t>
            </a:r>
            <a:endParaRPr lang="en-US" altLang="zh-CN" dirty="0"/>
          </a:p>
          <a:p>
            <a:r>
              <a:rPr lang="zh-CN" altLang="en-US" dirty="0"/>
              <a:t>策略梯度定理</a:t>
            </a:r>
            <a:endParaRPr lang="en-US" altLang="zh-CN" dirty="0"/>
          </a:p>
          <a:p>
            <a:r>
              <a:rPr lang="en-US" altLang="zh-CN" dirty="0"/>
              <a:t>Reinforce</a:t>
            </a:r>
            <a:r>
              <a:rPr lang="zh-CN" altLang="en-US" dirty="0"/>
              <a:t>算法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F53161-70D0-83E8-955C-E11CE2012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848" y="3307976"/>
            <a:ext cx="1788459" cy="178845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5A5F4A8-A5C0-5B96-6337-D8B2B615B340}"/>
              </a:ext>
            </a:extLst>
          </p:cNvPr>
          <p:cNvSpPr txBox="1"/>
          <p:nvPr/>
        </p:nvSpPr>
        <p:spPr>
          <a:xfrm>
            <a:off x="6096000" y="450569"/>
            <a:ext cx="39955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感谢粉丝大佬</a:t>
            </a:r>
            <a:endParaRPr lang="en-US" altLang="zh-CN" sz="2800" dirty="0"/>
          </a:p>
          <a:p>
            <a:r>
              <a:rPr lang="zh-CN" altLang="en-US" sz="2800" b="1" dirty="0"/>
              <a:t>熊大之光</a:t>
            </a:r>
            <a:endParaRPr lang="en-US" altLang="zh-CN" sz="2800" b="1" dirty="0"/>
          </a:p>
          <a:p>
            <a:r>
              <a:rPr lang="zh-CN" altLang="en-US" sz="2800" dirty="0"/>
              <a:t>的充电</a:t>
            </a:r>
          </a:p>
        </p:txBody>
      </p:sp>
    </p:spTree>
    <p:extLst>
      <p:ext uri="{BB962C8B-B14F-4D97-AF65-F5344CB8AC3E}">
        <p14:creationId xmlns:p14="http://schemas.microsoft.com/office/powerpoint/2010/main" val="1108550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997B7-E9D6-9E73-1F4E-457846341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Value-based</a:t>
            </a:r>
            <a:r>
              <a:rPr lang="zh-CN" altLang="en-US" dirty="0"/>
              <a:t>方法遇到的问题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3738A-E1E2-190B-34F5-F3ABB036F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Q-learning</a:t>
            </a:r>
            <a:r>
              <a:rPr lang="zh-CN" altLang="en-US" dirty="0"/>
              <a:t>等基于</a:t>
            </a:r>
            <a:r>
              <a:rPr lang="en-US" altLang="zh-CN" dirty="0"/>
              <a:t>value</a:t>
            </a:r>
            <a:r>
              <a:rPr lang="zh-CN" altLang="en-US" dirty="0"/>
              <a:t>的方法里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我们最小化损失函数来逼近</a:t>
            </a:r>
            <a:r>
              <a:rPr lang="en-US" altLang="zh-CN" dirty="0"/>
              <a:t>Q</a:t>
            </a:r>
            <a:r>
              <a:rPr lang="zh-CN" altLang="en-US" dirty="0"/>
              <a:t>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这里的策略是隐式的，是基于值函数的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576175-8595-F8E8-BE88-A8689028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680" y="3429000"/>
            <a:ext cx="6222640" cy="315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7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016DD-A4C3-DA86-4BFF-20626EB5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吸尘器避仓鼠找灰尘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FD2E6A-205B-D3FD-9FCC-FF2761572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797688"/>
          </a:xfrm>
        </p:spPr>
        <p:txBody>
          <a:bodyPr/>
          <a:lstStyle/>
          <a:p>
            <a:r>
              <a:rPr lang="zh-CN" altLang="en-US" dirty="0"/>
              <a:t>两个红色区域里，智能体的感知态是相同的</a:t>
            </a:r>
            <a:endParaRPr lang="en-US" altLang="zh-CN" dirty="0"/>
          </a:p>
          <a:p>
            <a:r>
              <a:rPr lang="en-US" altLang="zh-CN" dirty="0"/>
              <a:t>Q (</a:t>
            </a:r>
            <a:r>
              <a:rPr lang="en-US" altLang="zh-CN" dirty="0" err="1"/>
              <a:t>s,a</a:t>
            </a:r>
            <a:r>
              <a:rPr lang="en-US" altLang="zh-CN" dirty="0"/>
              <a:t>) </a:t>
            </a:r>
            <a:r>
              <a:rPr lang="zh-CN" altLang="en-US" dirty="0"/>
              <a:t>的输入是智能体的感知态</a:t>
            </a:r>
            <a:r>
              <a:rPr lang="en-US" altLang="zh-CN" dirty="0"/>
              <a:t>s</a:t>
            </a:r>
            <a:r>
              <a:rPr lang="zh-CN" altLang="en-US" dirty="0"/>
              <a:t>，而非环境的真实状态</a:t>
            </a:r>
            <a:endParaRPr lang="en-US" altLang="zh-CN" dirty="0"/>
          </a:p>
          <a:p>
            <a:r>
              <a:rPr lang="zh-CN" altLang="en-US" dirty="0"/>
              <a:t>所有共享同一感知态</a:t>
            </a:r>
            <a:r>
              <a:rPr lang="en-US" altLang="zh-CN" dirty="0"/>
              <a:t>s</a:t>
            </a:r>
            <a:r>
              <a:rPr lang="zh-CN" altLang="en-US" dirty="0"/>
              <a:t>的真实状态（如 </a:t>
            </a:r>
            <a:r>
              <a:rPr lang="en-US" altLang="zh-CN" dirty="0"/>
              <a:t>S₁</a:t>
            </a:r>
            <a:r>
              <a:rPr lang="zh-CN" altLang="en-US" dirty="0"/>
              <a:t>和 </a:t>
            </a:r>
            <a:r>
              <a:rPr lang="en-US" altLang="zh-CN" dirty="0"/>
              <a:t>S₂</a:t>
            </a:r>
            <a:r>
              <a:rPr lang="zh-CN" altLang="en-US" dirty="0"/>
              <a:t>），其动作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Q</a:t>
            </a:r>
            <a:r>
              <a:rPr lang="zh-CN" altLang="en-US" dirty="0"/>
              <a:t>值会被混合计算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perceptual aliasing </a:t>
            </a:r>
            <a:r>
              <a:rPr lang="zh-CN" altLang="en-US" dirty="0"/>
              <a:t>混淆感知态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智能体无法为</a:t>
            </a:r>
            <a:r>
              <a:rPr lang="en-US" altLang="zh-CN" dirty="0"/>
              <a:t>S₁</a:t>
            </a:r>
            <a:r>
              <a:rPr lang="zh-CN" altLang="en-US" dirty="0"/>
              <a:t>和</a:t>
            </a:r>
            <a:r>
              <a:rPr lang="en-US" altLang="zh-CN" dirty="0"/>
              <a:t>S₂</a:t>
            </a:r>
            <a:r>
              <a:rPr lang="zh-CN" altLang="en-US" dirty="0"/>
              <a:t>分别学习左 </a:t>
            </a:r>
            <a:r>
              <a:rPr lang="en-US" altLang="zh-CN" dirty="0"/>
              <a:t>/ </a:t>
            </a:r>
            <a:r>
              <a:rPr lang="zh-CN" altLang="en-US" dirty="0"/>
              <a:t>右动作的价值</a:t>
            </a:r>
            <a:endParaRPr lang="en-US" altLang="zh-CN" dirty="0"/>
          </a:p>
          <a:p>
            <a:r>
              <a:rPr lang="en-US" altLang="zh-CN" dirty="0"/>
              <a:t>S₁</a:t>
            </a:r>
            <a:r>
              <a:rPr lang="zh-CN" altLang="en-US" dirty="0"/>
              <a:t>和</a:t>
            </a:r>
            <a:r>
              <a:rPr lang="en-US" altLang="zh-CN" dirty="0"/>
              <a:t>S₂</a:t>
            </a:r>
            <a:r>
              <a:rPr lang="zh-CN" altLang="en-US" dirty="0"/>
              <a:t>的经验会混合更新</a:t>
            </a:r>
            <a:r>
              <a:rPr lang="en-US" altLang="zh-CN" dirty="0" err="1"/>
              <a:t>S_alias</a:t>
            </a:r>
            <a:r>
              <a:rPr lang="zh-CN" altLang="en-US" dirty="0"/>
              <a:t>的</a:t>
            </a:r>
            <a:r>
              <a:rPr lang="en-US" altLang="zh-CN" dirty="0"/>
              <a:t>Q 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zh-CN" altLang="en-US" dirty="0"/>
              <a:t>值函数方法的策略是 从 </a:t>
            </a:r>
            <a:r>
              <a:rPr lang="en-US" altLang="zh-CN" dirty="0"/>
              <a:t>Q </a:t>
            </a:r>
            <a:r>
              <a:rPr lang="zh-CN" altLang="en-US" dirty="0"/>
              <a:t>值推导的副产品，本质是准确定性策略，无法在 </a:t>
            </a:r>
            <a:r>
              <a:rPr lang="en-US" altLang="zh-CN" dirty="0" err="1"/>
              <a:t>S_alias</a:t>
            </a:r>
            <a:r>
              <a:rPr lang="en-US" altLang="zh-CN" dirty="0"/>
              <a:t> </a:t>
            </a:r>
            <a:r>
              <a:rPr lang="zh-CN" altLang="en-US" dirty="0"/>
              <a:t>下稳定输出随机动作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2085CA-BD3C-966B-4D25-F67DEE372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963" y="147895"/>
            <a:ext cx="3830161" cy="193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2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833F6-18A7-D2CB-20F8-559DC320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问题的本质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F9D9A9-AF3C-2020-13BB-9FDB9781F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 </a:t>
            </a:r>
            <a:r>
              <a:rPr lang="zh-CN" altLang="en-US" dirty="0"/>
              <a:t>值与感知态的强绑定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无法学习随机策略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无法区分感知相同但需求不同的状态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确定性（准确定性）策略无法应对非对称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D145F0-29A6-41D8-1B73-9693B2BAF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461" y="3936379"/>
            <a:ext cx="5049077" cy="25564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7BDCF14-1AF6-7BC7-5ED0-F5F40884F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319" y="1509713"/>
            <a:ext cx="14763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1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01523-6A97-7BAF-8E8D-5FEA2154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如何解决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604DE6-AD95-2B64-27DE-E8C98BBC6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不再学习值函数，直接显式学习策略（</a:t>
            </a:r>
            <a:r>
              <a:rPr lang="en-US" altLang="zh-CN" dirty="0"/>
              <a:t>policy-based)</a:t>
            </a:r>
          </a:p>
          <a:p>
            <a:r>
              <a:rPr lang="zh-CN" altLang="en-US" dirty="0"/>
              <a:t>这样就可以学习到随机的策略，而不会被一直卡住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B559F4-7BD4-EF56-EB5D-0873E6768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0082" y="3019853"/>
            <a:ext cx="6231835" cy="347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2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AB770-914D-4EBD-DB32-4D9BBE1A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policy-based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CBDC9C-6BFF-97DD-64BD-6CE2B90B9A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89858"/>
                <a:ext cx="10515600" cy="506814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policy-based</a:t>
                </a:r>
                <a:r>
                  <a:rPr lang="zh-CN" altLang="en-US" dirty="0"/>
                  <a:t>方法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直接优化策略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如何实现：将策略参数化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通过优化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来让策略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zh-CN" altLang="en-US" dirty="0"/>
                  <a:t>变好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这样我们可以得到一个随机的策略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zh-CN" altLang="en-US" dirty="0"/>
                  <a:t>输出一个动作的概率分布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定义一个目标函数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b="0" dirty="0"/>
                  <a:t>代表的是预期的累计奖励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接下来，我们让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最大</m:t>
                    </m:r>
                  </m:oMath>
                </a14:m>
                <a:r>
                  <a:rPr lang="zh-CN" altLang="en-US" b="0" dirty="0"/>
                  <a:t>，就找到了最优策略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2CBDC9C-6BFF-97DD-64BD-6CE2B90B9A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89858"/>
                <a:ext cx="10515600" cy="5068142"/>
              </a:xfrm>
              <a:blipFill>
                <a:blip r:embed="rId2"/>
                <a:stretch>
                  <a:fillRect l="-1043" t="-2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97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072A0-226F-06AB-7244-98A5F74C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策略梯度方法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86B62E-75B3-23E2-C9D2-0A27978CC7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通过梯度上升的方法让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最大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称为策略梯度</a:t>
                </a:r>
                <a:endParaRPr lang="en-US" altLang="zh-CN" dirty="0"/>
              </a:p>
              <a:p>
                <a:r>
                  <a:rPr lang="zh-CN" altLang="en-US" dirty="0"/>
                  <a:t>梯度下降与梯度上升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286B62E-75B3-23E2-C9D2-0A27978CC7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3172FC5-130D-FD3B-4037-CBE79A8BE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295" y="3429000"/>
            <a:ext cx="3331241" cy="33426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C0C261E-CB34-DBE1-8855-D323954C9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966" y="3429000"/>
            <a:ext cx="4542182" cy="32382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B7F08B-C8CB-7977-91AC-3FDD02790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587" y="2767099"/>
            <a:ext cx="5524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85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190A5F-8062-13BB-6FB3-31D7C5B2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策略梯度方法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ACB38F-9221-3509-E3F7-D6626C9D1B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6175375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我们有了一个参数化的策略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我们定义一个目标函数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代表一个</m:t>
                    </m:r>
                  </m:oMath>
                </a14:m>
                <a:r>
                  <a:rPr lang="en-US" altLang="zh-CN" b="0" dirty="0"/>
                  <a:t>trajectory</a:t>
                </a:r>
                <a:r>
                  <a:rPr lang="zh-CN" altLang="en-US" b="0" dirty="0"/>
                  <a:t>轨迹</a:t>
                </a:r>
                <a:endParaRPr lang="en-US" altLang="zh-CN" b="0" dirty="0"/>
              </a:p>
              <a:p>
                <a:r>
                  <a:rPr lang="zh-CN" altLang="en-US" dirty="0"/>
                  <a:t>要用梯度上升的方法来</a:t>
                </a:r>
                <a:r>
                  <a:rPr lang="en-US" altLang="zh-CN" dirty="0"/>
                  <a:t>maximize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我们要先对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求梯度</m:t>
                    </m:r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     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ACB38F-9221-3509-E3F7-D6626C9D1B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6175375"/>
              </a:xfrm>
              <a:blipFill>
                <a:blip r:embed="rId2"/>
                <a:stretch>
                  <a:fillRect l="-1043" t="-1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78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8C66EA9-F67A-1523-3A4A-10DD5EB6ADC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8C66EA9-F67A-1523-3A4A-10DD5EB6AD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B6A348-3D20-298F-05A9-60C86D6879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804374" cy="5539271"/>
              </a:xfrm>
            </p:spPr>
            <p:txBody>
              <a:bodyPr/>
              <a:lstStyle/>
              <a:p>
                <a:r>
                  <a:rPr lang="zh-CN" altLang="en-US" dirty="0"/>
                  <a:t>复合函数求梯度（求导）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期望的定义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所有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可能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结果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/>
                  <a:t>轨迹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τ</m:t>
                    </m:r>
                  </m:oMath>
                </a14:m>
                <a:r>
                  <a:rPr lang="zh-CN" altLang="en-US" dirty="0"/>
                  <a:t>发生的概率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zh-CN" altLang="en-US" dirty="0"/>
                  <a:t>是每条轨迹对应的一个值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B6A348-3D20-298F-05A9-60C86D6879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804374" cy="5539271"/>
              </a:xfrm>
              <a:blipFill>
                <a:blip r:embed="rId4"/>
                <a:stretch>
                  <a:fillRect l="-930" t="-19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80A6B30-7F2B-CE5E-3757-77DE3D08D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969" y="1362635"/>
            <a:ext cx="2073824" cy="158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2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3F32B5D-7CE2-0C94-80B1-9F8809004E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3F32B5D-7CE2-0C94-80B1-9F8809004E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C21880-6E1C-9EEF-F638-5BC4A2D4B9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42923"/>
              </a:xfrm>
            </p:spPr>
            <p:txBody>
              <a:bodyPr/>
              <a:lstStyle/>
              <a:p>
                <a:r>
                  <a:rPr lang="zh-CN" altLang="en-US" dirty="0"/>
                  <a:t>本质上是一个期望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m:rPr>
                        <m:nor/>
                      </m:rPr>
                      <a:rPr lang="en-US" altLang="zh-CN" b="0" dirty="0"/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我们可以通过采样来近似</a:t>
                </a:r>
                <a:endParaRPr lang="en-US" altLang="zh-CN" dirty="0"/>
              </a:p>
              <a:p>
                <a:r>
                  <a:rPr lang="zh-CN" altLang="en-US" dirty="0"/>
                  <a:t>理论依据：大数定律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从独立同分布的样本里采样，样本均值会收敛到理论的期望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𝑙𝑜𝑔𝑃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b="0" dirty="0"/>
                  <a:t>表示采样出来的一条轨迹</a:t>
                </a:r>
                <a:endParaRPr lang="en-US" altLang="zh-CN" b="0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1C21880-6E1C-9EEF-F638-5BC4A2D4B9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42923"/>
              </a:xfrm>
              <a:blipFill>
                <a:blip r:embed="rId3"/>
                <a:stretch>
                  <a:fillRect l="-1043" t="-2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22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BF2006F-C5EC-84C8-45B5-A5BA65DF2FE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𝑙𝑜𝑔𝑃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BF2006F-C5EC-84C8-45B5-A5BA65DF2F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E5B4C6-00B5-E224-C20C-10F13F6FB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b="0" dirty="0"/>
              </a:p>
              <a:p>
                <a:endParaRPr lang="en-US" altLang="zh-CN" dirty="0"/>
              </a:p>
              <a:p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5E5B4C6-00B5-E224-C20C-10F13F6FB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A5194FB-594D-6F70-E40A-EFD3C5E79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17" y="2327039"/>
            <a:ext cx="7570304" cy="6110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FDAABE-10A2-185C-9538-3C3319876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165" y="2997370"/>
            <a:ext cx="9627704" cy="6255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E3C800-1F02-964B-C623-E399AF6E75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165" y="3622920"/>
            <a:ext cx="11027465" cy="68921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E3EF5A5-1AD5-6CBD-F933-7FB49C310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13283" y="4312137"/>
            <a:ext cx="10121347" cy="70394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EEE89C1-550C-1395-0D49-B0DAF4D3E9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165" y="4937687"/>
            <a:ext cx="5801140" cy="6204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B8785ED-0224-8E08-C34D-280DFAEAC7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165" y="5478308"/>
            <a:ext cx="8193156" cy="70537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4C49DF7-C33D-D6A5-393A-D5514FDA17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6617" y="6093064"/>
            <a:ext cx="5632174" cy="624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4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45E31-2F80-31A4-4BD9-45690AC5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策略梯度定理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7D0505-3F15-20F0-07D0-6145E4B8AE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基于策略梯度定理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Reinforce</a:t>
                </a:r>
                <a:r>
                  <a:rPr lang="zh-CN" altLang="en-US" dirty="0"/>
                  <a:t>算法（蒙特卡洛策略梯度）</a:t>
                </a:r>
                <a:endParaRPr lang="en-US" altLang="zh-CN" dirty="0"/>
              </a:p>
              <a:p>
                <a:r>
                  <a:rPr lang="zh-CN" altLang="en-US" dirty="0"/>
                  <a:t>用当前策略走一条完整的轨迹</a:t>
                </a:r>
              </a:p>
              <a:p>
                <a:r>
                  <a:rPr lang="zh-CN" altLang="en-US" dirty="0"/>
                  <a:t>倒推计算这条轨迹中每个时间步的累计回报</a:t>
                </a:r>
                <a:endParaRPr lang="en-US" altLang="zh-CN" dirty="0"/>
              </a:p>
              <a:p>
                <a:r>
                  <a:rPr lang="zh-CN" altLang="en-US" dirty="0"/>
                  <a:t>相乘得到一条轨迹的梯度估计</a:t>
                </a:r>
                <a:endParaRPr lang="en-US" altLang="zh-CN" dirty="0"/>
              </a:p>
              <a:p>
                <a:r>
                  <a:rPr lang="zh-CN" altLang="en-US" dirty="0"/>
                  <a:t>沿着梯度上升的方向更新策略 </a:t>
                </a:r>
                <a:r>
                  <a:rPr lang="el-GR" altLang="zh-CN" i="1" dirty="0"/>
                  <a:t>θ</a:t>
                </a:r>
                <a:r>
                  <a:rPr lang="en-US" altLang="zh-CN" i="1" dirty="0"/>
                  <a:t> </a:t>
                </a:r>
                <a:r>
                  <a:rPr lang="el-GR" altLang="zh-CN" dirty="0"/>
                  <a:t>←</a:t>
                </a:r>
                <a:r>
                  <a:rPr lang="el-GR" altLang="zh-CN" i="1" dirty="0"/>
                  <a:t>θ</a:t>
                </a:r>
                <a:r>
                  <a:rPr lang="el-GR" altLang="zh-CN" dirty="0"/>
                  <a:t>+</a:t>
                </a:r>
                <a:r>
                  <a:rPr lang="el-GR" altLang="zh-CN" i="1" dirty="0"/>
                  <a:t>α</a:t>
                </a:r>
                <a:r>
                  <a:rPr lang="en-US" altLang="zh-CN" i="1" dirty="0"/>
                  <a:t>g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̂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重复上述步骤，直到策略收敛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37D0505-3F15-20F0-07D0-6145E4B8A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55C045FF-29A1-0F63-D1DA-C766D224B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352" y="642868"/>
            <a:ext cx="6944857" cy="7700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7EEC07A-8549-3085-D2E9-0E3F43D09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596" y="3944471"/>
            <a:ext cx="1757440" cy="155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74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717</Words>
  <Application>Microsoft Office PowerPoint</Application>
  <PresentationFormat>宽屏</PresentationFormat>
  <Paragraphs>91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Arial Unicode MS</vt:lpstr>
      <vt:lpstr>等线</vt:lpstr>
      <vt:lpstr>等线 Light</vt:lpstr>
      <vt:lpstr>Arial</vt:lpstr>
      <vt:lpstr>Cambria Math</vt:lpstr>
      <vt:lpstr>Office 主题​​</vt:lpstr>
      <vt:lpstr> PPO、GRPO的理论基础 策略梯度 与Reinforce算法</vt:lpstr>
      <vt:lpstr>主要内容</vt:lpstr>
      <vt:lpstr>Value-based方法遇到的问题</vt:lpstr>
      <vt:lpstr>吸尘器避仓鼠找灰尘</vt:lpstr>
      <vt:lpstr>问题的本质</vt:lpstr>
      <vt:lpstr>如何解决</vt:lpstr>
      <vt:lpstr>policy-based</vt:lpstr>
      <vt:lpstr>策略梯度方法</vt:lpstr>
      <vt:lpstr>策略梯度方法</vt:lpstr>
      <vt:lpstr>Σ_τ (∇_θ P(τ;θ))/P(τ;θ)  P(τ;θ)R(τ)</vt:lpstr>
      <vt:lpstr>∇_θ J(θ)= Σ_τ  P(τ;θ)  ∇_θ log P(τ;θ) R(τ)</vt:lpstr>
      <vt:lpstr>〖 ∇〗_θ logP(τ^((i) );θ)</vt:lpstr>
      <vt:lpstr>策略梯度定理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3</cp:revision>
  <dcterms:created xsi:type="dcterms:W3CDTF">2025-10-09T07:28:22Z</dcterms:created>
  <dcterms:modified xsi:type="dcterms:W3CDTF">2025-10-09T13:19:36Z</dcterms:modified>
</cp:coreProperties>
</file>