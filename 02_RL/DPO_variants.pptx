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  <p:sldId id="261" r:id="rId9"/>
    <p:sldId id="264" r:id="rId10"/>
    <p:sldId id="265" r:id="rId11"/>
    <p:sldId id="267" r:id="rId12"/>
    <p:sldId id="266" r:id="rId13"/>
    <p:sldId id="269" r:id="rId14"/>
    <p:sldId id="270" r:id="rId15"/>
    <p:sldId id="271" r:id="rId16"/>
    <p:sldId id="275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01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6:59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6:58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6:59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24575,'4'0'0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00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01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24575,'-9'0'0,"-2"0"-8191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04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572 422 24575,'27'-1'0,"0"-2"0,1 0 0,-1-2 0,39-12 0,-53 12 0,0 0 0,0-1 0,18-12 0,-21 12 0,0 0 0,1 1 0,0 0 0,-1 0 0,2 1 0,14-3 0,2 3 0,44 0 0,-51 4 0,0 0 0,0-2 0,0-1 0,20-5 0,-41 8 0,0 0 0,0 0 0,0 0 0,0 0 0,0 0 0,0-1 0,0 1 0,0 0 0,0 0 0,-1 0 0,1 0 0,0 0 0,0 0 0,0 0 0,0 0 0,0-1 0,0 1 0,0 0 0,0 0 0,0 0 0,0 0 0,0 0 0,0 0 0,1 0 0,-1 0 0,0-1 0,0 1 0,0 0 0,0 0 0,0 0 0,0 0 0,0 0 0,0 0 0,0 0 0,0 0 0,0 0 0,0 0 0,0-1 0,0 1 0,1 0 0,-1 0 0,0 0 0,0 0 0,0 0 0,0 0 0,0 0 0,0 0 0,0 0 0,0 0 0,1 0 0,-1 0 0,0 0 0,0 0 0,0 0 0,0 0 0,0 0 0,0 0 0,0 0 0,1 0 0,-16-3 0,-21 0 0,16 2 0,0 1 0,1 0 0,-1 2 0,1 0 0,-1 1 0,1 1 0,-21 7 0,-21 10 0,-80 17 0,72-16 0,53-15 0,0-1 0,0-1 0,-20 3 0,-9-4 0,1-2 0,-58-4 0,69-1 0,0 2 0,-1 2 0,1 1 0,0 1 0,-52 12 0,74-11 0,0 1 0,0 1 0,1-1 0,-1 2 0,1-1 0,0 1 0,-15 16 0,14-14 0,21-15 0,1 0 0,-1 1 0,1 0 0,0 1 0,1 0 0,-1 1 0,22-4 0,-4 0 0,39-8 0,32-9 0,-64 12 0,0-1 0,-1-2 0,36-22 0,-57 31 0,0 0 0,1 1 0,-1 0 0,1 1 0,0 1 0,0 0 0,0 2 0,0-1 0,21 2 0,54-9 0,-46 4 0,-28 4 0,0-1 0,0 0 0,-1-1 0,19-7 0,-30 9 0,-1 0 0,0 0 0,0-1 0,0 1 0,-1-1 0,1 0 0,0 0 0,-1 0 0,1 0 0,-1 0 0,1 0 0,-1-1 0,0 1 0,0-1 0,0 0 0,-1 1 0,1-1 0,-1 0 0,1 0 0,-1 0 0,0 0 0,0 0 0,0-1 0,-1 1 0,2-5 0,-2 5 0,0-1 0,-1 1 0,1 0 0,-1 0 0,1 0 0,-1 0 0,0 0 0,0 0 0,0 0 0,0 0 0,-1 0 0,1 0 0,-1 0 0,0 1 0,0-1 0,0 1 0,0-1 0,0 1 0,-4-3 0,-6-5 0,0 1 0,-1 1 0,-13-8 0,-15-9 0,25 14 0,0 1 0,0 0 0,-1 1 0,-1 1 0,1 1 0,-1 1 0,-1 0 0,1 1 0,-1 1 0,-23-2 0,-24 1 0,-107 5 0,79 2 0,21-1-1365,39-1-5461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18.0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21.4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22.1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33.6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15.0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15.7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16.4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17.2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45.5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4:17:49.0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C0609-648D-4AC6-8B22-EAF63E313E8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1EBBB-479F-4CA2-8B98-FBA5213E7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05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1EBBB-479F-4CA2-8B98-FBA5213E708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412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86127-4E8B-C9F5-B8C8-C347C8FB1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78D400-4498-76D8-0E44-1112DFCC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D4FEE-C6CE-A0D2-B842-788821F9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E30DD-F887-9037-22AD-D22B1F26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FBF96-601A-60E6-0893-69E151FA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00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8AB6C-98AB-B1F5-7784-868A07AB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BEC681-9238-D310-ABDC-D35BDA221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42455-4CC0-ECDD-4445-A2C16165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3BCB32-D12D-1524-345F-25FDC7FC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D9F8DC-A3A5-5C87-3819-72FCD2C7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10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CFBD4-DBEE-D7C1-1241-02751CAD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9E7748-10E1-8F66-A750-13FE1BE9D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8D839-46DA-9D9B-234D-7CBB8685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66EC6-F92A-0081-4210-BB51C506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3FFE28-C14D-3552-6186-139DC74C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62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3304E-FEF6-603D-BEC7-2960EFF8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0580DA-309A-6DBC-2EFA-968E94526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A565E6-6BBD-7CFD-971B-D349692D6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FC88DA-68DA-7760-321D-E6C0B490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7C2788-4B4C-BFEB-D0FB-F4D79849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FDB97E-02EF-3EE0-546F-5926FDBB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76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A5639-9C20-0FC0-9955-FFE23170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8F4AD-46D1-4553-7E18-FC7A5351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35CBC9-B482-E017-F80D-4C0AE1FCF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A5B8C8-B01B-F97F-234C-2BFFE8093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9A7478-E5C8-9D9C-DCF4-F6CAAEEAD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F93E3-DBCA-85CB-4869-169E5F57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46B46-3D22-FC7A-0B1C-3C2FC4FD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41CBA5-7E3D-163F-C57D-0F32B8F9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7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08C8E-AC8C-4981-B7A8-E2C99CE8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6B56FD-3854-31E4-CCC9-F66F1618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9E8603-B703-8E99-D56B-42C65C44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FA59DD-1622-E877-D157-FBA9DCF5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53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F5FD9F-01DF-39DE-C91B-0CFDDC047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7DDD67-6947-8EC4-3AB4-03A6B2C6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3F2E53-4CF0-DE57-2CD2-0B393D30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026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A3C16-B657-6B70-4080-8A8ED1BD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A0652-4335-B56C-5BAF-2CB594A83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6714F4-82C2-D960-49A5-28B1CAD93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CCCAD5-C89A-1489-7091-45049AB6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21748F-8BC8-B88B-0008-43FD33DC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64A7CD-DF56-E4E6-0B96-EEF11AC1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15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B8AB7-A03F-1353-D458-E81A19C23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4FD716-E908-4492-4ADF-6497201CE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293ACB-968F-E287-ACF3-87C1784D7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462710-7923-249C-016E-58E75F68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CA35B2-BAC8-5EBD-28BD-993196A4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7D37CA-9EBA-A293-9B5F-F2854346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07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700B8-7180-B342-9C6E-850425C3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764A80-81CB-D317-54EC-A3E299E7C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3B6EC-AB83-C5A9-1626-355F4CC3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98D0A-D673-BF29-A19A-A1F0DCA1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2B419A-C120-1C59-129A-07D71B7D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43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B17969-A078-0184-4E01-220F0A712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356D6C-5109-2D67-5B86-77F6451F3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B98A43-675B-D76A-F681-87E6169D3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B622FE-6616-D9C1-5F64-804D3D8D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A055BB-7362-74C3-2868-034A3DFD6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32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49CEDD-FE19-6082-6A99-80DB37EF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68FFC4-F569-7F39-EB71-8FAC26C0C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83749-AB50-B362-774C-D9C9A74B4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F2BBF-BD2D-4B5B-99C0-4EE4F672CB0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769050-69FD-8138-F0C5-A2983DE07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4567F3-C27C-B729-64BC-46ADDEE8F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940C8-7B67-4B9B-ABF2-485F24534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66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5.png"/><Relationship Id="rId18" Type="http://schemas.openxmlformats.org/officeDocument/2006/relationships/customXml" Target="../ink/ink11.xml"/><Relationship Id="rId3" Type="http://schemas.openxmlformats.org/officeDocument/2006/relationships/image" Target="../media/image2.png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5" Type="http://schemas.openxmlformats.org/officeDocument/2006/relationships/image" Target="../media/image7.png"/><Relationship Id="rId2" Type="http://schemas.openxmlformats.org/officeDocument/2006/relationships/image" Target="../media/image1.png"/><Relationship Id="rId16" Type="http://schemas.openxmlformats.org/officeDocument/2006/relationships/customXml" Target="../ink/ink9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4.png"/><Relationship Id="rId24" Type="http://schemas.openxmlformats.org/officeDocument/2006/relationships/customXml" Target="../ink/ink17.xml"/><Relationship Id="rId5" Type="http://schemas.openxmlformats.org/officeDocument/2006/relationships/image" Target="../media/image3.png"/><Relationship Id="rId15" Type="http://schemas.openxmlformats.org/officeDocument/2006/relationships/image" Target="../media/image6.png"/><Relationship Id="rId23" Type="http://schemas.openxmlformats.org/officeDocument/2006/relationships/customXml" Target="../ink/ink16.xml"/><Relationship Id="rId10" Type="http://schemas.openxmlformats.org/officeDocument/2006/relationships/customXml" Target="../ink/ink6.xml"/><Relationship Id="rId19" Type="http://schemas.openxmlformats.org/officeDocument/2006/relationships/customXml" Target="../ink/ink12.xml"/><Relationship Id="rId4" Type="http://schemas.openxmlformats.org/officeDocument/2006/relationships/customXml" Target="../ink/ink1.xml"/><Relationship Id="rId9" Type="http://schemas.openxmlformats.org/officeDocument/2006/relationships/customXml" Target="../ink/ink5.xml"/><Relationship Id="rId14" Type="http://schemas.openxmlformats.org/officeDocument/2006/relationships/customXml" Target="../ink/ink8.xml"/><Relationship Id="rId22" Type="http://schemas.openxmlformats.org/officeDocument/2006/relationships/customXml" Target="../ink/ink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6D518-AE84-9D86-843D-2F9FB0EF8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3761296"/>
          </a:xfrm>
        </p:spPr>
        <p:txBody>
          <a:bodyPr>
            <a:normAutofit/>
          </a:bodyPr>
          <a:lstStyle/>
          <a:p>
            <a:r>
              <a:rPr lang="en-US" altLang="zh-CN" sz="9600" dirty="0"/>
              <a:t>DPO</a:t>
            </a:r>
            <a:br>
              <a:rPr lang="en-US" altLang="zh-CN" dirty="0"/>
            </a:br>
            <a:r>
              <a:rPr lang="zh-CN" altLang="en-US" sz="5400"/>
              <a:t>缺陷及其变体</a:t>
            </a:r>
            <a:br>
              <a:rPr lang="en-US" altLang="zh-CN" dirty="0"/>
            </a:br>
            <a:r>
              <a:rPr lang="en-US" altLang="zh-CN" sz="3200" b="1" dirty="0">
                <a:latin typeface="+mn-lt"/>
              </a:rPr>
              <a:t>DPOP  </a:t>
            </a:r>
            <a:r>
              <a:rPr lang="en-US" altLang="zh-CN" sz="3200" b="1" dirty="0" err="1">
                <a:latin typeface="+mn-lt"/>
              </a:rPr>
              <a:t>SimPO</a:t>
            </a:r>
            <a:r>
              <a:rPr lang="en-US" altLang="zh-CN" sz="3200" b="1" dirty="0">
                <a:latin typeface="+mn-lt"/>
              </a:rPr>
              <a:t>  LD-DPO  IPO  ORPO  KTO</a:t>
            </a:r>
            <a:endParaRPr lang="zh-CN" altLang="en-US" sz="3200" b="1" dirty="0">
              <a:latin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01725C-0BE5-78F3-8EAD-7066CA1D9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6269"/>
            <a:ext cx="9144000" cy="902616"/>
          </a:xfrm>
        </p:spPr>
        <p:txBody>
          <a:bodyPr>
            <a:normAutofit/>
          </a:bodyPr>
          <a:lstStyle/>
          <a:p>
            <a:r>
              <a:rPr lang="zh-CN" altLang="en-US" dirty="0"/>
              <a:t>东川路第一可爱猫猫虫</a:t>
            </a:r>
          </a:p>
        </p:txBody>
      </p:sp>
    </p:spTree>
    <p:extLst>
      <p:ext uri="{BB962C8B-B14F-4D97-AF65-F5344CB8AC3E}">
        <p14:creationId xmlns:p14="http://schemas.microsoft.com/office/powerpoint/2010/main" val="222406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A2A78-1271-185C-991B-7CF4FEA1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B0959-D456-D74B-4902-0AAE3789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6"/>
            <a:ext cx="10515600" cy="5340284"/>
          </a:xfrm>
        </p:spPr>
        <p:txBody>
          <a:bodyPr>
            <a:normAutofit/>
          </a:bodyPr>
          <a:lstStyle/>
          <a:p>
            <a:r>
              <a:rPr lang="zh-CN" altLang="en-US" dirty="0"/>
              <a:t>缺陷一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偏好回答和不偏好回答的概率可能会一起下降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DPOP</a:t>
            </a:r>
          </a:p>
          <a:p>
            <a:r>
              <a:rPr lang="zh-CN" altLang="en-US" dirty="0"/>
              <a:t>缺陷二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length bias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SimPO</a:t>
            </a:r>
            <a:r>
              <a:rPr lang="en-US" altLang="zh-CN" dirty="0"/>
              <a:t> LD-DPO</a:t>
            </a:r>
          </a:p>
          <a:p>
            <a:r>
              <a:rPr lang="zh-CN" altLang="en-US" dirty="0"/>
              <a:t>缺陷三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过拟合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IPO</a:t>
            </a:r>
          </a:p>
          <a:p>
            <a:r>
              <a:rPr lang="en-US" altLang="zh-CN" dirty="0"/>
              <a:t>ORPO KTO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45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EFE81-895A-D1E7-56E7-BBA3C3AE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DPO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E0FCFF8C-0645-D5FB-8791-7C6E89CE8B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47342" cy="2020511"/>
              </a:xfrm>
            </p:spPr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loss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i="0" dirty="0">
                                            <a:latin typeface="Cambria Math" panose="02040503050406030204" pitchFamily="18" charset="0"/>
                                          </a:rPr>
                                          <m:t>ref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i="0" dirty="0">
                                            <a:latin typeface="Cambria Math" panose="02040503050406030204" pitchFamily="18" charset="0"/>
                                          </a:rPr>
                                          <m:t>ref</m:t>
                                        </m:r>
                                      </m:sub>
                                    </m:sSub>
                                    <m:d>
                                      <m:dPr>
                                        <m:sepChr m:val="∣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dirty="0"/>
                  <a:t>是由模型的概率比差定义的隐式奖励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E0FCFF8C-0645-D5FB-8791-7C6E89CE8B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47342" cy="2020511"/>
              </a:xfrm>
              <a:blipFill>
                <a:blip r:embed="rId2"/>
                <a:stretch>
                  <a:fillRect l="-1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FF31A074-FDA6-A752-DF32-E07C443EB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3" y="3846136"/>
            <a:ext cx="11796074" cy="10186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536AF292-7C24-CF26-C380-3A7586963F97}"/>
                  </a:ext>
                </a:extLst>
              </p14:cNvPr>
              <p14:cNvContentPartPr/>
              <p14:nvPr/>
            </p14:nvContentPartPr>
            <p14:xfrm>
              <a:off x="3138718" y="3920905"/>
              <a:ext cx="360" cy="36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536AF292-7C24-CF26-C380-3A7586963F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0078" y="391226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E3A5511A-E2F3-3101-69F6-310345BC3D5B}"/>
                  </a:ext>
                </a:extLst>
              </p14:cNvPr>
              <p14:cNvContentPartPr/>
              <p14:nvPr/>
            </p14:nvContentPartPr>
            <p14:xfrm>
              <a:off x="3129358" y="3855025"/>
              <a:ext cx="36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E3A5511A-E2F3-3101-69F6-310345BC3D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0718" y="38463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84C950AE-877A-F646-FE3E-FC1E05ED152E}"/>
                  </a:ext>
                </a:extLst>
              </p14:cNvPr>
              <p14:cNvContentPartPr/>
              <p14:nvPr/>
            </p14:nvContentPartPr>
            <p14:xfrm>
              <a:off x="3186238" y="3826945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84C950AE-877A-F646-FE3E-FC1E05ED15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7238" y="381830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CA4B7F40-BC37-C9C3-51FD-CC869B6CAA2C}"/>
                  </a:ext>
                </a:extLst>
              </p14:cNvPr>
              <p14:cNvContentPartPr/>
              <p14:nvPr/>
            </p14:nvContentPartPr>
            <p14:xfrm>
              <a:off x="3214318" y="3836305"/>
              <a:ext cx="180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CA4B7F40-BC37-C9C3-51FD-CC869B6CAA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5318" y="3827665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BCDD5F00-663B-5B89-4011-E62B92F28FD2}"/>
                  </a:ext>
                </a:extLst>
              </p14:cNvPr>
              <p14:cNvContentPartPr/>
              <p14:nvPr/>
            </p14:nvContentPartPr>
            <p14:xfrm>
              <a:off x="3186238" y="3826945"/>
              <a:ext cx="1800" cy="36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BCDD5F00-663B-5B89-4011-E62B92F28F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7238" y="3818305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3F8CAEC0-44CC-A0F0-6C08-7779A49D87B9}"/>
                  </a:ext>
                </a:extLst>
              </p14:cNvPr>
              <p14:cNvContentPartPr/>
              <p14:nvPr/>
            </p14:nvContentPartPr>
            <p14:xfrm>
              <a:off x="3338518" y="3873745"/>
              <a:ext cx="7920" cy="3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3F8CAEC0-44CC-A0F0-6C08-7779A49D87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9878" y="3865105"/>
                <a:ext cx="255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BF5EF99F-9290-592A-A080-76DAC8A7065C}"/>
                  </a:ext>
                </a:extLst>
              </p14:cNvPr>
              <p14:cNvContentPartPr/>
              <p14:nvPr/>
            </p14:nvContentPartPr>
            <p14:xfrm>
              <a:off x="2914078" y="3675385"/>
              <a:ext cx="408600" cy="18432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BF5EF99F-9290-592A-A080-76DAC8A706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5078" y="3666385"/>
                <a:ext cx="4262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B36E8EEC-C67D-3B64-DEF5-002AAC5742C2}"/>
                  </a:ext>
                </a:extLst>
              </p14:cNvPr>
              <p14:cNvContentPartPr/>
              <p14:nvPr/>
            </p14:nvContentPartPr>
            <p14:xfrm>
              <a:off x="3214318" y="3713905"/>
              <a:ext cx="360" cy="36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B36E8EEC-C67D-3B64-DEF5-002AAC5742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51318" y="365126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FBCEEB1F-19F0-6027-A204-A9FDC3F4EE4D}"/>
                  </a:ext>
                </a:extLst>
              </p14:cNvPr>
              <p14:cNvContentPartPr/>
              <p14:nvPr/>
            </p14:nvContentPartPr>
            <p14:xfrm>
              <a:off x="3166798" y="3836305"/>
              <a:ext cx="360" cy="36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FBCEEB1F-19F0-6027-A204-A9FDC3F4EE4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04158" y="377366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FF0954BA-43A6-BECD-B8F8-8AFA965E4BA6}"/>
                  </a:ext>
                </a:extLst>
              </p14:cNvPr>
              <p14:cNvContentPartPr/>
              <p14:nvPr/>
            </p14:nvContentPartPr>
            <p14:xfrm>
              <a:off x="3195598" y="3817225"/>
              <a:ext cx="360" cy="36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FF0954BA-43A6-BECD-B8F8-8AFA965E4B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32598" y="375458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F9B6AC38-02A4-ED74-8ED2-0ED2FFFA242E}"/>
                  </a:ext>
                </a:extLst>
              </p14:cNvPr>
              <p14:cNvContentPartPr/>
              <p14:nvPr/>
            </p14:nvContentPartPr>
            <p14:xfrm>
              <a:off x="3289558" y="3826945"/>
              <a:ext cx="360" cy="360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F9B6AC38-02A4-ED74-8ED2-0ED2FFFA24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26558" y="3764305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542A005B-3EB7-2A96-6088-546153788E54}"/>
              </a:ext>
            </a:extLst>
          </p:cNvPr>
          <p:cNvGrpSpPr/>
          <p:nvPr/>
        </p:nvGrpSpPr>
        <p:grpSpPr>
          <a:xfrm>
            <a:off x="3402598" y="3789145"/>
            <a:ext cx="236160" cy="47520"/>
            <a:chOff x="3402598" y="3789145"/>
            <a:chExt cx="236160" cy="4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0DC7E2BA-676B-2FE4-5B2A-64031E76E055}"/>
                    </a:ext>
                  </a:extLst>
                </p14:cNvPr>
                <p14:cNvContentPartPr/>
                <p14:nvPr/>
              </p14:nvContentPartPr>
              <p14:xfrm>
                <a:off x="3525358" y="3789145"/>
                <a:ext cx="360" cy="36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0DC7E2BA-676B-2FE4-5B2A-64031E76E0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62718" y="372650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6107990E-C643-A407-377B-284FDFACB233}"/>
                    </a:ext>
                  </a:extLst>
                </p14:cNvPr>
                <p14:cNvContentPartPr/>
                <p14:nvPr/>
              </p14:nvContentPartPr>
              <p14:xfrm>
                <a:off x="3468838" y="3807865"/>
                <a:ext cx="360" cy="36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6107990E-C643-A407-377B-284FDFACB2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06198" y="374522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A8DD33DA-4A19-5747-AC3E-BE32BEC50567}"/>
                    </a:ext>
                  </a:extLst>
                </p14:cNvPr>
                <p14:cNvContentPartPr/>
                <p14:nvPr/>
              </p14:nvContentPartPr>
              <p14:xfrm>
                <a:off x="3468838" y="3807865"/>
                <a:ext cx="360" cy="36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A8DD33DA-4A19-5747-AC3E-BE32BEC505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06198" y="374522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E471C944-7A1A-8193-A55C-177BA25AE73F}"/>
                    </a:ext>
                  </a:extLst>
                </p14:cNvPr>
                <p14:cNvContentPartPr/>
                <p14:nvPr/>
              </p14:nvContentPartPr>
              <p14:xfrm>
                <a:off x="3402598" y="3807865"/>
                <a:ext cx="360" cy="36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E471C944-7A1A-8193-A55C-177BA25AE7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39598" y="374522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FC4DCFDB-FB39-EBBF-73BF-921AEE6BD23E}"/>
                    </a:ext>
                  </a:extLst>
                </p14:cNvPr>
                <p14:cNvContentPartPr/>
                <p14:nvPr/>
              </p14:nvContentPartPr>
              <p14:xfrm>
                <a:off x="3638398" y="3836305"/>
                <a:ext cx="360" cy="36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FC4DCFDB-FB39-EBBF-73BF-921AEE6BD2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75758" y="377366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758E4F56-C9B2-9B68-0CEC-AF54D3220177}"/>
                  </a:ext>
                </a:extLst>
              </p14:cNvPr>
              <p14:cNvContentPartPr/>
              <p14:nvPr/>
            </p14:nvContentPartPr>
            <p14:xfrm>
              <a:off x="3845758" y="3845665"/>
              <a:ext cx="360" cy="36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758E4F56-C9B2-9B68-0CEC-AF54D322017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82758" y="378302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内容占位符 4">
                <a:extLst>
                  <a:ext uri="{FF2B5EF4-FFF2-40B4-BE49-F238E27FC236}">
                    <a16:creationId xmlns:a16="http://schemas.microsoft.com/office/drawing/2014/main" id="{EAE17CCF-05EF-5941-5392-A9B148F504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2329" y="4892420"/>
                <a:ext cx="10747342" cy="17063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理想情况下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我们希望看到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升高，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降低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7" name="内容占位符 4">
                <a:extLst>
                  <a:ext uri="{FF2B5EF4-FFF2-40B4-BE49-F238E27FC236}">
                    <a16:creationId xmlns:a16="http://schemas.microsoft.com/office/drawing/2014/main" id="{EAE17CCF-05EF-5941-5392-A9B148F50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29" y="4892420"/>
                <a:ext cx="10747342" cy="1706344"/>
              </a:xfrm>
              <a:prstGeom prst="rect">
                <a:avLst/>
              </a:prstGeom>
              <a:blipFill>
                <a:blip r:embed="rId25"/>
                <a:stretch>
                  <a:fillRect l="-1020" t="-6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06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CAC30-74B0-0E9A-A093-7E35ABC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缺陷一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B2BB30-6D8F-BD93-E769-8E608D7B5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偏好回答和不偏好回答的概率可能会一起下降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04E7A34C-5E3B-AD96-5E2B-2E17D0F66D0E}"/>
              </a:ext>
            </a:extLst>
          </p:cNvPr>
          <p:cNvPicPr>
            <a:picLocks/>
          </p:cNvPicPr>
          <p:nvPr/>
        </p:nvPicPr>
        <p:blipFill>
          <a:blip r:embed="rId2"/>
          <a:srcRect l="34363" t="23366" r="28495" b="3362"/>
          <a:stretch>
            <a:fillRect/>
          </a:stretch>
        </p:blipFill>
        <p:spPr>
          <a:xfrm>
            <a:off x="2887980" y="2468880"/>
            <a:ext cx="6416040" cy="402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4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6AA487-72C0-46CB-1A5C-E101CF4432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785" y="524726"/>
                <a:ext cx="10515600" cy="1603375"/>
              </a:xfrm>
            </p:spPr>
            <p:txBody>
              <a:bodyPr/>
              <a:lstStyle/>
              <a:p>
                <a:r>
                  <a:rPr lang="en-US" altLang="zh-CN" dirty="0"/>
                  <a:t>DPO</a:t>
                </a:r>
                <a:r>
                  <a:rPr lang="zh-CN" altLang="en-US" dirty="0"/>
                  <a:t>的损失函数是概率比的差值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即使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被降低了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被降低的更多，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依然是下降的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6AA487-72C0-46CB-1A5C-E101CF443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785" y="524726"/>
                <a:ext cx="10515600" cy="1603375"/>
              </a:xfrm>
              <a:blipFill>
                <a:blip r:embed="rId2"/>
                <a:stretch>
                  <a:fillRect l="-1043" t="-6844" b="-3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0B31244-C5FD-9240-85C9-C9CD518C4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2128101"/>
            <a:ext cx="11772900" cy="6565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A857ED6-A68F-91FA-87C1-A58E2FAEB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98" y="2895525"/>
            <a:ext cx="10059804" cy="1066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3E4DB7E0-4E1E-4756-8029-458960DB03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073390"/>
                <a:ext cx="11144250" cy="27846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RLHF </a:t>
                </a:r>
                <a:r>
                  <a:rPr lang="zh-CN" altLang="en-US" dirty="0"/>
                  <a:t>的最初用例并没有明确指出偏好回答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dirty="0"/>
                  <a:t>也就是令人满意的回答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只是相对地优于另一个回答</a:t>
                </a:r>
                <a:endParaRPr lang="en-US" altLang="zh-CN" dirty="0"/>
              </a:p>
              <a:p>
                <a:r>
                  <a:rPr lang="zh-CN" altLang="en-US" dirty="0"/>
                  <a:t>可是后来更常见的是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对于每对回答，其中一个是令人满意的回答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CN" dirty="0"/>
                  <a:t>: 2+2=4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dirty="0"/>
                  <a:t>: 2+2=5</a:t>
                </a:r>
              </a:p>
            </p:txBody>
          </p:sp>
        </mc:Choice>
        <mc:Fallback xmlns="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3E4DB7E0-4E1E-4756-8029-458960DB0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73390"/>
                <a:ext cx="11144250" cy="2784610"/>
              </a:xfrm>
              <a:prstGeom prst="rect">
                <a:avLst/>
              </a:prstGeom>
              <a:blipFill>
                <a:blip r:embed="rId5"/>
                <a:stretch>
                  <a:fillRect l="-985" t="-37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98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E6EF2-F284-EE34-EFE6-CE6A8F6E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编辑距离较近的两个回答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BC2F61-C26B-C2C9-528F-DE2F9BE6B6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08667"/>
              </a:xfrm>
            </p:spPr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CN" dirty="0"/>
                  <a:t>: 2+2=4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dirty="0"/>
                  <a:t>: 2+2=5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编辑距离为</a:t>
                </a:r>
                <a:r>
                  <a:rPr lang="en-US" altLang="zh-CN" dirty="0"/>
                  <a:t>1</a:t>
                </a:r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dirty="0"/>
                  <a:t>几乎相同时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DPO </a:t>
                </a:r>
                <a:r>
                  <a:rPr lang="zh-CN" altLang="en-US" dirty="0"/>
                  <a:t>的梯度更新会导致模型去抑制这些词的生成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偏好回答和不偏好回答同时被抑制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BC2F61-C26B-C2C9-528F-DE2F9BE6B6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08667"/>
              </a:xfrm>
              <a:blipFill>
                <a:blip r:embed="rId2"/>
                <a:stretch>
                  <a:fillRect l="-1043" t="-3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C80706A1-4831-570A-268A-72B9DAA64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53" y="4534292"/>
            <a:ext cx="11849493" cy="169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3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FE1DA05-77C8-262A-80DE-41A4D0F2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85" y="707010"/>
            <a:ext cx="10014018" cy="3872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D70E88-06E3-F6CC-764F-D49208202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13" y="1094292"/>
            <a:ext cx="9063765" cy="813415"/>
          </a:xfrm>
          <a:prstGeom prst="rect">
            <a:avLst/>
          </a:prstGeom>
        </p:spPr>
      </p:pic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645D19A0-05E5-28E1-446F-6DF6BA50A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36" y="2278589"/>
            <a:ext cx="11505117" cy="278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01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360DBA3A-0800-C116-D90A-706F90E2E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14211"/>
            <a:ext cx="12192000" cy="3875954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E20938ED-C250-D018-2B6D-1F6F34B21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291647"/>
            <a:ext cx="10515600" cy="1894786"/>
          </a:xfrm>
        </p:spPr>
        <p:txBody>
          <a:bodyPr/>
          <a:lstStyle/>
          <a:p>
            <a:r>
              <a:rPr lang="en-US" altLang="zh-CN" dirty="0"/>
              <a:t>Likelihood Displacement </a:t>
            </a:r>
            <a:r>
              <a:rPr lang="zh-CN" altLang="en-US" dirty="0"/>
              <a:t>概率错位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如果概率质量从偏好回答转移到了具有相反含义的回答上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这是灾难性的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8343317-0005-7C5F-89F3-1F17A5A00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15" y="4446660"/>
            <a:ext cx="11758367" cy="68849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C0EF8B8-01AB-A4EA-20A4-22C7645DD0E0}"/>
              </a:ext>
            </a:extLst>
          </p:cNvPr>
          <p:cNvSpPr txBox="1"/>
          <p:nvPr/>
        </p:nvSpPr>
        <p:spPr>
          <a:xfrm>
            <a:off x="10151715" y="5602214"/>
            <a:ext cx="21148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/>
              <a:t>Unintentional Unalignment: Likelihood Displacement</a:t>
            </a:r>
          </a:p>
          <a:p>
            <a:r>
              <a:rPr lang="en-US" altLang="zh-CN" sz="800" dirty="0"/>
              <a:t>in Direct Preference Optimization</a:t>
            </a:r>
          </a:p>
          <a:p>
            <a:r>
              <a:rPr lang="en-US" altLang="zh-CN" sz="800" dirty="0" err="1"/>
              <a:t>NoamRazin</a:t>
            </a:r>
            <a:r>
              <a:rPr lang="en-US" altLang="zh-CN" sz="800" dirty="0"/>
              <a:t>†, Sadhika Malladi†, Adithya Bhaskar†,</a:t>
            </a:r>
          </a:p>
          <a:p>
            <a:r>
              <a:rPr lang="en-US" altLang="zh-CN" sz="800" dirty="0" err="1"/>
              <a:t>Danqi</a:t>
            </a:r>
            <a:r>
              <a:rPr lang="en-US" altLang="zh-CN" sz="800" dirty="0"/>
              <a:t> Chen†, Sanjeev Arora†, Boris Hanin‡</a:t>
            </a:r>
          </a:p>
          <a:p>
            <a:r>
              <a:rPr lang="en-US" altLang="zh-CN" sz="800" dirty="0"/>
              <a:t>† Princeton Language and Intelligence, Princeton University ‡ Princeton ORFE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373786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F9A47-078B-EC06-EAEC-C374170A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DPOP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DBE963-E4E8-937F-3BDE-08FB11F4C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54943"/>
                <a:ext cx="10515600" cy="330305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𝒟𝒫𝒪𝒫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𝒟𝒫𝒪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func>
                              <m:func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ref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当模型生成的正例概率低于参考模型时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新增的惩罚项才起作用</a:t>
                </a:r>
                <a:endParaRPr lang="en-US" altLang="zh-CN" dirty="0"/>
              </a:p>
              <a:p>
                <a:r>
                  <a:rPr lang="zh-CN" altLang="en-US" dirty="0"/>
                  <a:t>模型在训练过程中，必须努力保持正例的概率不低于初始水平</a:t>
                </a:r>
                <a:endParaRPr lang="en-US" altLang="zh-CN" dirty="0"/>
              </a:p>
              <a:p>
                <a:r>
                  <a:rPr lang="en-US" altLang="zh-CN" dirty="0"/>
                  <a:t>Smaug-72B-v0.1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“</a:t>
                </a:r>
                <a:r>
                  <a:rPr lang="en-US" altLang="zh-CN" dirty="0" err="1"/>
                  <a:t>HuggingFace</a:t>
                </a:r>
                <a:r>
                  <a:rPr lang="zh-CN" altLang="en-US" dirty="0"/>
                  <a:t>排行榜上首个平均得分超过</a:t>
                </a:r>
                <a:r>
                  <a:rPr lang="en-US" altLang="zh-CN" dirty="0"/>
                  <a:t>80%</a:t>
                </a:r>
                <a:r>
                  <a:rPr lang="zh-CN" altLang="en-US" dirty="0"/>
                  <a:t>的开源模型”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DBE963-E4E8-937F-3BDE-08FB11F4C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54943"/>
                <a:ext cx="10515600" cy="3303057"/>
              </a:xfrm>
              <a:blipFill>
                <a:blip r:embed="rId2"/>
                <a:stretch>
                  <a:fillRect l="-1043" t="-1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6B17AAA6-A27E-FA20-57E4-2D59A3C5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81" y="1287677"/>
            <a:ext cx="11555438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1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C8F6A-0A8B-5BFE-FA85-3C5097D0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缺陷二 </a:t>
            </a:r>
            <a:r>
              <a:rPr lang="en-US" altLang="zh-CN" dirty="0"/>
              <a:t>length bias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0EBBF-5209-AB29-D2A4-EE7EC5EF0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2688"/>
          </a:xfrm>
        </p:spPr>
        <p:txBody>
          <a:bodyPr/>
          <a:lstStyle/>
          <a:p>
            <a:r>
              <a:rPr lang="zh-CN" altLang="en-US" dirty="0"/>
              <a:t>长度偏置 非理性冗长</a:t>
            </a:r>
            <a:endParaRPr lang="en-US" altLang="zh-CN" dirty="0"/>
          </a:p>
          <a:p>
            <a:r>
              <a:rPr lang="zh-CN" altLang="en-US" dirty="0"/>
              <a:t>即使是一些简单的问题，</a:t>
            </a:r>
            <a:r>
              <a:rPr lang="en-US" altLang="zh-CN" dirty="0"/>
              <a:t>DPO</a:t>
            </a:r>
            <a:r>
              <a:rPr lang="zh-CN" altLang="en-US" dirty="0"/>
              <a:t>后的模型也更喜欢长篇大论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即使在明确简洁的指令下，仍出现可压缩的过长回答</a:t>
            </a:r>
            <a:endParaRPr lang="en-US" altLang="zh-CN" dirty="0"/>
          </a:p>
          <a:p>
            <a:r>
              <a:rPr lang="zh-CN" altLang="en-US" dirty="0"/>
              <a:t>两大类原因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第一类来自数据本身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人类通过增加字数来应对误解风险或情感连接需求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第二类原因来自</a:t>
            </a:r>
            <a:r>
              <a:rPr lang="en-US" altLang="zh-CN" dirty="0"/>
              <a:t>DPO</a:t>
            </a:r>
            <a:r>
              <a:rPr lang="zh-CN" altLang="en-US" dirty="0"/>
              <a:t>算法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序列级隐式奖励信号随输出长度增长</a:t>
            </a:r>
          </a:p>
        </p:txBody>
      </p:sp>
    </p:spTree>
    <p:extLst>
      <p:ext uri="{BB962C8B-B14F-4D97-AF65-F5344CB8AC3E}">
        <p14:creationId xmlns:p14="http://schemas.microsoft.com/office/powerpoint/2010/main" val="299317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21009D54-1DBE-AB1C-6586-8E09A534E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819"/>
            <a:ext cx="12192000" cy="53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0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2ECAF-3E00-2FCB-D79E-C3FE2696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DPO</a:t>
            </a:r>
            <a:r>
              <a:rPr lang="zh-CN" altLang="en-US" dirty="0"/>
              <a:t>算法导致</a:t>
            </a:r>
            <a:r>
              <a:rPr lang="en-US" altLang="zh-CN" dirty="0"/>
              <a:t>length bias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068A5F-1ADE-24DF-64A8-268F32BA89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3394"/>
              </a:xfrm>
            </p:spPr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这个序列概率是每个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概率的连乘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𝑙𝑒𝑛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sup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</m:nary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en-US" altLang="zh-CN" dirty="0"/>
                  <a:t>DPO</a:t>
                </a:r>
                <a:r>
                  <a:rPr lang="zh-CN" altLang="en-US" dirty="0"/>
                  <a:t>的训练目标是赢的序列奖励总和最大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这就导致一种 </a:t>
                </a:r>
                <a:r>
                  <a:rPr lang="en-US" altLang="zh-CN" dirty="0"/>
                  <a:t>reward hacking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068A5F-1ADE-24DF-64A8-268F32BA8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339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32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6F890-FF83-821B-341B-1F04D80B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SimPO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504992-5203-D27A-3A05-0BB0B5F29A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73658"/>
                <a:ext cx="10515600" cy="181937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Cambria Math" panose="02040503050406030204" pitchFamily="18" charset="0"/>
                  </a:rPr>
                  <a:t>长度归一化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移除参考模型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endParaRPr lang="es-E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E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sub>
                            </m:sSub>
                          </m:e>
                        </m:d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altLang="zh-CN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504992-5203-D27A-3A05-0BB0B5F29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73658"/>
                <a:ext cx="10515600" cy="1819373"/>
              </a:xfrm>
              <a:blipFill>
                <a:blip r:embed="rId2"/>
                <a:stretch>
                  <a:fillRect l="-1043" t="-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F07EF47F-608D-7A61-CD10-70361594D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973" y="1166505"/>
            <a:ext cx="7334054" cy="350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7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2D2F-9471-812A-C987-2675A8C2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LD-DPO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2E645-E31A-D6A6-BE40-6F9919899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做法：降低超长部分的权重</a:t>
                </a:r>
                <a:endParaRPr lang="en-US" altLang="zh-CN" dirty="0"/>
              </a:p>
              <a:p>
                <a:r>
                  <a:rPr lang="zh-CN" altLang="en-US" dirty="0"/>
                  <a:t>对于一对偏好回答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	</a:t>
                </a:r>
                <a:r>
                  <a:rPr lang="zh-CN" altLang="en-US" dirty="0"/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将公共部分与超长部分拆分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∏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修改超长部分的似然函数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∏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func>
                          <m:func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2E645-E31A-D6A6-BE40-6F9919899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02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FA12F-CEF2-706A-861E-8FBDE5C0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缺陷三 过拟合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03F377-7D5A-B611-1BCB-F4A020C95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823" y="1769063"/>
                <a:ext cx="11463780" cy="498995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i="0" dirty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i="0" dirty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loss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en-US" altLang="zh-CN" dirty="0"/>
                  <a:t>Identity Preference Optimization (</a:t>
                </a:r>
                <a:r>
                  <a:rPr lang="el-GR" altLang="zh-CN" dirty="0"/>
                  <a:t>Ψ</a:t>
                </a:r>
                <a:r>
                  <a:rPr lang="en-US" altLang="zh-CN" dirty="0"/>
                  <a:t>PO with identity mapping)</a:t>
                </a:r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:r>
                  <a:rPr lang="zh-CN" altLang="en-US" dirty="0"/>
                  <a:t>目标间隔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03F377-7D5A-B611-1BCB-F4A020C95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823" y="1769063"/>
                <a:ext cx="11463780" cy="4989955"/>
              </a:xfrm>
              <a:blipFill>
                <a:blip r:embed="rId2"/>
                <a:stretch>
                  <a:fillRect l="-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41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960DD-2308-5B34-80B8-DC3AE09C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131" y="1213537"/>
            <a:ext cx="4259737" cy="1325563"/>
          </a:xfrm>
        </p:spPr>
        <p:txBody>
          <a:bodyPr>
            <a:noAutofit/>
          </a:bodyPr>
          <a:lstStyle/>
          <a:p>
            <a:r>
              <a:rPr lang="en-US" altLang="zh-CN" sz="12000" dirty="0"/>
              <a:t>ORPO</a:t>
            </a:r>
            <a:endParaRPr lang="zh-CN" altLang="en-US" sz="12000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9422936E-51CC-C081-0072-1826FD12B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4" y="2729275"/>
            <a:ext cx="10878532" cy="259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5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B5261-23BA-4D5D-7CF4-1BE7824E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odds ratio preference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502E5-BC20-0ACD-C50D-144ABDCC2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8181"/>
            <a:ext cx="10515600" cy="1084084"/>
          </a:xfrm>
        </p:spPr>
        <p:txBody>
          <a:bodyPr/>
          <a:lstStyle/>
          <a:p>
            <a:r>
              <a:rPr lang="zh-CN" altLang="en-US" dirty="0"/>
              <a:t>不需要</a:t>
            </a:r>
            <a:r>
              <a:rPr lang="en-US" altLang="zh-CN" dirty="0"/>
              <a:t>SFT</a:t>
            </a:r>
            <a:r>
              <a:rPr lang="zh-CN" altLang="en-US" dirty="0"/>
              <a:t>：</a:t>
            </a:r>
            <a:r>
              <a:rPr lang="en-US" altLang="zh-CN" dirty="0"/>
              <a:t> Monolithic</a:t>
            </a:r>
          </a:p>
          <a:p>
            <a:pPr marL="0" indent="0">
              <a:buNone/>
            </a:pPr>
            <a:r>
              <a:rPr lang="en-US" altLang="zh-CN" dirty="0"/>
              <a:t>	reference-free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22C13245-B48A-EDFA-D8A3-DF5E5B2B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7991"/>
            <a:ext cx="11255604" cy="35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EDD2FF-4609-522C-0328-275955D5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081805"/>
            <a:ext cx="10898171" cy="2776195"/>
          </a:xfrm>
        </p:spPr>
        <p:txBody>
          <a:bodyPr/>
          <a:lstStyle/>
          <a:p>
            <a:r>
              <a:rPr lang="en-US" altLang="zh-CN" dirty="0"/>
              <a:t>SFT</a:t>
            </a:r>
            <a:r>
              <a:rPr lang="zh-CN" altLang="en-US" dirty="0"/>
              <a:t>会同时让</a:t>
            </a:r>
            <a:r>
              <a:rPr lang="en-US" altLang="zh-CN" dirty="0"/>
              <a:t>chosen</a:t>
            </a:r>
            <a:r>
              <a:rPr lang="zh-CN" altLang="en-US" dirty="0"/>
              <a:t>和</a:t>
            </a:r>
            <a:r>
              <a:rPr lang="en-US" altLang="zh-CN" dirty="0"/>
              <a:t>rejected</a:t>
            </a:r>
            <a:r>
              <a:rPr lang="zh-CN" altLang="en-US" dirty="0"/>
              <a:t>的概率提高</a:t>
            </a:r>
            <a:endParaRPr lang="en-US" altLang="zh-CN" dirty="0"/>
          </a:p>
          <a:p>
            <a:r>
              <a:rPr lang="zh-CN" altLang="en-US" dirty="0"/>
              <a:t>传统</a:t>
            </a:r>
            <a:r>
              <a:rPr lang="en-US" altLang="zh-CN" dirty="0"/>
              <a:t>SFT</a:t>
            </a:r>
            <a:r>
              <a:rPr lang="zh-CN" altLang="en-US" dirty="0"/>
              <a:t>无法区分</a:t>
            </a:r>
            <a:r>
              <a:rPr lang="en-US" altLang="zh-CN" dirty="0"/>
              <a:t>chosen</a:t>
            </a:r>
            <a:r>
              <a:rPr lang="zh-CN" altLang="en-US" dirty="0"/>
              <a:t>和</a:t>
            </a:r>
            <a:r>
              <a:rPr lang="en-US" altLang="zh-CN" dirty="0"/>
              <a:t>rejected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所以才需要</a:t>
            </a:r>
            <a:r>
              <a:rPr lang="en-US" altLang="zh-CN" dirty="0"/>
              <a:t>RLHF DPO</a:t>
            </a:r>
          </a:p>
          <a:p>
            <a:r>
              <a:rPr lang="en-US" altLang="zh-CN" dirty="0"/>
              <a:t>ORPO</a:t>
            </a:r>
            <a:r>
              <a:rPr lang="zh-CN" altLang="en-US" dirty="0"/>
              <a:t>希望在一个阶段里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同时完成过去</a:t>
            </a:r>
            <a:r>
              <a:rPr lang="en-US" altLang="zh-CN" dirty="0"/>
              <a:t>SFT</a:t>
            </a:r>
            <a:r>
              <a:rPr lang="zh-CN" altLang="en-US" dirty="0"/>
              <a:t>和</a:t>
            </a:r>
            <a:r>
              <a:rPr lang="en-US" altLang="zh-CN" dirty="0"/>
              <a:t>DPO</a:t>
            </a:r>
            <a:r>
              <a:rPr lang="zh-CN" altLang="en-US" dirty="0"/>
              <a:t>两个阶段做的事情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F480C8A-4095-F377-FC94-4DA2036F3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63" y="112520"/>
            <a:ext cx="6277874" cy="39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7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8E112-3980-ABAF-68EC-7C82E901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ORPO</a:t>
            </a:r>
            <a:r>
              <a:rPr lang="zh-CN" altLang="en-US" dirty="0"/>
              <a:t>的损失函数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2F036A-4E9D-6B10-AF3D-886918878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339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𝒪ℛ𝒫𝒪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𝒮ℱ𝒯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𝒪ℛ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胜算定义为：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𝑜𝑑𝑑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unc>
                          <m:func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胜算损失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𝒪ℛ</m:t>
                        </m:r>
                      </m:sub>
                    </m:sSub>
                  </m:oMath>
                </a14:m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𝒪ℛ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𝑜𝑑𝑑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𝑜𝑑𝑑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当偏好响应的胜算远大于不偏好响应时，该损失趋于最小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2F036A-4E9D-6B10-AF3D-886918878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3394"/>
              </a:xfrm>
              <a:blipFill>
                <a:blip r:embed="rId2"/>
                <a:stretch>
                  <a:fillRect l="-1043" t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54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C3741-26AE-BC26-465D-A756045A6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739" y="1468060"/>
            <a:ext cx="2932522" cy="1325563"/>
          </a:xfrm>
        </p:spPr>
        <p:txBody>
          <a:bodyPr>
            <a:noAutofit/>
          </a:bodyPr>
          <a:lstStyle/>
          <a:p>
            <a:r>
              <a:rPr lang="en-US" altLang="zh-CN" sz="12000" dirty="0"/>
              <a:t>KTO</a:t>
            </a:r>
            <a:endParaRPr lang="zh-CN" altLang="en-US" sz="12000" dirty="0"/>
          </a:p>
        </p:txBody>
      </p:sp>
      <p:pic>
        <p:nvPicPr>
          <p:cNvPr id="5" name="图片 4" descr="图片包含 文本&#10;&#10;AI 生成的内容可能不正确。">
            <a:extLst>
              <a:ext uri="{FF2B5EF4-FFF2-40B4-BE49-F238E27FC236}">
                <a16:creationId xmlns:a16="http://schemas.microsoft.com/office/drawing/2014/main" id="{87DF6D9B-0CF5-067A-02B9-13583D929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3623"/>
            <a:ext cx="12192000" cy="241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40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2D29D-6533-2AB7-11CD-0DD5E83D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05660" cy="1325563"/>
          </a:xfrm>
        </p:spPr>
        <p:txBody>
          <a:bodyPr/>
          <a:lstStyle/>
          <a:p>
            <a:r>
              <a:rPr lang="en-US" altLang="zh-CN" dirty="0"/>
              <a:t>KTO</a:t>
            </a:r>
            <a:r>
              <a:rPr lang="zh-CN" altLang="en-US" dirty="0"/>
              <a:t>不再需要偏好数据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35DC28-41E9-D239-E837-61A8E6B61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只需要一个二值标签表示回答好还是不好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这样的数据更易得到</a:t>
                </a:r>
                <a:endParaRPr lang="en-US" altLang="zh-CN" dirty="0"/>
              </a:p>
              <a:p>
                <a:r>
                  <a:rPr lang="zh-CN" altLang="en-US" dirty="0"/>
                  <a:t>如果我拥有的是</a:t>
                </a:r>
                <a:r>
                  <a:rPr lang="en-US" altLang="zh-CN" dirty="0"/>
                  <a:t>DPO</a:t>
                </a:r>
                <a:r>
                  <a:rPr lang="zh-CN" altLang="en-US" dirty="0"/>
                  <a:t>的偏好数据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只需拆分开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用同一组数据可以清晰比较</a:t>
                </a:r>
                <a:r>
                  <a:rPr lang="en-US" altLang="zh-CN" dirty="0"/>
                  <a:t>DPO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KTO</a:t>
                </a:r>
                <a:r>
                  <a:rPr lang="zh-CN" altLang="en-US" dirty="0"/>
                  <a:t>性能</a:t>
                </a:r>
                <a:endParaRPr lang="en-US" altLang="zh-CN" dirty="0"/>
              </a:p>
              <a:p>
                <a:r>
                  <a:rPr lang="zh-CN" altLang="en-US" dirty="0"/>
                  <a:t>如果我拥有的是打分数据，如何转换来做</a:t>
                </a:r>
                <a:r>
                  <a:rPr lang="en-US" altLang="zh-CN" dirty="0"/>
                  <a:t>DPO</a:t>
                </a:r>
                <a:r>
                  <a:rPr lang="zh-CN" altLang="en-US" dirty="0"/>
                  <a:t>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只要得分高于某个阈值，就是好的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只要得分高于均值或中位数，就是好的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按分数映射成伯努利分布再抽样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35DC28-41E9-D239-E837-61A8E6B61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AEE6818E-FDCC-25F8-2B47-00CB06226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860" y="437273"/>
            <a:ext cx="3610479" cy="11812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E92535-3E32-9ACA-F198-0F7210630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339" y="399168"/>
            <a:ext cx="174331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2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C59610-1764-01DE-865E-EBEC37D08A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72374"/>
                <a:ext cx="10515600" cy="647862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KTO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参考点：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𝕩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𝐾𝐿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lit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p>
                                  <m:s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lit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||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lit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p>
                                  <m:s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相对奖励：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KTO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desirable: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KTO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KTO</m:t>
                            </m:r>
                          </m:sub>
                        </m:s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undesirable: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KTO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KTO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KTO</a:t>
                </a:r>
                <a:r>
                  <a:rPr lang="zh-CN" altLang="en-US" dirty="0"/>
                  <a:t>的损失函数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KTO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𝕩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𝕪</m:t>
                            </m:r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KTO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样本权重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：</a:t>
                </a:r>
                <a:r>
                  <a:rPr lang="en-US" altLang="zh-CN" dirty="0"/>
                  <a:t>desirable</a:t>
                </a:r>
                <a:r>
                  <a:rPr lang="zh-CN" altLang="en-US" dirty="0"/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undesirable</a:t>
                </a:r>
                <a:r>
                  <a:rPr lang="zh-CN" altLang="en-US" dirty="0"/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C59610-1764-01DE-865E-EBEC37D08A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72374"/>
                <a:ext cx="10515600" cy="6478621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44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824705-B4C7-E832-6A5E-86E9CF46C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6252"/>
                <a:ext cx="10515600" cy="4977753"/>
              </a:xfrm>
            </p:spPr>
            <p:txBody>
              <a:bodyPr/>
              <a:lstStyle/>
              <a:p>
                <a:r>
                  <a:rPr lang="zh-CN" altLang="en-US" dirty="0"/>
                  <a:t>梯度里含有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当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很大或者很小的时候梯度趋于</a:t>
                </a:r>
                <a:r>
                  <a:rPr lang="en-US" altLang="zh-CN" dirty="0"/>
                  <a:t>0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KTO</a:t>
                </a:r>
                <a:r>
                  <a:rPr lang="zh-CN" altLang="en-US" dirty="0"/>
                  <a:t>不会从极高</a:t>
                </a:r>
                <a:r>
                  <a:rPr lang="en-US" altLang="zh-CN" dirty="0"/>
                  <a:t>reward</a:t>
                </a:r>
                <a:r>
                  <a:rPr lang="zh-CN" altLang="en-US" dirty="0"/>
                  <a:t>的坏样本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极低</a:t>
                </a:r>
                <a:r>
                  <a:rPr lang="en-US" altLang="zh-CN" dirty="0"/>
                  <a:t>reward</a:t>
                </a:r>
                <a:r>
                  <a:rPr lang="zh-CN" altLang="en-US" dirty="0"/>
                  <a:t>的好样本里学习</a:t>
                </a:r>
                <a:endParaRPr lang="en-US" altLang="zh-CN" dirty="0"/>
              </a:p>
              <a:p>
                <a:r>
                  <a:rPr lang="en-US" altLang="zh-CN" dirty="0"/>
                  <a:t>KTO</a:t>
                </a:r>
                <a:r>
                  <a:rPr lang="zh-CN" altLang="en-US" dirty="0"/>
                  <a:t>是以全局</a:t>
                </a:r>
                <a:r>
                  <a:rPr lang="en-US" altLang="zh-CN" dirty="0"/>
                  <a:t>reference</a:t>
                </a:r>
                <a:r>
                  <a:rPr lang="zh-CN" altLang="en-US" dirty="0"/>
                  <a:t>为中心的两侧推拉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desirable: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梯度下降等价于上升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undesirable: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梯度下降等价于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下降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KTO</a:t>
                </a:r>
                <a:r>
                  <a:rPr lang="zh-CN" altLang="en-US" dirty="0"/>
                  <a:t>比</a:t>
                </a:r>
                <a:r>
                  <a:rPr lang="en-US" altLang="zh-CN" dirty="0"/>
                  <a:t>DPO</a:t>
                </a:r>
                <a:r>
                  <a:rPr lang="zh-CN" altLang="en-US" dirty="0"/>
                  <a:t>更免疫整体的概率偏移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824705-B4C7-E832-6A5E-86E9CF46C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6252"/>
                <a:ext cx="10515600" cy="4977753"/>
              </a:xfrm>
              <a:blipFill>
                <a:blip r:embed="rId2"/>
                <a:stretch>
                  <a:fillRect l="-1043" t="-2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37DBCFD7-6C05-A4CE-0295-364EB970D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68" y="739604"/>
            <a:ext cx="11053864" cy="64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2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EE461-FD6A-03DD-7C4A-BFCD4547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KTO</a:t>
            </a:r>
            <a:r>
              <a:rPr lang="zh-CN" altLang="en-US" dirty="0"/>
              <a:t>的优势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294AEA-3110-8B61-E2A0-2F5D5F966B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62122" cy="5032375"/>
              </a:xfrm>
            </p:spPr>
            <p:txBody>
              <a:bodyPr/>
              <a:lstStyle/>
              <a:p>
                <a:r>
                  <a:rPr lang="zh-CN" altLang="en-US" dirty="0"/>
                  <a:t>不需要成对偏好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比如评论区只有点赞或点踩的业务场景下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点赞点踩这样的二值反馈更丰富、更便宜、也更容易快速收集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极端数据场景下</a:t>
                </a:r>
                <a:r>
                  <a:rPr lang="en-US" altLang="zh-CN" dirty="0"/>
                  <a:t>KTO</a:t>
                </a:r>
                <a:r>
                  <a:rPr lang="zh-CN" altLang="en-US" dirty="0"/>
                  <a:t>还能工作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好坏配比</a:t>
                </a:r>
                <a:r>
                  <a:rPr lang="en-US" altLang="zh-CN" dirty="0"/>
                  <a:t>1:10</a:t>
                </a:r>
                <a:r>
                  <a:rPr lang="zh-CN" altLang="en-US" dirty="0"/>
                  <a:t> 一样可以工作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one-y-per-x 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里的每个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随机保留一个</a:t>
                </a:r>
                <a:r>
                  <a:rPr lang="en-US" altLang="zh-CN" dirty="0"/>
                  <a:t>y</a:t>
                </a:r>
              </a:p>
              <a:p>
                <a:r>
                  <a:rPr lang="en-US" altLang="zh-CN" dirty="0"/>
                  <a:t>KTO </a:t>
                </a:r>
                <a:r>
                  <a:rPr lang="zh-CN" altLang="en-US" dirty="0"/>
                  <a:t>对噪声和极端或矛盾样本更鲁棒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不学习标签错了但模型很自信的样本，不学习极端 </a:t>
                </a:r>
                <a:r>
                  <a:rPr lang="en-US" altLang="zh-CN" dirty="0"/>
                  <a:t>outlier</a:t>
                </a:r>
              </a:p>
              <a:p>
                <a:r>
                  <a:rPr lang="zh-CN" altLang="en-US" dirty="0"/>
                  <a:t>不做 </a:t>
                </a:r>
                <a:r>
                  <a:rPr lang="en-US" altLang="zh-CN" dirty="0"/>
                  <a:t>SFT 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KTO </a:t>
                </a:r>
                <a:r>
                  <a:rPr lang="zh-CN" altLang="en-US" dirty="0"/>
                  <a:t>明显更稳定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294AEA-3110-8B61-E2A0-2F5D5F966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62122" cy="5032375"/>
              </a:xfrm>
              <a:blipFill>
                <a:blip r:embed="rId2"/>
                <a:stretch>
                  <a:fillRect l="-98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51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2886</TotalTime>
  <Words>1080</Words>
  <Application>Microsoft Office PowerPoint</Application>
  <PresentationFormat>宽屏</PresentationFormat>
  <Paragraphs>146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等线 Light</vt:lpstr>
      <vt:lpstr>Arial</vt:lpstr>
      <vt:lpstr>Cambria Math</vt:lpstr>
      <vt:lpstr>Office 主题​​</vt:lpstr>
      <vt:lpstr>DPO 缺陷及其变体 DPOP  SimPO  LD-DPO  IPO  ORPO  KTO</vt:lpstr>
      <vt:lpstr>主要内容</vt:lpstr>
      <vt:lpstr>DPO</vt:lpstr>
      <vt:lpstr>缺陷一</vt:lpstr>
      <vt:lpstr>PowerPoint 演示文稿</vt:lpstr>
      <vt:lpstr>编辑距离较近的两个回答</vt:lpstr>
      <vt:lpstr>PowerPoint 演示文稿</vt:lpstr>
      <vt:lpstr>PowerPoint 演示文稿</vt:lpstr>
      <vt:lpstr>DPOP</vt:lpstr>
      <vt:lpstr>缺陷二 length bias</vt:lpstr>
      <vt:lpstr>PowerPoint 演示文稿</vt:lpstr>
      <vt:lpstr>DPO算法导致length bias</vt:lpstr>
      <vt:lpstr>SimPO</vt:lpstr>
      <vt:lpstr>LD-DPO</vt:lpstr>
      <vt:lpstr>缺陷三 过拟合</vt:lpstr>
      <vt:lpstr>ORPO</vt:lpstr>
      <vt:lpstr>odds ratio preference optimization</vt:lpstr>
      <vt:lpstr>PowerPoint 演示文稿</vt:lpstr>
      <vt:lpstr>ORPO的损失函数</vt:lpstr>
      <vt:lpstr>KTO</vt:lpstr>
      <vt:lpstr>KTO不再需要偏好数据</vt:lpstr>
      <vt:lpstr>PowerPoint 演示文稿</vt:lpstr>
      <vt:lpstr>PowerPoint 演示文稿</vt:lpstr>
      <vt:lpstr>KTO的优势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8</cp:revision>
  <dcterms:created xsi:type="dcterms:W3CDTF">2026-02-08T03:45:34Z</dcterms:created>
  <dcterms:modified xsi:type="dcterms:W3CDTF">2026-02-10T05:31:41Z</dcterms:modified>
</cp:coreProperties>
</file>