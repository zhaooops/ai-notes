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2" autoAdjust="0"/>
    <p:restoredTop sz="94660"/>
  </p:normalViewPr>
  <p:slideViewPr>
    <p:cSldViewPr snapToGrid="0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19161-E4AD-BBE3-AA6D-77E19CFA4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0A6528-8E7A-B33A-AC1B-36AB8EDC2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86DBDE-6B51-A444-E89A-9A6AFE5A1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D4D1-A730-4436-AAB5-9D6A2DD9E2E5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C8B84E-8B02-10C4-1D39-D8E05462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63C18F-8D6E-2C90-CFC6-6F49DBF8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E590-9AAA-43F9-A19C-35A3165042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322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19B70-4134-4B60-3BA3-A546EE2CF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64FE42-87D6-460C-B743-FD805C7EC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885B18-78E4-05E0-DB3B-8DDEA90B5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D4D1-A730-4436-AAB5-9D6A2DD9E2E5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8A2208-3485-7398-36E7-B075D24A0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B9520C-840F-2652-F8E6-DEFC7B8E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E590-9AAA-43F9-A19C-35A3165042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037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C6A98-995E-75AF-3D34-CEC12BC5E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B54117-205C-CF8A-2428-09AFE380D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D020C5-1000-09EF-C190-CEBEFCFF6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D4D1-A730-4436-AAB5-9D6A2DD9E2E5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969F0C-E6ED-8612-08CE-81A677DE5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3F05BE-148B-37F6-9738-D5CC3C73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E590-9AAA-43F9-A19C-35A3165042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654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766B8F-4618-EEC0-1A29-654A317D4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130118-5C56-84FD-DA1B-CC9BD40362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78D1F8-5BCD-079E-000C-5B70ABBB3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454835-6DA5-0E86-16BD-9EF1CDBC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D4D1-A730-4436-AAB5-9D6A2DD9E2E5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DB606A-C8A3-D7F8-2D3F-0280375AC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9D660B-8D6D-C622-A72B-1CE8524A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E590-9AAA-43F9-A19C-35A3165042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83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DCA977-177C-9420-0110-68E87D12A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AAC8CD-E411-1E15-393A-9129B2513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5D4D47-C73C-33DA-1D7B-07972CDD7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AFA390-4990-8700-B987-21E355C2D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D39088-8E4C-234F-CAEA-6FE192D03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22788F-90D7-D529-7BCD-A630569EC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D4D1-A730-4436-AAB5-9D6A2DD9E2E5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A56973-CB0C-9324-012C-2130231C5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05B182A-FDBA-7401-03BD-B6216B18F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E590-9AAA-43F9-A19C-35A3165042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750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0D6BA-BCCF-3CAC-ABFB-DEA1E438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A7D556-3F8E-FDFD-63C1-3568023B4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D4D1-A730-4436-AAB5-9D6A2DD9E2E5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E399BF-B3C4-A52C-8379-56BFFE86A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7F1FED-A84C-7059-05DD-E54CF077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E590-9AAA-43F9-A19C-35A3165042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47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A8FAAD-0BDC-DEAD-20BB-972E24A24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D4D1-A730-4436-AAB5-9D6A2DD9E2E5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BA1213-385C-730A-57CE-2D3C67DB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EC738D-4686-AA21-DC05-D2704FD2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E590-9AAA-43F9-A19C-35A3165042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22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45C03-F6B5-B2D1-1355-A123E1EFB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1F8969-E31E-87E5-615D-6049F2B22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A9D12F-0B2E-0DF8-6A87-BE621EEE6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844F6A-A232-5A78-4190-04F89750C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D4D1-A730-4436-AAB5-9D6A2DD9E2E5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7D69F9-AD58-D36D-2277-BCCF71BC4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D85550-B399-9B54-82DF-0BD1383E5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E590-9AAA-43F9-A19C-35A3165042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943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815D3C-B6A8-ACDD-AAD0-A91EE6EE9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018127-5115-949F-B858-A9A9F82E5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150CA9-E80D-6999-0D09-F405BDAC8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ECB6F5-D7D6-9639-1744-52091B7E7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D4D1-A730-4436-AAB5-9D6A2DD9E2E5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A146E9-2DB5-B3B2-43F3-EE28419A8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D576D5-3BF8-0F0B-7031-0534BFAF4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E590-9AAA-43F9-A19C-35A3165042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409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915E0-C62C-302A-1DB1-43682A90E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71D2CC-3F12-F91C-9E03-0B77CC8CF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80789-03E5-F9B2-E43C-6FEF5E97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D4D1-A730-4436-AAB5-9D6A2DD9E2E5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68A98F-4583-4A33-36AA-87365394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71394A-60FC-4E23-0702-D8BA1818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E590-9AAA-43F9-A19C-35A3165042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87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C527CD-54EB-CC62-E226-2F618AA856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FEC630-ABAC-0204-944A-9D06B3F68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B0C702-50A0-DE95-7577-4FED3C9A7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D4D1-A730-4436-AAB5-9D6A2DD9E2E5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A346F6-44DC-D31D-F2FF-B47A3A78F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15D1D1-3C01-0344-A2D3-5908654B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E590-9AAA-43F9-A19C-35A3165042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91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E858E4D-DEFF-F8C6-0B3A-73E62ADE4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24407D-E278-AA07-A2D7-2126A7BE5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B7416D-B2B2-06AE-1B80-5CF53E544B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4D4D1-A730-4436-AAB5-9D6A2DD9E2E5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8BF5B0-29A2-154A-C0EC-C022875AB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C24D7D-6FB9-1A6E-A403-A0C85D507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4E590-9AAA-43F9-A19C-35A3165042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27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19F95-8475-58C6-61AD-A0ED1BAE0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1790"/>
            <a:ext cx="9144000" cy="2988297"/>
          </a:xfrm>
        </p:spPr>
        <p:txBody>
          <a:bodyPr>
            <a:normAutofit/>
          </a:bodyPr>
          <a:lstStyle/>
          <a:p>
            <a:r>
              <a:rPr lang="en-US" altLang="zh-CN" sz="15600" dirty="0"/>
              <a:t>DPO</a:t>
            </a:r>
            <a:br>
              <a:rPr lang="en-US" altLang="zh-CN" sz="12000" dirty="0"/>
            </a:br>
            <a:r>
              <a:rPr lang="en-US" altLang="zh-CN" sz="3100" dirty="0"/>
              <a:t>Direct Preference Optimization</a:t>
            </a:r>
            <a:endParaRPr lang="zh-CN" altLang="en-US" sz="44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D83133-5500-7D86-5ECA-1B4325979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9706"/>
            <a:ext cx="9144000" cy="648093"/>
          </a:xfrm>
        </p:spPr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</p:spTree>
    <p:extLst>
      <p:ext uri="{BB962C8B-B14F-4D97-AF65-F5344CB8AC3E}">
        <p14:creationId xmlns:p14="http://schemas.microsoft.com/office/powerpoint/2010/main" val="138243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5C5BA-8FAD-175E-94BF-1EDA20108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05636EB-89D4-09DF-A3F6-81CB4D2171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RLHF</a:t>
                </a:r>
                <a:r>
                  <a:rPr lang="zh-CN" altLang="en-US" dirty="0"/>
                  <a:t>目标函数最优解的推导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den>
                            </m:f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r>
                  <a:rPr lang="en-US" altLang="zh-CN" dirty="0"/>
                  <a:t>DPO loss</a:t>
                </a:r>
                <a:r>
                  <a:rPr lang="zh-CN" altLang="en-US" dirty="0"/>
                  <a:t>函数</a:t>
                </a:r>
                <a:endParaRPr lang="en-US" altLang="zh-CN" dirty="0"/>
              </a:p>
              <a:p>
                <a:r>
                  <a:rPr lang="en-US" altLang="zh-CN" dirty="0"/>
                  <a:t>DPO </a:t>
                </a:r>
                <a:r>
                  <a:rPr lang="zh-CN" altLang="en-US" dirty="0"/>
                  <a:t>如何更新</a:t>
                </a:r>
                <a:endParaRPr lang="en-US" altLang="zh-CN" dirty="0"/>
              </a:p>
              <a:p>
                <a:r>
                  <a:rPr lang="en-US" altLang="zh-CN" dirty="0"/>
                  <a:t>DPO </a:t>
                </a:r>
                <a:r>
                  <a:rPr lang="zh-CN" altLang="en-US" dirty="0"/>
                  <a:t>训练时的监控量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05636EB-89D4-09DF-A3F6-81CB4D2171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C629854-547E-E8A5-4AFB-CA5E021BEF58}"/>
              </a:ext>
            </a:extLst>
          </p:cNvPr>
          <p:cNvSpPr txBox="1"/>
          <p:nvPr/>
        </p:nvSpPr>
        <p:spPr>
          <a:xfrm>
            <a:off x="9045805" y="217695"/>
            <a:ext cx="314619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感谢</a:t>
            </a:r>
            <a:endParaRPr lang="en-US" altLang="zh-CN" sz="2400" dirty="0"/>
          </a:p>
          <a:p>
            <a:r>
              <a:rPr lang="zh-CN" altLang="en-US" sz="2800" b="1" dirty="0"/>
              <a:t>宽人克己是謂上策</a:t>
            </a:r>
          </a:p>
          <a:p>
            <a:r>
              <a:rPr lang="zh-CN" altLang="en-US" sz="2800" b="1" dirty="0"/>
              <a:t>阿萨李逍遥张小凡</a:t>
            </a:r>
          </a:p>
          <a:p>
            <a:r>
              <a:rPr lang="zh-CN" altLang="en-US" sz="2800" b="1" dirty="0"/>
              <a:t>蕾西亚万岁啊我透</a:t>
            </a:r>
          </a:p>
          <a:p>
            <a:r>
              <a:rPr lang="en-US" altLang="zh-CN" sz="2800" b="1" dirty="0" err="1"/>
              <a:t>bcdfgh</a:t>
            </a:r>
            <a:endParaRPr lang="en-US" altLang="zh-CN" sz="2800" b="1" dirty="0"/>
          </a:p>
          <a:p>
            <a:r>
              <a:rPr lang="zh-CN" altLang="en-US" sz="2800" b="1" dirty="0"/>
              <a:t>居居熊哒</a:t>
            </a:r>
            <a:endParaRPr lang="en-US" altLang="zh-CN" sz="2800" b="1" dirty="0"/>
          </a:p>
          <a:p>
            <a:r>
              <a:rPr lang="en-US" altLang="zh-CN" sz="2800" b="1" dirty="0"/>
              <a:t>JasonCZH4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668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2A6C9C-7A8B-07D1-2E4B-AFBA8487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RLHF (InstructGPT 2022.03)</a:t>
            </a:r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FE730B63-15A3-2631-0BB6-EB803D89FB8F}"/>
              </a:ext>
            </a:extLst>
          </p:cNvPr>
          <p:cNvPicPr>
            <a:picLocks/>
          </p:cNvPicPr>
          <p:nvPr/>
        </p:nvPicPr>
        <p:blipFill>
          <a:blip r:embed="rId2"/>
          <a:srcRect t="2545" b="2043"/>
          <a:stretch>
            <a:fillRect/>
          </a:stretch>
        </p:blipFill>
        <p:spPr>
          <a:xfrm>
            <a:off x="419100" y="1991690"/>
            <a:ext cx="11353800" cy="368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8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D188AF98-1FDF-3DDC-FB99-736CF0328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55" y="0"/>
            <a:ext cx="11876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51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F9D206E9-8079-8EBE-E234-D54319325CC9}"/>
              </a:ext>
            </a:extLst>
          </p:cNvPr>
          <p:cNvPicPr>
            <a:picLocks/>
          </p:cNvPicPr>
          <p:nvPr/>
        </p:nvPicPr>
        <p:blipFill>
          <a:blip r:embed="rId2"/>
          <a:srcRect t="2306"/>
          <a:stretch>
            <a:fillRect/>
          </a:stretch>
        </p:blipFill>
        <p:spPr>
          <a:xfrm>
            <a:off x="0" y="517687"/>
            <a:ext cx="12192000" cy="582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9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AD9AA-2ACF-BEC0-F1AA-5525AED9B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549C82E-0859-CED7-85D6-10EAE221CF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3"/>
                <a:ext cx="11353800" cy="503237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𝔻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limLow>
                          <m:limLow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∼</m:t>
                                    </m:r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𝔻</m:t>
                                    </m:r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∼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groupChr>
                          </m:e>
                          <m:lim>
                            <m:r>
                              <m:rPr>
                                <m:nor/>
                              </m:rP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第一部分</m:t>
                            </m:r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：</m:t>
                            </m:r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奖励</m:t>
                            </m:r>
                          </m:lim>
                        </m:limLow>
                      </m:e>
                    </m:func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</m:t>
                    </m:r>
                    <m:limLow>
                      <m:limLow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𝔻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𝕂𝕃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m:rPr>
                                    <m:lit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ref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zh-CN" altLang="en-US" i="0" dirty="0">
                            <a:latin typeface="Cambria Math" panose="02040503050406030204" pitchFamily="18" charset="0"/>
                          </a:rPr>
                          <m:t>第二部分：约束</m:t>
                        </m:r>
                      </m:lim>
                    </m:limLow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r>
                  <a:rPr lang="en-US" altLang="zh-CN" dirty="0"/>
                  <a:t>DPO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建立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了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从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人类偏好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到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策略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映射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无需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再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训练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奖励模型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𝔻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𝕂𝕃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lit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是有</a:t>
                </a:r>
                <a14:m>
                  <m:oMath xmlns:m="http://schemas.openxmlformats.org/officeDocument/2006/math">
                    <m:r>
                      <a:rPr lang="zh-CN" altLang="en-US" b="1" i="0" dirty="0" smtClean="0">
                        <a:latin typeface="Cambria Math" panose="02040503050406030204" pitchFamily="18" charset="0"/>
                      </a:rPr>
                      <m:t>最优</m:t>
                    </m:r>
                    <m:r>
                      <a:rPr lang="zh-CN" altLang="en-US" b="1" i="0">
                        <a:latin typeface="Cambria Math" panose="02040503050406030204" pitchFamily="18" charset="0"/>
                      </a:rPr>
                      <m:t>解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/>
                  <a:t>接下来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我们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求出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这个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最优解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549C82E-0859-CED7-85D6-10EAE221CF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3"/>
                <a:ext cx="11353800" cy="5032377"/>
              </a:xfrm>
              <a:blipFill>
                <a:blip r:embed="rId2"/>
                <a:stretch>
                  <a:fillRect l="-9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2717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D40C011-7AE6-6B43-1FE0-CC75F89F46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88157"/>
                <a:ext cx="11353800" cy="616984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KL</a:t>
                </a:r>
                <a:r>
                  <a:rPr lang="zh-CN" altLang="en-US" dirty="0"/>
                  <a:t>散度：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KL</m:t>
                        </m:r>
                      </m:sub>
                    </m:sSub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lit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log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𝕂𝕃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lit/>
                          </m:rP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 err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lang="en-US" altLang="zh-CN" i="1" dirty="0" err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CN" i="0" dirty="0" smtClean="0">
                                        <a:latin typeface="Cambria Math" panose="02040503050406030204" pitchFamily="18" charset="0"/>
                                      </a:rPr>
                                      <m:t>ref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 err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lang="en-US" altLang="zh-CN" i="1" dirty="0" err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func>
                      </m:e>
                    </m:d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𝔻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𝔻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𝕂𝕃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lit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𝔻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i="0" dirty="0">
                              <a:latin typeface="Cambria Math" panose="02040503050406030204" pitchFamily="18" charset="0"/>
                            </a:rPr>
                            <m:t>𝕂𝕃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i="1" dirty="0">
                    <a:latin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𝔻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𝛽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ref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𝔻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log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ref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		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D40C011-7AE6-6B43-1FE0-CC75F89F46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88157"/>
                <a:ext cx="11353800" cy="6169844"/>
              </a:xfrm>
              <a:blipFill>
                <a:blip r:embed="rId2"/>
                <a:stretch>
                  <a:fillRect l="-9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201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DFF97D53-708F-1D61-0CCC-26692046E5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3992" y="277885"/>
                <a:ext cx="11814313" cy="6580115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提取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：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𝔻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den>
                                </m:f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CN" i="0" dirty="0">
                                            <a:latin typeface="Cambria Math" panose="02040503050406030204" pitchFamily="18" charset="0"/>
                                          </a:rPr>
                                          <m:t>ref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即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𝔻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ref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den>
                            </m:f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 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den>
                                </m:f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den>
                                </m:f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func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ref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func>
                              <m:func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den>
                                    </m:f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d>
                                      <m:d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lim>
                    </m:limLow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𝔻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sub>
                        </m:sSub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i="0" dirty="0">
                                                <a:latin typeface="Cambria Math" panose="02040503050406030204" pitchFamily="18" charset="0"/>
                                              </a:rPr>
                                              <m:t>ref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  <m:func>
                                          <m:func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i="0" dirty="0">
                                                <a:latin typeface="Cambria Math" panose="02040503050406030204" pitchFamily="18" charset="0"/>
                                              </a:rPr>
                                              <m:t>exp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altLang="zh-CN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altLang="zh-CN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altLang="zh-CN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US" altLang="zh-CN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𝛽</m:t>
                                                    </m:r>
                                                  </m:den>
                                                </m:f>
                                                <m:r>
                                                  <a:rPr lang="en-US" altLang="zh-CN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  <m:d>
                                                  <m:dPr>
                                                    <m:ctrlPr>
                                                      <a:rPr lang="en-US" altLang="zh-CN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  <m:r>
                                                      <a:rPr lang="en-US" altLang="zh-CN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,</m:t>
                                                    </m:r>
                                                    <m:r>
                                                      <a:rPr lang="en-US" altLang="zh-CN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</m:d>
                                              </m:e>
                                            </m:d>
                                          </m:e>
                                        </m:func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den>
                            </m:f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不再满足对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求和为</a:t>
                </a:r>
                <a:r>
                  <a:rPr lang="en-US" altLang="zh-CN" dirty="0"/>
                  <a:t>1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不是一个概率分布</a:t>
                </a:r>
                <a:endParaRPr lang="en-US" altLang="zh-CN" dirty="0"/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DFF97D53-708F-1D61-0CCC-26692046E5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3992" y="277885"/>
                <a:ext cx="11814313" cy="6580115"/>
              </a:xfrm>
              <a:blipFill>
                <a:blip r:embed="rId2"/>
                <a:stretch>
                  <a:fillRect l="-1084" b="-19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47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B8202B4-03CA-FEC5-C596-15B4133255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0383"/>
                <a:ext cx="10515600" cy="6617617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≔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den>
                            </m:f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不依赖于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，也不依赖于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≔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den>
                            </m:f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̃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acc>
                          <m:accPr>
                            <m:chr m:val="̃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1" dirty="0" smtClean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我们的优化目标实际上变成了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𝕂𝕃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m:rPr>
                                <m:lit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最优解就是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den>
                            </m:f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终于</a:t>
                </a:r>
                <a:r>
                  <a:rPr lang="en-US" altLang="zh-CN" dirty="0"/>
                  <a:t>!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B8202B4-03CA-FEC5-C596-15B4133255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0383"/>
                <a:ext cx="10515600" cy="6617617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88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AC8A5BD-BFB0-7906-0ECF-4C9D8A5A956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zh-CN" altLang="en-US" dirty="0"/>
                  <a:t>我们无法算出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den>
                            </m:f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AC8A5BD-BFB0-7906-0ECF-4C9D8A5A95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36C68B-96E6-1FEB-0D71-94BDFDD25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032376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算不出来，那就想办法消掉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den>
                            </m:f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d>
                                  <m:d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ref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i="1" dirty="0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den>
                                    </m:f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d>
                                      <m:dPr>
                                        <m:ctrlPr>
                                          <a:rPr lang="en-US" altLang="zh-CN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i="1" dirty="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i="1" dirty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log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0" dirty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0" dirty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unc>
                            <m:func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den>
                                  </m:f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36C68B-96E6-1FEB-0D71-94BDFDD25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032376"/>
              </a:xfrm>
              <a:blipFill>
                <a:blip r:embed="rId3"/>
                <a:stretch>
                  <a:fillRect l="-1043" t="-20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552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8EFD0D-9909-07D2-F640-152648E426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3313"/>
                <a:ext cx="10515600" cy="6391374"/>
              </a:xfrm>
            </p:spPr>
            <p:txBody>
              <a:bodyPr/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1" dirty="0" smtClean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m:rPr>
                        <m:sty m:val="p"/>
                      </m:rPr>
                      <a:rPr lang="en-US" altLang="zh-CN" b="0" i="1" dirty="0" smtClean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∝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sepChr m:val="∣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CN" dirty="0"/>
                  <a:t> 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:r>
                  <a:rPr lang="zh-CN" altLang="en-US" dirty="0"/>
                  <a:t>从概率反推出奖励，这是符合直觉的</a:t>
                </a:r>
                <a:endParaRPr lang="en-US" altLang="zh-CN" dirty="0"/>
              </a:p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1" dirty="0" smtClean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sepChr m:val="∣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1" dirty="0" smtClean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sepChr m:val="∣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sepChr m:val="∣"/>
                        <m:ctrlPr>
                          <a:rPr lang="es-E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≻</m:t>
                        </m:r>
                        <m:sSub>
                          <m:sSubPr>
                            <m:ctrlP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ES" altLang="zh-CN" i="0" dirty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s-E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altLang="zh-CN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ES" altLang="zh-CN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altLang="zh-CN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altLang="zh-CN" i="1" dirty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s-ES" altLang="zh-CN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ES" altLang="zh-CN" i="0" dirty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s-E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altLang="zh-CN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ES" altLang="zh-CN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altLang="zh-CN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altLang="zh-CN" i="1" dirty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s-ES" altLang="zh-CN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ES" altLang="zh-CN" i="0" dirty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s-E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altLang="zh-CN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ES" altLang="zh-CN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altLang="zh-CN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altLang="zh-CN" i="1" dirty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s-ES" altLang="zh-CN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p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p>
                      </m:den>
                    </m:f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p>
                      </m:den>
                    </m:f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CN" dirty="0"/>
                  <a:t>    </a:t>
                </a:r>
                <a14:m>
                  <m:oMath xmlns:m="http://schemas.openxmlformats.org/officeDocument/2006/math">
                    <m:r>
                      <a:rPr lang="de-DE" altLang="zh-CN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de-DE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altLang="zh-CN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de-DE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altLang="zh-CN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altLang="zh-CN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altLang="zh-CN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sepChr m:val="∣"/>
                        <m:ctrlPr>
                          <a:rPr lang="es-E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≻</m:t>
                        </m:r>
                        <m:sSub>
                          <m:sSubPr>
                            <m:ctrlP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s-E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8EFD0D-9909-07D2-F640-152648E426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3313"/>
                <a:ext cx="10515600" cy="6391374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02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9AC95-0970-CC04-081B-53F3714D4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继续推导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30B9D5-1DC3-ECF2-ED42-EAE5F40346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479"/>
                <a:ext cx="11353800" cy="5013521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sepChr m:val="∣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≻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log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sepChr m:val="∣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ref</m:t>
                                </m:r>
                              </m:sub>
                            </m:sSub>
                            <m:d>
                              <m:dPr>
                                <m:sepChr m:val="∣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log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sepChr m:val="∣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ref</m:t>
                                </m:r>
                              </m:sub>
                            </m:sSub>
                            <m:d>
                              <m:dPr>
                                <m:sepChr m:val="∣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人类偏好变成了一个只依赖于策略相对参考策略的</a:t>
                </a:r>
                <a:r>
                  <a:rPr lang="en-US" altLang="zh-CN" dirty="0"/>
                  <a:t>log</a:t>
                </a:r>
                <a:r>
                  <a:rPr lang="zh-CN" altLang="en-US" dirty="0"/>
                  <a:t>概率比差</a:t>
                </a:r>
                <a:endParaRPr lang="en-US" altLang="zh-CN" dirty="0"/>
              </a:p>
              <a:p>
                <a:r>
                  <a:rPr lang="zh-CN" altLang="en-US" dirty="0"/>
                  <a:t>我们把最优策略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换成可训练的策略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≻</m:t>
                        </m:r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log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sepChr m:val="∣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ref</m:t>
                                </m:r>
                              </m:sub>
                            </m:sSub>
                            <m:d>
                              <m:dPr>
                                <m:sepChr m:val="∣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log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sepChr m:val="∣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ref</m:t>
                                </m:r>
                              </m:sub>
                            </m:sSub>
                            <m:d>
                              <m:dPr>
                                <m:sepChr m:val="∣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𝔻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f>
                                      <m:f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sepChr m:val="∣"/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i="1" dirty="0" err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i="1" dirty="0" err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i="1" dirty="0" err="1">
                                                    <a:latin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i="0" dirty="0">
                                                <a:latin typeface="Cambria Math" panose="02040503050406030204" pitchFamily="18" charset="0"/>
                                              </a:rPr>
                                              <m:t>ref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sepChr m:val="∣"/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i="1" dirty="0" err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i="1" dirty="0" err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i="1" dirty="0" err="1">
                                                    <a:latin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den>
                                    </m:f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f>
                                      <m:f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sepChr m:val="∣"/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i="1" dirty="0" err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i="1" dirty="0" err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i="1" dirty="0" err="1"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i="0" dirty="0">
                                                <a:latin typeface="Cambria Math" panose="02040503050406030204" pitchFamily="18" charset="0"/>
                                              </a:rPr>
                                              <m:t>ref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sepChr m:val="∣"/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i="1" dirty="0" err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i="1" dirty="0" err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i="1" dirty="0" err="1"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𝒟𝒫𝒪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𝔻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sepChr m:val="∣"/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CN" i="0" dirty="0">
                                            <a:latin typeface="Cambria Math" panose="02040503050406030204" pitchFamily="18" charset="0"/>
                                          </a:rPr>
                                          <m:t>ref</m:t>
                                        </m:r>
                                      </m:sub>
                                    </m:sSub>
                                    <m:d>
                                      <m:dPr>
                                        <m:sepChr m:val="∣"/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sepChr m:val="∣"/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CN" i="0" dirty="0">
                                            <a:latin typeface="Cambria Math" panose="02040503050406030204" pitchFamily="18" charset="0"/>
                                          </a:rPr>
                                          <m:t>ref</m:t>
                                        </m:r>
                                      </m:sub>
                                    </m:sSub>
                                    <m:d>
                                      <m:dPr>
                                        <m:sepChr m:val="∣"/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30B9D5-1DC3-ECF2-ED42-EAE5F40346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479"/>
                <a:ext cx="11353800" cy="5013521"/>
              </a:xfrm>
              <a:blipFill>
                <a:blip r:embed="rId2"/>
                <a:stretch>
                  <a:fillRect l="-9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50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C4F68-C0AC-AF18-AADD-CC4DDEDA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DPO</a:t>
            </a:r>
            <a:r>
              <a:rPr lang="zh-CN" altLang="en-US" dirty="0"/>
              <a:t>如何更新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8A3044-C38F-0BBA-6A6D-2548FF7B58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𝒟𝒫𝒪</m:t>
                        </m:r>
                      </m:sub>
                    </m:sSub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ref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ref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log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ref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log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ref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loss</a:t>
                </a:r>
                <a:r>
                  <a:rPr lang="zh-CN" altLang="en-US" dirty="0"/>
                  <a:t>简化为了 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dirty="0"/>
                  <a:t>求梯度：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链式法则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ℒ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8A3044-C38F-0BBA-6A6D-2548FF7B58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210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63D52A9-3DC7-70F0-0CAA-6AE1FF654EB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ℒ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63D52A9-3DC7-70F0-0CAA-6AE1FF654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F557281-1DDC-7C01-BB39-00D02CA3C5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800" y="1690688"/>
                <a:ext cx="11760200" cy="517461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第一项：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s-E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ES" altLang="zh-CN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s-E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zh-CN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s-E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altLang="zh-CN" i="1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s-E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zh-CN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d>
                      <m:dPr>
                        <m:ctrlPr>
                          <a:rPr lang="es-E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zh-CN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s-ES" altLang="zh-CN" i="1" dirty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s-E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altLang="zh-CN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d>
                    <m:r>
                      <a:rPr lang="es-ES" altLang="zh-CN" i="1" dirty="0">
                        <a:latin typeface="Cambria Math" panose="02040503050406030204" pitchFamily="18" charset="0"/>
                      </a:rPr>
                      <m:t>, 1−</m:t>
                    </m:r>
                    <m:r>
                      <a:rPr lang="es-ES" altLang="zh-CN" i="1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s-E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zh-CN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s-E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altLang="zh-CN" i="1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s-E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altLang="zh-CN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altLang="zh-CN" dirty="0"/>
                  <a:t> </a:t>
                </a:r>
                <a14:m>
                  <m:oMath xmlns:m="http://schemas.openxmlformats.org/officeDocument/2006/math">
                    <m:r>
                      <a:rPr lang="es-ES" altLang="zh-CN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altLang="zh-CN" i="1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s-E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altLang="zh-CN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第二项：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ref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ref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 dirty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400" i="0" dirty="0">
                              <a:latin typeface="Cambria Math" panose="02040503050406030204" pitchFamily="18" charset="0"/>
                            </a:rPr>
                            <m:t>𝒟𝒫𝒪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sz="2400" i="0" dirty="0"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 err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 dirty="0" err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 err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 dirty="0" err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𝔻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400" i="1" dirty="0" err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 dirty="0" err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 dirty="0" err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400" i="1" dirty="0" err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 dirty="0" err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 dirty="0" err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m:rPr>
                                  <m:nor/>
                                </m:rPr>
                                <a:rPr lang="zh-CN" altLang="en-US" sz="2400" i="0" dirty="0">
                                  <a:latin typeface="Cambria Math" panose="02040503050406030204" pitchFamily="18" charset="0"/>
                                </a:rPr>
                                <m:t>当奖励估计错误时权重更高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limLow>
                                <m:limLow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400" i="0" dirty="0">
                                              <a:latin typeface="Cambria Math" panose="02040503050406030204" pitchFamily="18" charset="0"/>
                                            </a:rPr>
                                            <m:t>∇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func>
                                        <m:func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400" i="0" dirty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fName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  <m:d>
                                            <m:dPr>
                                              <m:sepChr m:val="∣"/>
                                              <m:ctrlP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2400" i="1" dirty="0" err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400" i="1" dirty="0" err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400" i="1" dirty="0" err="1">
                                                      <a:latin typeface="Cambria Math" panose="02040503050406030204" pitchFamily="18" charset="0"/>
                                                    </a:rPr>
                                                    <m:t>𝑤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e>
                                  </m:groupCh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zh-CN" altLang="en-US" sz="2400" i="0" dirty="0">
                                      <a:latin typeface="Cambria Math" panose="02040503050406030204" pitchFamily="18" charset="0"/>
                                    </a:rPr>
                                    <m:t>增加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sz="2400" i="0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2400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dirty="0" err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 err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altLang="zh-CN" sz="2400" i="0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sz="2400" i="0" dirty="0">
                                      <a:latin typeface="Cambria Math" panose="02040503050406030204" pitchFamily="18" charset="0"/>
                                    </a:rPr>
                                    <m:t>的似然</m:t>
                                  </m:r>
                                </m:lim>
                              </m:limLow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limLow>
                                <m:limLow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400" i="0" dirty="0">
                                              <a:latin typeface="Cambria Math" panose="02040503050406030204" pitchFamily="18" charset="0"/>
                                            </a:rPr>
                                            <m:t>∇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func>
                                        <m:func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400" i="0" dirty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fName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  <m:d>
                                            <m:dPr>
                                              <m:sepChr m:val="∣"/>
                                              <m:ctrlP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2400" i="1" dirty="0" err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400" i="1" dirty="0" err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400" i="1" dirty="0" err="1">
                                                      <a:latin typeface="Cambria Math" panose="02040503050406030204" pitchFamily="18" charset="0"/>
                                                    </a:rPr>
                                                    <m:t>𝑙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e>
                                  </m:groupCh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zh-CN" altLang="en-US" sz="2400" i="0" dirty="0">
                                      <a:latin typeface="Cambria Math" panose="02040503050406030204" pitchFamily="18" charset="0"/>
                                    </a:rPr>
                                    <m:t>降低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sz="2400" i="0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2400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dirty="0" err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 err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altLang="zh-CN" sz="2400" i="0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sz="2400" i="0" dirty="0">
                                      <a:latin typeface="Cambria Math" panose="02040503050406030204" pitchFamily="18" charset="0"/>
                                    </a:rPr>
                                    <m:t>的似然</m:t>
                                  </m:r>
                                </m:lim>
                              </m:limLow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F557281-1DDC-7C01-BB39-00D02CA3C5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800" y="1690688"/>
                <a:ext cx="11760200" cy="5174615"/>
              </a:xfrm>
              <a:blipFill>
                <a:blip r:embed="rId3"/>
                <a:stretch>
                  <a:fillRect l="-1089" t="-9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57EBC54D-F3B6-C1A4-42BE-78F944FA0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8413" y="933253"/>
            <a:ext cx="4165731" cy="270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6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BA68F-1192-8446-449C-B9C8D4166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监控量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F80876E-393B-27D5-1D1C-90B96A7EE4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Reward Accuracy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𝐴𝑐𝑐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d>
                          <m:d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altLang="zh-CN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pt-BR" altLang="zh-CN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p>
                              <m:sSupPr>
                                <m:ctrlPr>
                                  <a:rPr lang="pt-BR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altLang="zh-CN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pt-BR" altLang="zh-CN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Reward Margin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altLang="zh-CN" i="0" dirty="0" smtClean="0">
                        <a:latin typeface="Cambria Math" panose="02040503050406030204" pitchFamily="18" charset="0"/>
                      </a:rPr>
                      <m:t>Margin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Rewards Chosen &amp; Rewards Rejected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 	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F80876E-393B-27D5-1D1C-90B96A7EE4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678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38DC90-473F-0DD6-8CCD-EA931A39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快速上手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F84140-C74B-C8B7-CBEF-5050A093A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模型：</a:t>
            </a:r>
            <a:r>
              <a:rPr lang="en-US" altLang="zh-CN" dirty="0"/>
              <a:t> Qwen/Qwen2-0.5B-Instruct</a:t>
            </a:r>
          </a:p>
          <a:p>
            <a:r>
              <a:rPr lang="zh-CN" altLang="en-US" dirty="0"/>
              <a:t>数据集：</a:t>
            </a:r>
            <a:r>
              <a:rPr lang="en-US" altLang="zh-CN" dirty="0"/>
              <a:t> </a:t>
            </a:r>
            <a:r>
              <a:rPr lang="en-US" altLang="zh-CN" dirty="0" err="1"/>
              <a:t>openbmb</a:t>
            </a:r>
            <a:r>
              <a:rPr lang="en-US" altLang="zh-CN" dirty="0"/>
              <a:t>/</a:t>
            </a:r>
            <a:r>
              <a:rPr lang="en-US" altLang="zh-CN" dirty="0" err="1"/>
              <a:t>UltraFeedback</a:t>
            </a:r>
            <a:endParaRPr lang="en-US" altLang="zh-CN" dirty="0"/>
          </a:p>
          <a:p>
            <a:r>
              <a:rPr lang="zh-CN" altLang="en-US" dirty="0"/>
              <a:t>教程：</a:t>
            </a:r>
            <a:r>
              <a:rPr lang="en-US" altLang="zh-CN" dirty="0"/>
              <a:t>https://huggingface.co/docs/trl/dpo_trainer</a:t>
            </a:r>
          </a:p>
        </p:txBody>
      </p:sp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43A57BE4-ED02-712F-D640-EE2BE66498C6}"/>
              </a:ext>
            </a:extLst>
          </p:cNvPr>
          <p:cNvPicPr>
            <a:picLocks/>
          </p:cNvPicPr>
          <p:nvPr/>
        </p:nvPicPr>
        <p:blipFill>
          <a:blip r:embed="rId2"/>
          <a:srcRect t="15273"/>
          <a:stretch>
            <a:fillRect/>
          </a:stretch>
        </p:blipFill>
        <p:spPr>
          <a:xfrm>
            <a:off x="459595" y="3429000"/>
            <a:ext cx="11110236" cy="326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31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A110580-C5E0-52BE-F5C2-32563DCD2B5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3" t="1957"/>
          <a:stretch>
            <a:fillRect/>
          </a:stretch>
        </p:blipFill>
        <p:spPr>
          <a:xfrm>
            <a:off x="0" y="712511"/>
            <a:ext cx="12192000" cy="614548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8DE055A-56C7-F9B5-E926-5FDFCC8C79CE}"/>
              </a:ext>
            </a:extLst>
          </p:cNvPr>
          <p:cNvSpPr txBox="1"/>
          <p:nvPr/>
        </p:nvSpPr>
        <p:spPr>
          <a:xfrm>
            <a:off x="162613" y="182979"/>
            <a:ext cx="8038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https://github.com/ZHAOoops/dpo-qwen2-0.5b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95108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3217</TotalTime>
  <Words>614</Words>
  <Application>Microsoft Office PowerPoint</Application>
  <PresentationFormat>宽屏</PresentationFormat>
  <Paragraphs>97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等线 Light</vt:lpstr>
      <vt:lpstr>Arial</vt:lpstr>
      <vt:lpstr>Cambria Math</vt:lpstr>
      <vt:lpstr>Office 主题​​</vt:lpstr>
      <vt:lpstr>DPO Direct Preference Optimization</vt:lpstr>
      <vt:lpstr>主要内容</vt:lpstr>
      <vt:lpstr>RLHF (InstructGPT 2022.03)</vt:lpstr>
      <vt:lpstr>PowerPoint 演示文稿</vt:lpstr>
      <vt:lpstr>PowerPoint 演示文稿</vt:lpstr>
      <vt:lpstr>目标函数</vt:lpstr>
      <vt:lpstr>PowerPoint 演示文稿</vt:lpstr>
      <vt:lpstr>PowerPoint 演示文稿</vt:lpstr>
      <vt:lpstr>PowerPoint 演示文稿</vt:lpstr>
      <vt:lpstr>我们无法算出∑_y▒〖π_"ref"  (y│x) 〗  exp⁡(1/β r(x,y))</vt:lpstr>
      <vt:lpstr>PowerPoint 演示文稿</vt:lpstr>
      <vt:lpstr>继续推导</vt:lpstr>
      <vt:lpstr>DPO如何更新</vt:lpstr>
      <vt:lpstr> ∇_θL=∂L/∂u⋅∇_θ u</vt:lpstr>
      <vt:lpstr>监控量</vt:lpstr>
      <vt:lpstr>快速上手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12</cp:revision>
  <dcterms:created xsi:type="dcterms:W3CDTF">2026-02-04T13:25:41Z</dcterms:created>
  <dcterms:modified xsi:type="dcterms:W3CDTF">2026-02-07T01:26:43Z</dcterms:modified>
</cp:coreProperties>
</file>