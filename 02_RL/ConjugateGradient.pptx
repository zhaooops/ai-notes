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73" r:id="rId14"/>
    <p:sldId id="268" r:id="rId15"/>
    <p:sldId id="272" r:id="rId16"/>
    <p:sldId id="271" r:id="rId17"/>
    <p:sldId id="269" r:id="rId18"/>
    <p:sldId id="270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157E9-C4A6-E28C-EFE3-10DD19113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91D3EF-CC0B-1B52-CA98-6D62F882F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FAF95-90E6-2316-3522-8CD71150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343D-4AD7-4FBA-8E9E-F114D137BCEC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B32D24-E8A3-31F5-0864-17939608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2DBD56-2FC8-EA0A-5B8C-61F2BB42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F3F6-B7E9-4204-BF04-6E27EEB49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43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8E6BF-ADC3-948A-9CAF-DD76041C0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FE420F-1964-9C8F-CCDF-63BE1D2C2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EE68FD-8E50-88CE-7EB7-9AE57F7D4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343D-4AD7-4FBA-8E9E-F114D137BCEC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64B565-8EB2-B378-9145-90079336F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9EDE63-6E22-B637-E325-92A0F2528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F3F6-B7E9-4204-BF04-6E27EEB49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26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AB1B6C-4A2C-8D12-6666-79363FA5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3DB26D-8DAF-21AD-6172-7EE04EA2A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395A5C-7FC3-3F05-AE33-545F4D069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343D-4AD7-4FBA-8E9E-F114D137BCEC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919D98-FC5D-B2D1-3D01-D39EB46D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82F500-AD71-7B51-C0D1-45716B384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F3F6-B7E9-4204-BF04-6E27EEB49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77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B77C7-DD80-9DD8-E6E7-AD833D15E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928BDB-EC72-D849-9574-75E497918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5A4C98-DD34-8437-28FD-5C0A51454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4C383C-65A6-5F03-59FB-75AD98AF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343D-4AD7-4FBA-8E9E-F114D137BCEC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34A2AB-1410-96CC-A015-1929DBB61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6B709D-CB30-B008-3904-C7F9DEE6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F3F6-B7E9-4204-BF04-6E27EEB49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44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08EA4-48F5-969F-CE06-DA0EAFD3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25CD86-EE72-2BA5-4D5E-4E42F687C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B5DFA6-C102-5340-3C51-558FD72FF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DDD676-1536-5991-A75C-5AC1F9AF7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A9562AB-DD15-753A-315A-89DB287BE4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6E0B0C-B29B-36AA-38FF-4BAD2ABE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343D-4AD7-4FBA-8E9E-F114D137BCEC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BE976B-D536-55C4-DA9F-B23C6341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1CC524-1033-E627-BA96-324A6EB2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F3F6-B7E9-4204-BF04-6E27EEB49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607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DA70F-2A79-8936-6FC3-E19F18B31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96D2DD-0ECB-D269-FFB1-DF024757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343D-4AD7-4FBA-8E9E-F114D137BCEC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53EA02-8071-CF14-CFAE-D583750F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01A747-F6B0-F498-D20B-852E13D3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F3F6-B7E9-4204-BF04-6E27EEB49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082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65831E-65BB-2C4E-B32F-9BB9C3E8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343D-4AD7-4FBA-8E9E-F114D137BCEC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33059D-4658-85E1-DF59-D24A9F109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17B286-08F4-272F-4030-D6F786FD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F3F6-B7E9-4204-BF04-6E27EEB49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705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64353D-BE8D-1074-E0C9-5325005B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293214-2492-7CBB-C46F-0B068664E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99FB15-27DE-8F4C-DFFB-71895501A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6E1ABC-2A7C-F015-5FD6-C04C17644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343D-4AD7-4FBA-8E9E-F114D137BCEC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B8C8C0-909E-5D95-95CA-A6C5E66B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43EF68-52A9-082A-C70D-BF81E487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F3F6-B7E9-4204-BF04-6E27EEB49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92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2F69E-D2B7-30D4-7817-98CC4B42F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6199CD-B30B-3D88-405F-3F35D4540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BB311C-8D3B-9524-8343-E8772B612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19F87C-9F06-9AD5-83F1-C70EC3FC9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343D-4AD7-4FBA-8E9E-F114D137BCEC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D872B1-7B79-9EB9-B3AB-A463DD898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CAC25F-B0C4-A2E2-E283-4DCF4151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F3F6-B7E9-4204-BF04-6E27EEB49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813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830E6C-D058-279B-EAAE-4A31CB95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B20A15-E146-3A8F-0044-6BC1580DA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63F27F-3AF5-0B56-B36B-18B59EA0C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343D-4AD7-4FBA-8E9E-F114D137BCEC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E53B2C-9D5B-7CC6-1610-5F1178B0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471285-E77F-A515-BC89-2B517EBF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F3F6-B7E9-4204-BF04-6E27EEB49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322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E7D499-65A7-689C-91DD-58E96BE2F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5CBE4D-B0BD-6CF6-6388-DA6128696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A63327-2521-2FA2-6846-6E9140CBE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343D-4AD7-4FBA-8E9E-F114D137BCEC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82DEDB-2D4F-81C0-6049-CF52C1C9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C8A7D2-411A-5BD6-EDFB-F86CCB1C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F3F6-B7E9-4204-BF04-6E27EEB49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9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86239F-7A47-6EAA-15F0-5908C89AA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C162F5-BBBD-F25C-256E-ADEF3FA64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B3081E-23F0-B570-AD8D-FA5D8E86F7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3343D-4AD7-4FBA-8E9E-F114D137BCEC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6331F3-145E-685B-7D00-096B79FCD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D84D5D-EA54-411D-0BCF-8BF154336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DF3F6-B7E9-4204-BF04-6E27EEB49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043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002F5-6FEF-BEE5-582C-C4AC1B775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7178"/>
            <a:ext cx="9144000" cy="3085757"/>
          </a:xfrm>
        </p:spPr>
        <p:txBody>
          <a:bodyPr/>
          <a:lstStyle/>
          <a:p>
            <a:r>
              <a:rPr lang="zh-CN" altLang="en-US" b="1" dirty="0"/>
              <a:t>共轭梯度法求解矩阵方程</a:t>
            </a:r>
            <a:br>
              <a:rPr lang="en-US" altLang="zh-CN" b="1" dirty="0"/>
            </a:br>
            <a:r>
              <a:rPr lang="en-US" altLang="zh-CN" b="1" dirty="0"/>
              <a:t>Fletcher-Reeves</a:t>
            </a:r>
            <a:r>
              <a:rPr lang="zh-CN" altLang="en-US" b="1" dirty="0"/>
              <a:t>方法</a:t>
            </a:r>
            <a:br>
              <a:rPr lang="en-US" altLang="zh-CN" b="1" dirty="0"/>
            </a:br>
            <a:r>
              <a:rPr lang="en-US" altLang="zh-CN" b="1" dirty="0"/>
              <a:t>Krylov</a:t>
            </a:r>
            <a:r>
              <a:rPr lang="zh-CN" altLang="en-US" b="1" dirty="0"/>
              <a:t>子空间上的迭代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28F9C8-0EC7-A798-8F29-11859AF10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32935"/>
            <a:ext cx="9144000" cy="1655762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6F55F4-CECA-CC17-8D55-6171B5D25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792"/>
            <a:ext cx="12192000" cy="125065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F2C52AD-A0C9-CE64-63AF-8E0094D58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041" y="5100986"/>
            <a:ext cx="1625918" cy="14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263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8D6CAC-DF11-192D-E984-FD681C7C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9C9A16-F28E-1C14-B4F6-9409DF857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57600"/>
          </a:xfrm>
        </p:spPr>
        <p:txBody>
          <a:bodyPr/>
          <a:lstStyle/>
          <a:p>
            <a:r>
              <a:rPr lang="zh-CN" altLang="en-US" dirty="0"/>
              <a:t>求解矩阵方程等价于最小化二次型函数</a:t>
            </a:r>
            <a:endParaRPr lang="en-US" altLang="zh-CN" dirty="0"/>
          </a:p>
          <a:p>
            <a:r>
              <a:rPr lang="en-US" altLang="zh-CN" dirty="0"/>
              <a:t>Krylov</a:t>
            </a:r>
            <a:r>
              <a:rPr lang="zh-CN" altLang="en-US" dirty="0"/>
              <a:t>子空间</a:t>
            </a:r>
            <a:endParaRPr lang="en-US" altLang="zh-CN" dirty="0"/>
          </a:p>
          <a:p>
            <a:r>
              <a:rPr lang="zh-CN" altLang="en-US" dirty="0"/>
              <a:t>为什么要把</a:t>
            </a:r>
            <a:r>
              <a:rPr lang="en-US" altLang="zh-CN" dirty="0"/>
              <a:t>Krylov</a:t>
            </a:r>
            <a:r>
              <a:rPr lang="zh-CN" altLang="en-US" dirty="0"/>
              <a:t>子空间作为解的搜索空间：合理性与必要性</a:t>
            </a:r>
            <a:endParaRPr lang="en-US" altLang="zh-CN" dirty="0"/>
          </a:p>
          <a:p>
            <a:r>
              <a:rPr lang="en-US" altLang="zh-CN" dirty="0"/>
              <a:t>H</a:t>
            </a:r>
            <a:r>
              <a:rPr lang="zh-CN" altLang="en-US" dirty="0"/>
              <a:t>内积与</a:t>
            </a:r>
            <a:r>
              <a:rPr lang="en-US" altLang="zh-CN" dirty="0"/>
              <a:t>H</a:t>
            </a:r>
            <a:r>
              <a:rPr lang="zh-CN" altLang="en-US" dirty="0"/>
              <a:t>共轭</a:t>
            </a:r>
            <a:endParaRPr lang="en-US" altLang="zh-CN" dirty="0"/>
          </a:p>
          <a:p>
            <a:r>
              <a:rPr lang="zh-CN" altLang="en-US" dirty="0"/>
              <a:t>一组两两</a:t>
            </a:r>
            <a:r>
              <a:rPr lang="en-US" altLang="zh-CN" dirty="0"/>
              <a:t>H</a:t>
            </a:r>
            <a:r>
              <a:rPr lang="zh-CN" altLang="en-US" dirty="0"/>
              <a:t>共轭的向量是线性无关的</a:t>
            </a:r>
            <a:endParaRPr lang="en-US" altLang="zh-CN" dirty="0"/>
          </a:p>
          <a:p>
            <a:r>
              <a:rPr lang="zh-CN" altLang="en-US" dirty="0"/>
              <a:t>为什么要用共轭梯度法解矩阵方程</a:t>
            </a:r>
            <a:endParaRPr lang="en-US" altLang="zh-CN" dirty="0"/>
          </a:p>
          <a:p>
            <a:r>
              <a:rPr lang="zh-CN" altLang="en-US" dirty="0"/>
              <a:t>步骤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初始化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迭代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终止条件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D2ACFE-4B7E-44B2-A0B6-FFD72E060968}"/>
              </a:ext>
            </a:extLst>
          </p:cNvPr>
          <p:cNvSpPr txBox="1"/>
          <p:nvPr/>
        </p:nvSpPr>
        <p:spPr>
          <a:xfrm>
            <a:off x="8031636" y="480767"/>
            <a:ext cx="34784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感谢粉丝大佬</a:t>
            </a:r>
            <a:endParaRPr lang="en-US" altLang="zh-CN" sz="2800" dirty="0"/>
          </a:p>
          <a:p>
            <a:r>
              <a:rPr lang="en-US" altLang="zh-CN" sz="2800" dirty="0"/>
              <a:t>s7win99</a:t>
            </a:r>
          </a:p>
          <a:p>
            <a:r>
              <a:rPr lang="zh-CN" altLang="en-US" sz="2800" dirty="0"/>
              <a:t>的充电支持</a:t>
            </a:r>
          </a:p>
        </p:txBody>
      </p:sp>
    </p:spTree>
    <p:extLst>
      <p:ext uri="{BB962C8B-B14F-4D97-AF65-F5344CB8AC3E}">
        <p14:creationId xmlns:p14="http://schemas.microsoft.com/office/powerpoint/2010/main" val="165962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7E8CE-060B-762A-D812-081AD2AD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求解</a:t>
            </a:r>
            <a:r>
              <a:rPr lang="en-US" altLang="zh-CN" dirty="0" err="1"/>
              <a:t>Hx</a:t>
            </a:r>
            <a:r>
              <a:rPr lang="en-US" altLang="zh-CN" dirty="0"/>
              <a:t>=g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3E3812-FF0F-981B-4772-60F6CD6276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19734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b="0" dirty="0">
                    <a:latin typeface="Cambria Math" panose="02040503050406030204" pitchFamily="18" charset="0"/>
                  </a:rPr>
                  <a:t>共轭梯度法一般用于对称正定的</a:t>
                </a:r>
                <a:r>
                  <a:rPr lang="en-US" altLang="zh-CN" b="0" dirty="0">
                    <a:latin typeface="Cambria Math" panose="02040503050406030204" pitchFamily="18" charset="0"/>
                  </a:rPr>
                  <a:t>H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×1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r>
                  <a:rPr lang="zh-CN" altLang="en-US" b="0" dirty="0"/>
                  <a:t>直接求的话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n</a:t>
                </a:r>
                <a:r>
                  <a:rPr lang="zh-CN" altLang="en-US" dirty="0"/>
                  <a:t>很大</a:t>
                </a:r>
                <a:r>
                  <a:rPr lang="en-US" altLang="zh-CN" dirty="0"/>
                  <a:t>	</a:t>
                </a:r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计算成本和存储成本很高</a:t>
                </a:r>
                <a:endParaRPr lang="en-US" altLang="zh-CN" b="0" dirty="0"/>
              </a:p>
              <a:p>
                <a:r>
                  <a:rPr lang="zh-CN" altLang="en-US" b="0" dirty="0"/>
                  <a:t>共轭梯度法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把计算量减少到了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与列向量的乘积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3E3812-FF0F-981B-4772-60F6CD6276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197344"/>
              </a:xfrm>
              <a:blipFill>
                <a:blip r:embed="rId2"/>
                <a:stretch>
                  <a:fillRect l="-1043" t="-22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618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D101406-64BC-FC42-B5D8-250131BCE36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求解</a:t>
                </a:r>
                <a:r>
                  <a:rPr lang="en-US" altLang="zh-CN" dirty="0" err="1"/>
                  <a:t>Hx</a:t>
                </a:r>
                <a:r>
                  <a:rPr lang="en-US" altLang="zh-CN" dirty="0"/>
                  <a:t>=g</a:t>
                </a:r>
                <a:r>
                  <a:rPr lang="zh-CN" altLang="en-US" dirty="0"/>
                  <a:t>等价于最小化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D101406-64BC-FC42-B5D8-250131BCE3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6D2533-82C0-4FB4-B76B-1519E2596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2565"/>
              </a:xfrm>
            </p:spPr>
            <p:txBody>
              <a:bodyPr/>
              <a:lstStyle/>
              <a:p>
                <a:r>
                  <a:rPr lang="zh-CN" altLang="en-US" dirty="0"/>
                  <a:t>由于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对称正定，其二次型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𝐻𝑥</m:t>
                    </m:r>
                  </m:oMath>
                </a14:m>
                <a:r>
                  <a:rPr lang="zh-CN" altLang="en-US" b="0" dirty="0"/>
                  <a:t>为凸函数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b="0" dirty="0"/>
                  <a:t>也是凸函数，存在最小值</a:t>
                </a:r>
                <a:endParaRPr lang="en-US" altLang="zh-CN" b="0" dirty="0"/>
              </a:p>
              <a:p>
                <a:r>
                  <a:rPr lang="zh-CN" altLang="en-US" dirty="0"/>
                  <a:t>最小化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需要求其梯度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梯度为</a:t>
                </a:r>
                <a:r>
                  <a:rPr lang="en-US" altLang="zh-CN" b="0" dirty="0"/>
                  <a:t>0</a:t>
                </a:r>
                <a:r>
                  <a:rPr lang="zh-CN" altLang="en-US" b="0" dirty="0"/>
                  <a:t>处为最小值点</a:t>
                </a:r>
                <a:endParaRPr lang="en-US" altLang="zh-CN" b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的梯度为</a:t>
                </a:r>
                <a:r>
                  <a:rPr lang="en-US" altLang="zh-CN" dirty="0" err="1"/>
                  <a:t>Hx</a:t>
                </a:r>
                <a:r>
                  <a:rPr lang="en-US" altLang="zh-CN" dirty="0"/>
                  <a:t>-g</a:t>
                </a:r>
              </a:p>
              <a:p>
                <a:r>
                  <a:rPr lang="zh-CN" altLang="en-US" dirty="0"/>
                  <a:t>求解</a:t>
                </a:r>
                <a:r>
                  <a:rPr lang="en-US" altLang="zh-CN" dirty="0" err="1"/>
                  <a:t>Hx</a:t>
                </a:r>
                <a:r>
                  <a:rPr lang="en-US" altLang="zh-CN" dirty="0"/>
                  <a:t>=g</a:t>
                </a:r>
                <a:r>
                  <a:rPr lang="zh-CN" altLang="en-US" dirty="0"/>
                  <a:t>实际上是最小化这个二次型函数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6D2533-82C0-4FB4-B76B-1519E2596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2565"/>
              </a:xfrm>
              <a:blipFill>
                <a:blip r:embed="rId3"/>
                <a:stretch>
                  <a:fillRect l="-1043" t="-2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B7063B17-11D1-0B93-1152-67FB986FF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507" y="4180113"/>
            <a:ext cx="1147899" cy="114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0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7F8C88-EE72-AAE3-CB29-07CCEB25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Krylov</a:t>
            </a:r>
            <a:r>
              <a:rPr lang="zh-CN" altLang="en-US" dirty="0"/>
              <a:t>子空间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269FC70-A585-155F-27F2-8E770F6CC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Krylov</a:t>
                </a:r>
                <a:r>
                  <a:rPr lang="zh-CN" altLang="en-US" dirty="0"/>
                  <a:t>子空间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由一个矩阵和一个向量通过计算生成的线性空间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(</a:t>
                </a:r>
                <a:r>
                  <a:rPr lang="en-US" altLang="zh-CN" dirty="0" err="1"/>
                  <a:t>H,g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Krylov</a:t>
                </a:r>
                <a:r>
                  <a:rPr lang="zh-CN" altLang="en-US" dirty="0"/>
                  <a:t>子空间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zh-CN" altLang="en-US" dirty="0"/>
                  <a:t>为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14:m>
                  <m:oMath xmlns:m="http://schemas.openxmlformats.org/officeDocument/2006/math">
                    <m:r>
                      <m:rPr>
                        <m:lit/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span</m:t>
                    </m:r>
                    <m:r>
                      <m:rPr>
                        <m:lit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如果能证明解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那么我们在求解</a:t>
                </a:r>
                <a:r>
                  <a:rPr lang="en-US" altLang="zh-CN" b="0" dirty="0" err="1"/>
                  <a:t>Hx</a:t>
                </a:r>
                <a:r>
                  <a:rPr lang="en-US" altLang="zh-CN" b="0" dirty="0"/>
                  <a:t>=g</a:t>
                </a:r>
                <a:r>
                  <a:rPr lang="zh-CN" altLang="en-US" b="0" dirty="0"/>
                  <a:t>的时候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可以把</a:t>
                </a:r>
                <a:r>
                  <a:rPr lang="en-US" altLang="zh-CN" dirty="0"/>
                  <a:t>Krylov</a:t>
                </a:r>
                <a:r>
                  <a:rPr lang="zh-CN" altLang="en-US" dirty="0"/>
                  <a:t>子空间作为解的搜索空间</a:t>
                </a:r>
                <a:endParaRPr lang="en-US" altLang="zh-CN" b="0" dirty="0"/>
              </a:p>
              <a:p>
                <a:r>
                  <a:rPr lang="zh-CN" altLang="en-US" dirty="0"/>
                  <a:t>下面我们证明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269FC70-A585-155F-27F2-8E770F6CC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65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4B2D7BAE-CA9D-3761-A0BA-ABAD6A7F670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4B2D7BAE-CA9D-3761-A0BA-ABAD6A7F67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FE66BE-3CB3-6E18-F4F0-7061A17BB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609289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Proof</a:t>
                </a:r>
              </a:p>
              <a:p>
                <a:r>
                  <a:rPr lang="zh-CN" altLang="en-US" dirty="0"/>
                  <a:t>由</a:t>
                </a:r>
                <a:r>
                  <a:rPr lang="en-US" altLang="zh-CN" dirty="0"/>
                  <a:t>Cayley-Hamilton Theorem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任一方阵一定满足其特征方程</a:t>
                </a:r>
                <a:endParaRPr lang="en-US" altLang="zh-CN" dirty="0"/>
              </a:p>
              <a:p>
                <a:r>
                  <a:rPr lang="zh-CN" altLang="en-US" dirty="0"/>
                  <a:t>假设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的特征方程为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b="0" dirty="0"/>
                  <a:t>可以表示为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dirty="0"/>
                  <a:t>的线性组合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b="0" dirty="0"/>
                  <a:t>可以表示为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b="0" dirty="0"/>
                  <a:t>的线性组合</a:t>
                </a:r>
                <a:endParaRPr lang="en-US" altLang="zh-CN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FE66BE-3CB3-6E18-F4F0-7061A17BB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6092890"/>
              </a:xfrm>
              <a:blipFill>
                <a:blip r:embed="rId3"/>
                <a:stretch>
                  <a:fillRect l="-1043" t="-1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50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E2C10-F08D-6FB3-7E43-AC2DC9AC6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</a:t>
            </a:r>
            <a:r>
              <a:rPr lang="zh-CN" altLang="en-US" dirty="0"/>
              <a:t>共轭性与</a:t>
            </a:r>
            <a:r>
              <a:rPr lang="en-US" altLang="zh-CN" dirty="0"/>
              <a:t>H</a:t>
            </a:r>
            <a:r>
              <a:rPr lang="zh-CN" altLang="en-US" dirty="0"/>
              <a:t>内积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AFFA35-5430-A1CB-F904-8A670408BC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因此我们将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Krylov</a:t>
                </a:r>
                <a:r>
                  <a:rPr lang="zh-CN" altLang="en-US" dirty="0"/>
                  <a:t>子空间作为解的搜索空间</a:t>
                </a:r>
                <a:endParaRPr lang="en-US" altLang="zh-CN" dirty="0"/>
              </a:p>
              <a:p>
                <a:r>
                  <a:rPr lang="zh-CN" altLang="en-US" b="0" dirty="0"/>
                  <a:t>自然基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可以张成目标搜索空间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但是这组基不满足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共轭性</a:t>
                </a:r>
                <a:endParaRPr lang="en-US" altLang="zh-CN" dirty="0"/>
              </a:p>
              <a:p>
                <a:r>
                  <a:rPr lang="en-US" altLang="zh-CN" dirty="0"/>
                  <a:t>H</a:t>
                </a:r>
                <a:r>
                  <a:rPr lang="zh-CN" altLang="en-US" dirty="0"/>
                  <a:t>共轭性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由矩阵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诱导的</a:t>
                </a:r>
                <a:r>
                  <a:rPr lang="en-US" altLang="zh-CN" b="1" dirty="0"/>
                  <a:t>H</a:t>
                </a:r>
                <a:r>
                  <a:rPr lang="zh-CN" altLang="en-US" b="1" dirty="0"/>
                  <a:t>内积</a:t>
                </a:r>
                <a:r>
                  <a:rPr lang="zh-CN" altLang="en-US" dirty="0"/>
                  <a:t>下的正交性</a:t>
                </a:r>
                <a:endParaRPr lang="en-US" altLang="zh-CN" dirty="0"/>
              </a:p>
              <a:p>
                <a:r>
                  <a:rPr lang="zh-CN" altLang="en-US" dirty="0"/>
                  <a:t>欧式正交即内积为</a:t>
                </a:r>
                <a:r>
                  <a:rPr lang="en-US" altLang="zh-CN" dirty="0"/>
                  <a:t>0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H</a:t>
                </a:r>
                <a:r>
                  <a:rPr lang="zh-CN" altLang="en-US" dirty="0"/>
                  <a:t>共轭即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内积为</a:t>
                </a:r>
                <a:r>
                  <a:rPr lang="en-US" altLang="zh-CN" dirty="0"/>
                  <a:t>0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AFFA35-5430-A1CB-F904-8A670408BC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0AA25C9-45CB-AB0B-4339-335F92489D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3837" y="2876998"/>
            <a:ext cx="1173752" cy="98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5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25A3A-4494-CC6E-0E2E-BBCB3EF4B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</a:t>
            </a:r>
            <a:r>
              <a:rPr lang="zh-CN" altLang="en-US" dirty="0"/>
              <a:t>共轭性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9371C56-C206-5D32-BF23-865871862E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H</a:t>
                </a:r>
                <a:r>
                  <a:rPr lang="zh-CN" altLang="en-US" dirty="0"/>
                  <a:t>内积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𝐻𝑣</m:t>
                    </m:r>
                  </m:oMath>
                </a14:m>
                <a:endParaRPr lang="en-US" altLang="zh-CN" b="0" dirty="0"/>
              </a:p>
              <a:p>
                <a:r>
                  <a:rPr lang="en-US" altLang="zh-CN" b="0" dirty="0"/>
                  <a:t>H</a:t>
                </a:r>
                <a:r>
                  <a:rPr lang="zh-CN" altLang="en-US" b="0" dirty="0"/>
                  <a:t>共轭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由矩阵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诱导的</a:t>
                </a:r>
                <a:r>
                  <a:rPr lang="en-US" altLang="zh-CN" b="1" dirty="0"/>
                  <a:t>H</a:t>
                </a:r>
                <a:r>
                  <a:rPr lang="zh-CN" altLang="en-US" b="1" dirty="0"/>
                  <a:t>内积</a:t>
                </a:r>
                <a:r>
                  <a:rPr lang="zh-CN" altLang="en-US" dirty="0"/>
                  <a:t>下的正交性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有</m:t>
                    </m:r>
                  </m:oMath>
                </a14:m>
                <a:r>
                  <a:rPr lang="zh-CN" altLang="en-US" b="0" dirty="0"/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b="0" dirty="0"/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b="0" dirty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b="0" dirty="0"/>
                  <a:t>是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共轭的</a:t>
                </a:r>
                <a:endParaRPr lang="en-US" altLang="zh-CN" dirty="0"/>
              </a:p>
              <a:p>
                <a:r>
                  <a:rPr lang="zh-CN" altLang="en-US" dirty="0"/>
                  <a:t>若一组向量两两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共轭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则这组向量线性无关</a:t>
                </a:r>
                <a:endParaRPr lang="en-US" altLang="zh-CN" b="0" dirty="0"/>
              </a:p>
              <a:p>
                <a:r>
                  <a:rPr lang="zh-CN" altLang="en-US" dirty="0"/>
                  <a:t>下面给出证明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9371C56-C206-5D32-BF23-865871862E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63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8109D-5DA6-4DC8-42D4-D2A4096DB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若一组向量两两</a:t>
            </a:r>
            <a:r>
              <a:rPr lang="en-US" altLang="zh-CN" dirty="0"/>
              <a:t>H</a:t>
            </a:r>
            <a:r>
              <a:rPr lang="zh-CN" altLang="en-US" dirty="0"/>
              <a:t>共轭</a:t>
            </a:r>
            <a:br>
              <a:rPr lang="en-US" altLang="zh-CN" dirty="0"/>
            </a:br>
            <a:r>
              <a:rPr lang="zh-CN" altLang="en-US" b="0" dirty="0"/>
              <a:t>则这组向量线性无关</a:t>
            </a:r>
            <a:endParaRPr lang="en-US" altLang="zh-CN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1A04426-E224-DC2C-F8F5-011E52B97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555563"/>
              </a:xfrm>
            </p:spPr>
            <p:txBody>
              <a:bodyPr/>
              <a:lstStyle/>
              <a:p>
                <a:r>
                  <a:rPr lang="en-US" altLang="zh-CN" dirty="0"/>
                  <a:t>Proof</a:t>
                </a:r>
              </a:p>
              <a:p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两两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共轭且</a:t>
                </a:r>
                <a:r>
                  <a:rPr lang="zh-CN" altLang="en-US" b="0" dirty="0"/>
                  <a:t>线性相关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存在不全为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任取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0,1,2…,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由于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两两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共轭，因此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=0 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由于</a:t>
                </a:r>
                <a:r>
                  <a:rPr lang="en-US" altLang="zh-CN" b="0" dirty="0"/>
                  <a:t>H</a:t>
                </a:r>
                <a:r>
                  <a:rPr lang="zh-CN" altLang="en-US" b="0" dirty="0"/>
                  <a:t>是对称正定阵，其二次型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b="0" dirty="0"/>
                  <a:t>   </a:t>
                </a:r>
                <a:r>
                  <a:rPr lang="zh-CN" altLang="en-US" b="0" dirty="0"/>
                  <a:t>故矛盾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1A04426-E224-DC2C-F8F5-011E52B97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555563"/>
              </a:xfrm>
              <a:blipFill>
                <a:blip r:embed="rId2"/>
                <a:stretch>
                  <a:fillRect l="-1043" t="-1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26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D1F08-0426-86BD-2EB1-547CAB2D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为什么要用共轭梯度法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3A317C-8B78-A894-91BA-E4D7FB06B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649831"/>
              </a:xfrm>
            </p:spPr>
            <p:txBody>
              <a:bodyPr/>
              <a:lstStyle/>
              <a:p>
                <a:r>
                  <a:rPr lang="zh-CN" altLang="en-US" b="0" dirty="0"/>
                  <a:t>自然基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nor/>
                      </m:rPr>
                      <a:rPr lang="zh-CN" altLang="en-US" dirty="0" smtClean="0"/>
                      <m:t>可以张成目标搜索空间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但他们不是</a:t>
                </a:r>
                <a:r>
                  <a:rPr lang="en-US" altLang="zh-CN" b="0" dirty="0"/>
                  <a:t>H</a:t>
                </a:r>
                <a:r>
                  <a:rPr lang="zh-CN" altLang="en-US" b="0" dirty="0"/>
                  <a:t>共轭的</a:t>
                </a:r>
                <a:endParaRPr lang="en-US" altLang="zh-CN" b="0" dirty="0"/>
              </a:p>
              <a:p>
                <a:r>
                  <a:rPr lang="zh-CN" altLang="en-US" dirty="0"/>
                  <a:t>如果我们可以找到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dirty="0" smtClean="0"/>
                      <m:t>目标搜索空间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b="0" dirty="0"/>
                  <a:t>一组</a:t>
                </a:r>
                <a:r>
                  <a:rPr lang="en-US" altLang="zh-CN" b="0" dirty="0"/>
                  <a:t>H</a:t>
                </a:r>
                <a:r>
                  <a:rPr lang="zh-CN" altLang="en-US" b="0" dirty="0"/>
                  <a:t>共轭的基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我们就可以就可以把问题解耦到</a:t>
                </a:r>
                <a:r>
                  <a:rPr lang="en-US" altLang="zh-CN" b="0" dirty="0"/>
                  <a:t>n</a:t>
                </a:r>
                <a:r>
                  <a:rPr lang="zh-CN" altLang="en-US" b="0" dirty="0"/>
                  <a:t>个单一维度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dirty="0"/>
                  <a:t>在一个维度上优化不会破坏其他任何维度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dirty="0"/>
                  <a:t>只需在每个共轭方向上完成单次优化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	</a:t>
                </a:r>
                <a:r>
                  <a:rPr lang="zh-CN" altLang="en-US" dirty="0"/>
                  <a:t>即可穷尽该维度的优化空间且不影响其他维度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经过</a:t>
                </a:r>
                <a:r>
                  <a:rPr lang="en-US" altLang="zh-CN" b="0" dirty="0"/>
                  <a:t>n</a:t>
                </a:r>
                <a:r>
                  <a:rPr lang="zh-CN" altLang="en-US" b="0" dirty="0"/>
                  <a:t>次迭代就可以穷尽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共轭梯度法就是在这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</a:t>
                </a:r>
                <a:r>
                  <a:rPr lang="en-US" altLang="zh-CN" b="0" dirty="0"/>
                  <a:t>H</a:t>
                </a:r>
                <a:r>
                  <a:rPr lang="zh-CN" altLang="en-US" b="0" dirty="0"/>
                  <a:t>共轭的基</a:t>
                </a:r>
                <a:r>
                  <a:rPr lang="zh-CN" altLang="en-US" dirty="0"/>
                  <a:t>（搜索方向）上做优化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3A317C-8B78-A894-91BA-E4D7FB06B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649831"/>
              </a:xfrm>
              <a:blipFill>
                <a:blip r:embed="rId2"/>
                <a:stretch>
                  <a:fillRect l="-1043" t="-18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64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2BA9A6-0323-0D1E-F4D7-4B4B0AC8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共轭梯度法的步骤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8B47A8-EE7B-33CE-D58E-E673A5A1C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初始化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初始解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b="0" dirty="0"/>
                  <a:t>初始残量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初始化搜索方向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r>
                  <a:rPr lang="zh-CN" altLang="en-US" b="0" dirty="0"/>
                  <a:t>如何迭代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现有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下一步要找第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步的步长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b="0" dirty="0"/>
                  <a:t>用来求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8B47A8-EE7B-33CE-D58E-E673A5A1C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57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1C923BFD-EA53-DF35-2310-736BCDEFC33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计算步长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1C923BFD-EA53-DF35-2310-736BCDEFC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AF02832-AA52-9DE2-EE4B-BACEBC0D15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235051"/>
              </a:xfrm>
            </p:spPr>
            <p:txBody>
              <a:bodyPr/>
              <a:lstStyle/>
              <a:p>
                <a:r>
                  <a:rPr lang="zh-CN" altLang="en-US" dirty="0"/>
                  <a:t>当前我们要在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b="0" dirty="0"/>
                  <a:t>这个搜索方向上求解最小化问题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第</a:t>
                </a:r>
                <a:r>
                  <a:rPr lang="en-US" altLang="zh-CN" dirty="0"/>
                  <a:t>k+1</a:t>
                </a:r>
                <a:r>
                  <a:rPr lang="zh-CN" altLang="en-US" dirty="0"/>
                  <a:t>步迭代的解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最小化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将残量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b="0" dirty="0"/>
                  <a:t>带入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AF02832-AA52-9DE2-EE4B-BACEBC0D15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235051"/>
              </a:xfrm>
              <a:blipFill>
                <a:blip r:embed="rId3"/>
                <a:stretch>
                  <a:fillRect l="-1043" t="-19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538DF3C2-E188-93F8-ABD3-678E0AA9FD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998" y="751681"/>
            <a:ext cx="5524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8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82A92-9B6D-0A3F-943E-44F3FFC46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一组</a:t>
            </a:r>
            <a:r>
              <a:rPr lang="en-US" altLang="zh-CN" dirty="0"/>
              <a:t>H</a:t>
            </a:r>
            <a:r>
              <a:rPr lang="zh-CN" altLang="en-US" dirty="0"/>
              <a:t>共轭的搜索方向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299C92D-D401-EDA0-4B14-B459A134F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我们已经确定了解就在</a:t>
                </a:r>
                <a:r>
                  <a:rPr lang="en-US" altLang="zh-CN" dirty="0"/>
                  <a:t>Krylov</a:t>
                </a:r>
                <a:r>
                  <a:rPr lang="zh-CN" altLang="en-US" dirty="0"/>
                  <a:t>子空间里</a:t>
                </a:r>
                <a:endParaRPr lang="en-US" altLang="zh-CN" dirty="0"/>
              </a:p>
              <a:p>
                <a:r>
                  <a:rPr lang="zh-CN" altLang="en-US" dirty="0"/>
                  <a:t>所有的迭代目标是高效</a:t>
                </a:r>
                <a:endParaRPr lang="en-US" altLang="zh-CN" dirty="0"/>
              </a:p>
              <a:p>
                <a:r>
                  <a:rPr lang="zh-CN" altLang="en-US" dirty="0"/>
                  <a:t>前提是在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</a:t>
                </a:r>
                <a:r>
                  <a:rPr lang="en-US" altLang="zh-CN" b="0" dirty="0"/>
                  <a:t>H</a:t>
                </a:r>
                <a:r>
                  <a:rPr lang="zh-CN" altLang="en-US" b="0" dirty="0"/>
                  <a:t>共轭的基</a:t>
                </a:r>
                <a:r>
                  <a:rPr lang="zh-CN" altLang="en-US" dirty="0"/>
                  <a:t>（搜索方向）上做优化</a:t>
                </a:r>
                <a:endParaRPr lang="en-US" altLang="zh-CN" dirty="0"/>
              </a:p>
              <a:p>
                <a:r>
                  <a:rPr lang="zh-CN" altLang="en-US" dirty="0"/>
                  <a:t>搜索方向同样是一步步迭代出来的</a:t>
                </a:r>
                <a:endParaRPr lang="en-US" altLang="zh-CN" dirty="0"/>
              </a:p>
              <a:p>
                <a:r>
                  <a:rPr lang="zh-CN" altLang="en-US" b="0" dirty="0"/>
                  <a:t>新方向由当前残量和上一个方向线性组合而成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b="0" dirty="0"/>
                  <a:t>   </a:t>
                </a:r>
              </a:p>
              <a:p>
                <a:r>
                  <a:rPr lang="zh-CN" altLang="en-US" dirty="0"/>
                  <a:t>搜索方向的更新公式与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的计算公式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构成</a:t>
                </a:r>
                <a:r>
                  <a:rPr lang="en-US" altLang="zh-CN" dirty="0"/>
                  <a:t>Fletcher-Reeves</a:t>
                </a:r>
                <a:r>
                  <a:rPr lang="zh-CN" altLang="en-US" dirty="0"/>
                  <a:t>（简称 </a:t>
                </a:r>
                <a:r>
                  <a:rPr lang="en-US" altLang="zh-CN" dirty="0"/>
                  <a:t>FR</a:t>
                </a:r>
                <a:r>
                  <a:rPr lang="zh-CN" altLang="en-US" dirty="0"/>
                  <a:t>）公式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299C92D-D401-EDA0-4B14-B459A134F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493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D94D3C4-73F9-0503-A4F3-463A5DFA7F0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新残量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与</m:t>
                    </m:r>
                  </m:oMath>
                </a14:m>
                <a:r>
                  <a:rPr lang="zh-CN" altLang="en-US" dirty="0"/>
                  <a:t>之前所有的搜索方向正交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D94D3C4-73F9-0503-A4F3-463A5DFA7F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0D70D36-79AA-3403-823D-58DBD66C6C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680596" cy="5546136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Proof</a:t>
                </a:r>
              </a:p>
              <a:p>
                <a:r>
                  <a:rPr lang="zh-CN" altLang="en-US" dirty="0"/>
                  <a:t>先证</a:t>
                </a:r>
                <a:r>
                  <a:rPr lang="en-US" altLang="zh-CN" dirty="0"/>
                  <a:t>k=0</a:t>
                </a:r>
                <a:r>
                  <a:rPr lang="zh-CN" altLang="en-US" dirty="0"/>
                  <a:t>时成立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r>
                  <a:rPr lang="zh-CN" altLang="en-US" b="0" dirty="0"/>
                  <a:t>假设</a:t>
                </a:r>
                <a:r>
                  <a:rPr lang="en-US" altLang="zh-CN" b="0" dirty="0"/>
                  <a:t>k=m</a:t>
                </a:r>
                <a:r>
                  <a:rPr lang="zh-CN" altLang="en-US" b="0" dirty="0"/>
                  <a:t>时命题成立 对所有</a:t>
                </a:r>
                <a:r>
                  <a:rPr lang="en-US" altLang="zh-CN" b="0" dirty="0"/>
                  <a:t>0-m</a:t>
                </a:r>
                <a:r>
                  <a:rPr lang="zh-CN" altLang="en-US" b="0" dirty="0"/>
                  <a:t>之间的</a:t>
                </a:r>
                <a:r>
                  <a:rPr lang="en-US" altLang="zh-CN" b="0" dirty="0" err="1"/>
                  <a:t>i</a:t>
                </a:r>
                <a:r>
                  <a:rPr lang="zh-CN" altLang="en-US" b="0" dirty="0"/>
                  <a:t>都有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要证明</a:t>
                </a:r>
                <a:r>
                  <a:rPr lang="en-US" altLang="zh-CN" dirty="0"/>
                  <a:t>k=m+1</a:t>
                </a:r>
                <a:r>
                  <a:rPr lang="zh-CN" altLang="en-US" dirty="0"/>
                  <a:t>时命题成立 </a:t>
                </a:r>
                <a:r>
                  <a:rPr lang="zh-CN" altLang="en-US" b="0" dirty="0"/>
                  <a:t>对所有</a:t>
                </a:r>
                <a:r>
                  <a:rPr lang="en-US" altLang="zh-CN" b="0" dirty="0"/>
                  <a:t>0-m+1</a:t>
                </a:r>
                <a:r>
                  <a:rPr lang="zh-CN" altLang="en-US" b="0" dirty="0"/>
                  <a:t>之间的</a:t>
                </a:r>
                <a:r>
                  <a:rPr lang="en-US" altLang="zh-CN" b="0" dirty="0" err="1"/>
                  <a:t>i</a:t>
                </a:r>
                <a:r>
                  <a:rPr lang="zh-CN" altLang="en-US" b="0" dirty="0"/>
                  <a:t>都有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0D70D36-79AA-3403-823D-58DBD66C6C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680596" cy="5546136"/>
              </a:xfrm>
              <a:blipFill>
                <a:blip r:embed="rId3"/>
                <a:stretch>
                  <a:fillRect l="-939" t="-1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32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F4594DC-046E-F871-9A56-CBF31F4FF13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新残量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与</m:t>
                    </m:r>
                  </m:oMath>
                </a14:m>
                <a:r>
                  <a:rPr lang="zh-CN" altLang="en-US" dirty="0"/>
                  <a:t>之前所有的搜索方向正交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F4594DC-046E-F871-9A56-CBF31F4FF1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445E2B-AF84-7766-5B3F-4E09DB99CD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6543" y="1787917"/>
                <a:ext cx="12038814" cy="5470721"/>
              </a:xfrm>
            </p:spPr>
            <p:txBody>
              <a:bodyPr/>
              <a:lstStyle/>
              <a:p>
                <a:r>
                  <a:rPr lang="zh-CN" altLang="en-US" b="0" dirty="0"/>
                  <a:t>目标是证明对所有</a:t>
                </a:r>
                <a:r>
                  <a:rPr lang="en-US" altLang="zh-CN" b="0" dirty="0"/>
                  <a:t>0-m+1</a:t>
                </a:r>
                <a:r>
                  <a:rPr lang="zh-CN" altLang="en-US" b="0" dirty="0"/>
                  <a:t>之间的</a:t>
                </a:r>
                <a:r>
                  <a:rPr lang="en-US" altLang="zh-CN" b="0" dirty="0" err="1"/>
                  <a:t>i</a:t>
                </a:r>
                <a:r>
                  <a:rPr lang="zh-CN" altLang="en-US" b="0" dirty="0"/>
                  <a:t>都有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情况一：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 ≤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情况二：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=m+1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带入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第二项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445E2B-AF84-7766-5B3F-4E09DB99C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6543" y="1787917"/>
                <a:ext cx="12038814" cy="5470721"/>
              </a:xfrm>
              <a:blipFill>
                <a:blip r:embed="rId3"/>
                <a:stretch>
                  <a:fillRect l="-911" t="-1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892E69C3-AE70-2F6A-44A0-56CCE6DD67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871" y="3018586"/>
            <a:ext cx="1027884" cy="82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9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44C7BEE-F280-308B-FEE7-F893F938E4A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新残量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与</m:t>
                    </m:r>
                  </m:oMath>
                </a14:m>
                <a:r>
                  <a:rPr lang="zh-CN" altLang="en-US" dirty="0"/>
                  <a:t>之前所有的搜索方向正交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44C7BEE-F280-308B-FEE7-F893F938E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2FE7A6-7A89-3209-3B67-8221C1817E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至此，我们通过数学归纳法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证明了新残量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与</m:t>
                    </m:r>
                  </m:oMath>
                </a14:m>
                <a:r>
                  <a:rPr lang="zh-CN" altLang="en-US" dirty="0"/>
                  <a:t>之前所有的搜索方向正交</a:t>
                </a:r>
                <a:endParaRPr lang="en-US" altLang="zh-CN" dirty="0"/>
              </a:p>
              <a:p>
                <a:r>
                  <a:rPr lang="zh-CN" altLang="en-US" dirty="0"/>
                  <a:t>由此的一个推论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对</m:t>
                    </m:r>
                  </m:oMath>
                </a14:m>
                <a:r>
                  <a:rPr lang="zh-CN" altLang="en-US" dirty="0"/>
                  <a:t>所有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≤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b="0" dirty="0">
                    <a:latin typeface="Cambria Math" panose="02040503050406030204" pitchFamily="18" charset="0"/>
                  </a:rPr>
                  <a:t>线性相关</a:t>
                </a:r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可以得到：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残量之间是欧式正交的</a:t>
                </a:r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2FE7A6-7A89-3209-3B67-8221C1817E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8E04CCD-A7AD-859C-6E1F-E56B4FAE7D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973" y="4075612"/>
            <a:ext cx="1330561" cy="117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9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45103-3005-4214-C02D-6575A7E44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搜索方向的迭代更新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529568-5156-A3E4-C7E5-11C89B7966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451868"/>
              </a:xfrm>
            </p:spPr>
            <p:txBody>
              <a:bodyPr/>
              <a:lstStyle/>
              <a:p>
                <a:r>
                  <a:rPr lang="zh-CN" altLang="en-US" dirty="0"/>
                  <a:t>我们确定了步长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解</m:t>
                    </m:r>
                  </m:oMath>
                </a14:m>
                <a:r>
                  <a:rPr lang="zh-CN" altLang="en-US" dirty="0"/>
                  <a:t>的更新公式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下一步寻找搜索方向的迭代公式</a:t>
                </a:r>
                <a:endParaRPr lang="en-US" altLang="zh-CN" dirty="0"/>
              </a:p>
              <a:p>
                <a:r>
                  <a:rPr lang="zh-CN" altLang="en-US" dirty="0"/>
                  <a:t>要求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b="0" dirty="0"/>
                  <a:t>两两的</a:t>
                </a:r>
                <a:r>
                  <a:rPr lang="en-US" altLang="zh-CN" b="0" dirty="0"/>
                  <a:t>H</a:t>
                </a:r>
                <a:r>
                  <a:rPr lang="zh-CN" altLang="en-US" b="0" dirty="0"/>
                  <a:t>共轭的</a:t>
                </a:r>
                <a:endParaRPr lang="en-US" altLang="zh-CN" b="0" dirty="0"/>
              </a:p>
              <a:p>
                <a:r>
                  <a:rPr lang="zh-CN" altLang="en-US" b="0" dirty="0"/>
                  <a:t>现有前</a:t>
                </a:r>
                <a:r>
                  <a:rPr lang="en-US" altLang="zh-CN" b="0" dirty="0"/>
                  <a:t>k</a:t>
                </a:r>
                <a:r>
                  <a:rPr lang="zh-CN" altLang="en-US" b="0" dirty="0"/>
                  <a:t>个搜索方向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b="0" dirty="0"/>
                  <a:t>，我们要构造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新方向由当前残量和上一个方向线性组合而成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b="0" dirty="0"/>
                  <a:t>   </a:t>
                </a:r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en-US" altLang="zh-CN" b="0" dirty="0"/>
              </a:p>
              <a:p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529568-5156-A3E4-C7E5-11C89B7966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45186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723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DE5BDFE-6B38-A846-D5B9-2215E620FD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𝐻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𝐻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US" altLang="zh-CN" b="0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DE5BDFE-6B38-A846-D5B9-2215E620FD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97C130C-5C3E-2B4C-AAE7-8F806B3E3F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7924" y="1613522"/>
                <a:ext cx="11162122" cy="524447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将其带入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b="0" dirty="0"/>
              </a:p>
              <a:p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97C130C-5C3E-2B4C-AAE7-8F806B3E3F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7924" y="1613522"/>
                <a:ext cx="11162122" cy="5244478"/>
              </a:xfrm>
              <a:blipFill>
                <a:blip r:embed="rId3"/>
                <a:stretch>
                  <a:fillRect l="-9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52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BE667-B4AD-4FBA-3E70-1A0854328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终止条件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6D4C84-575A-1B67-6BCB-CC6BAA16A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残差阈值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残差的内积</a:t>
            </a:r>
            <a:r>
              <a:rPr lang="en-US" altLang="zh-CN" dirty="0" err="1"/>
              <a:t>rdotr</a:t>
            </a:r>
            <a:r>
              <a:rPr lang="en-US" altLang="zh-CN" dirty="0"/>
              <a:t> </a:t>
            </a:r>
            <a:r>
              <a:rPr lang="zh-CN" altLang="en-US" dirty="0"/>
              <a:t>小于预设阈值</a:t>
            </a:r>
            <a:endParaRPr lang="en-US" altLang="zh-CN" dirty="0"/>
          </a:p>
          <a:p>
            <a:r>
              <a:rPr lang="zh-CN" altLang="en-US" dirty="0"/>
              <a:t>最大迭代步数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如果本身矩阵条件够好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只需要一定步数就足够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减少计算成本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B3524F9-31AF-A139-F37C-96E494478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076" y="3735977"/>
            <a:ext cx="1604010" cy="160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71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1474</Words>
  <Application>Microsoft Office PowerPoint</Application>
  <PresentationFormat>宽屏</PresentationFormat>
  <Paragraphs>185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等线 Light</vt:lpstr>
      <vt:lpstr>Arial</vt:lpstr>
      <vt:lpstr>Cambria Math</vt:lpstr>
      <vt:lpstr>Office 主题​​</vt:lpstr>
      <vt:lpstr>共轭梯度法求解矩阵方程 Fletcher-Reeves方法 Krylov子空间上的迭代</vt:lpstr>
      <vt:lpstr>主要内容</vt:lpstr>
      <vt:lpstr>求解Hx=g</vt:lpstr>
      <vt:lpstr>求解Hx=g等价于最小化1/2 x^T Hx-g^T x</vt:lpstr>
      <vt:lpstr>Krylov子空间</vt:lpstr>
      <vt:lpstr>解x^∗=H^(-1) g∈K_n (H,g)</vt:lpstr>
      <vt:lpstr>H共轭性与H内积</vt:lpstr>
      <vt:lpstr>H共轭性</vt:lpstr>
      <vt:lpstr>若一组向量两两H共轭 则这组向量线性无关</vt:lpstr>
      <vt:lpstr>为什么要用共轭梯度法</vt:lpstr>
      <vt:lpstr>共轭梯度法的步骤</vt:lpstr>
      <vt:lpstr>计算步长α_k</vt:lpstr>
      <vt:lpstr>一组H共轭的搜索方向</vt:lpstr>
      <vt:lpstr>新残量r_(k+1) 与之前所有的搜索方向正交</vt:lpstr>
      <vt:lpstr>新残量r_(k+1) 与之前所有的搜索方向正交</vt:lpstr>
      <vt:lpstr>新残量r_(k+1) 与之前所有的搜索方向正交</vt:lpstr>
      <vt:lpstr>搜索方向的迭代更新</vt:lpstr>
      <vt:lpstr>r_(k+1)^T Hp_k+β_k p_k^T Hp_k=0 </vt:lpstr>
      <vt:lpstr>终止条件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7</cp:revision>
  <dcterms:created xsi:type="dcterms:W3CDTF">2025-10-25T09:31:58Z</dcterms:created>
  <dcterms:modified xsi:type="dcterms:W3CDTF">2025-10-26T12:09:57Z</dcterms:modified>
</cp:coreProperties>
</file>