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5" r:id="rId3"/>
    <p:sldId id="258" r:id="rId4"/>
    <p:sldId id="260" r:id="rId5"/>
    <p:sldId id="261" r:id="rId6"/>
    <p:sldId id="262" r:id="rId7"/>
    <p:sldId id="263" r:id="rId8"/>
    <p:sldId id="265" r:id="rId9"/>
    <p:sldId id="257" r:id="rId10"/>
    <p:sldId id="266" r:id="rId11"/>
    <p:sldId id="267" r:id="rId12"/>
    <p:sldId id="268" r:id="rId13"/>
    <p:sldId id="269" r:id="rId14"/>
    <p:sldId id="270" r:id="rId15"/>
    <p:sldId id="259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1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C0A30-6001-4325-BB62-F71B62F43B31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24B83-1607-494F-8775-0462D07A9B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75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24B83-1607-494F-8775-0462D07A9B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498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24B83-1607-494F-8775-0462D07A9B7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430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333AB-8779-2740-32B4-A23B407B9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820E4A-38A2-CE76-3AE1-F1BD51814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73496-1BB6-9930-5600-83F89F22A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45B6-7210-46F6-8CAF-9086089B0249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89491E-1ACF-842C-464B-D46C3CB80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69C40A-098B-D464-C957-05E17DF3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2048-F6E2-43A9-A715-6772BC1A2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572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ADB1D8-A191-C054-0BD0-B178496A3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1C4740-66C4-0E1D-F68D-5A217B4A8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F0AB46-8CC8-6BBF-07B3-6BDCF43C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45B6-7210-46F6-8CAF-9086089B0249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DDF749-5E72-668C-DB58-76A58D040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282131-0BC9-9AD4-3B42-C3D149F3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2048-F6E2-43A9-A715-6772BC1A2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51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FD01F-8049-9E27-D64A-674F60E42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7B261D-79F4-A83B-F844-0C6A5F311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47DEEF-C5B5-A733-4E66-666B9FEC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45B6-7210-46F6-8CAF-9086089B0249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43045A-2932-63C8-4FD4-8F0B12CE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5C643B-3F72-4FAF-20EE-41493A59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2048-F6E2-43A9-A715-6772BC1A2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436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9111F-5887-2062-84DF-2F71EC1A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8E4449-C3BD-90FA-688F-F9FB26DE4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567F6D-861D-1DEE-1CFC-D3FB4EB77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912FD1-7851-18A0-CC9F-655D5368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45B6-7210-46F6-8CAF-9086089B0249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DB1275-289C-A4A7-42D7-14BE2E29C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20B6D8-69E3-E3A3-08D6-98743BD79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2048-F6E2-43A9-A715-6772BC1A2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22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EBD11-D93B-1713-5D57-D215F0AC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223CED-3E33-72E1-E0E0-9F0C1A395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36AFBB-1DB5-58B7-4BDC-1B9D00E47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D2EE1A-8946-9D1B-E5E3-9825DFD765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C27C65-BDF2-972B-0217-7DF4B6BAF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666469-FE2A-A33E-6D82-FDC62C892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45B6-7210-46F6-8CAF-9086089B0249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2E47671-FD4D-4B0B-DF3B-8FB179A52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EE1E39-A07C-63F2-DD23-4B0CAF2D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2048-F6E2-43A9-A715-6772BC1A2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724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E98E0-7B1D-DDF5-5158-EF961B491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B797EC-0E86-2E9D-C2F4-BBDA5D584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45B6-7210-46F6-8CAF-9086089B0249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5EAC44-89CB-7FD8-3595-DE2DB786A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A0B68E-EBEB-25BD-EB11-734CD493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2048-F6E2-43A9-A715-6772BC1A2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35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FDE043-5C84-024F-331B-264B935A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45B6-7210-46F6-8CAF-9086089B0249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548AE3-F1F8-5E70-258A-BE055EFD3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DB51CC-5D60-DFDA-54DE-6B360F89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2048-F6E2-43A9-A715-6772BC1A2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46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A0FCD-AD14-20F6-D294-642085240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DE1BB6-2E86-1610-0D4C-32F3FE3D1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FFD029-EA6A-1B08-8FFA-93B898626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D79C7E-3FA6-5899-9FD3-2BF0561F4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45B6-7210-46F6-8CAF-9086089B0249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BF07A4-C47A-B921-C7B8-00BF7791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202CDF-48AB-7A06-4732-008FFBEA6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2048-F6E2-43A9-A715-6772BC1A2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07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6B14D-241B-CD9F-896F-35C6AC4A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376D2A-4489-EB2D-966F-35AAF309A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5C1C0E-DEEE-B34C-D292-C1348D6FC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0EDEE7-112A-A6CD-FB71-0E5F805E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45B6-7210-46F6-8CAF-9086089B0249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CD8699-2D04-2A88-1342-781E1144E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36A50F-5CCE-A1D3-5F7E-4F6DAC14D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2048-F6E2-43A9-A715-6772BC1A2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81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58E84-6ECB-DCB3-D351-14117AFC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120388-D3FE-7BAE-459D-0E81C3813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8B1B6A-17DF-E74B-CCA1-65B4B22A3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45B6-7210-46F6-8CAF-9086089B0249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D4562D-8D96-27CE-961B-179BBB00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A7A7F2-7633-31CF-8ED0-EC9DA6EA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2048-F6E2-43A9-A715-6772BC1A2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532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F1AA5A9-3CA5-989A-0112-8E11BDD9C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258C1E-23D7-E639-3B0E-D1872B281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C185A1-606C-A286-B874-CD239700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45B6-7210-46F6-8CAF-9086089B0249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D3B13F-8E76-1CF9-13CB-5FD1E21A5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D26C61-A090-906E-8BB8-5FFEA8A54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D2048-F6E2-43A9-A715-6772BC1A2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65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BB821B-C7DD-3F5B-821D-DC2C4425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0BFC0D-042C-735B-9614-3561B1655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EA38A1-9601-A0CF-21FE-DD0898CE50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645B6-7210-46F6-8CAF-9086089B0249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8DD61E-0F9E-39D7-EA7F-B9348418E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E09934-BF0D-8471-F549-ACDFF2F52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D2048-F6E2-43A9-A715-6772BC1A2A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819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gif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A6609-B730-7B55-FB53-9C1FC4558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8555" y="-1129273"/>
            <a:ext cx="8454887" cy="5257800"/>
          </a:xfrm>
        </p:spPr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零基础友好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从强化学习基本概念</a:t>
            </a:r>
            <a:br>
              <a:rPr lang="en-US" altLang="zh-CN" dirty="0"/>
            </a:br>
            <a:r>
              <a:rPr lang="zh-CN" altLang="en-US" dirty="0"/>
              <a:t>到</a:t>
            </a:r>
            <a:r>
              <a:rPr lang="en-US" altLang="zh-CN" b="1" dirty="0"/>
              <a:t>Q-learning</a:t>
            </a:r>
            <a:r>
              <a:rPr lang="zh-CN" altLang="en-US" dirty="0"/>
              <a:t>算法与代码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394F74-10E9-E9A6-219D-0AFCD54B21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6BCD4E-75E0-3576-394A-48C82D406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057" y="4253947"/>
            <a:ext cx="1557885" cy="134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69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3B31A-CA01-323A-0F1E-61EC8219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5CFD9C-131E-7668-51EA-CAD3C7B17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强化学习基础概念</a:t>
            </a:r>
            <a:endParaRPr lang="en-US" altLang="zh-CN" dirty="0"/>
          </a:p>
          <a:p>
            <a:r>
              <a:rPr lang="zh-CN" altLang="en-US" dirty="0"/>
              <a:t>贝尔曼公式</a:t>
            </a:r>
            <a:endParaRPr lang="en-US" altLang="zh-CN" dirty="0"/>
          </a:p>
          <a:p>
            <a:r>
              <a:rPr lang="zh-CN" altLang="en-US" dirty="0"/>
              <a:t>贝尔曼最优公式</a:t>
            </a:r>
            <a:endParaRPr lang="en-US" altLang="zh-CN" dirty="0"/>
          </a:p>
          <a:p>
            <a:r>
              <a:rPr lang="en-US" altLang="zh-CN" dirty="0"/>
              <a:t>Q-learning</a:t>
            </a:r>
            <a:r>
              <a:rPr lang="zh-CN" altLang="en-US" dirty="0"/>
              <a:t>算法</a:t>
            </a:r>
            <a:endParaRPr lang="en-US" altLang="zh-CN" dirty="0"/>
          </a:p>
          <a:p>
            <a:r>
              <a:rPr lang="en-US" altLang="zh-CN" dirty="0"/>
              <a:t>Q-learning</a:t>
            </a:r>
            <a:r>
              <a:rPr lang="zh-CN" altLang="en-US" dirty="0"/>
              <a:t>算法的代码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281872-3E69-2D80-B23A-A7A16FB54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843" y="447589"/>
            <a:ext cx="3822523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67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24CCD-53FC-5A40-EF8F-51EF8980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Grid-World Example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64F3CA-36FA-A4C2-11A5-E55A029AF985}"/>
              </a:ext>
            </a:extLst>
          </p:cNvPr>
          <p:cNvSpPr/>
          <p:nvPr/>
        </p:nvSpPr>
        <p:spPr>
          <a:xfrm>
            <a:off x="1527142" y="1908110"/>
            <a:ext cx="5184743" cy="452486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ABFCD63-DB39-A486-1EBC-960F75A5B8E8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1527142" y="4170543"/>
            <a:ext cx="51847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DEE4E9E-AB44-DB36-D927-9A0208727F00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4119514" y="1908110"/>
            <a:ext cx="0" cy="45248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CDB9F13-408E-7C39-5B9D-A9EC8A6A7AF7}"/>
                  </a:ext>
                </a:extLst>
              </p:cNvPr>
              <p:cNvSpPr txBox="1"/>
              <p:nvPr/>
            </p:nvSpPr>
            <p:spPr>
              <a:xfrm>
                <a:off x="2340824" y="2359020"/>
                <a:ext cx="965008" cy="1846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4000" b="0" dirty="0"/>
              </a:p>
              <a:p>
                <a:r>
                  <a:rPr lang="en-US" altLang="zh-CN" sz="4000" b="0" dirty="0"/>
                  <a:t>start</a:t>
                </a:r>
              </a:p>
              <a:p>
                <a:endParaRPr lang="zh-CN" altLang="en-US" sz="4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CDB9F13-408E-7C39-5B9D-A9EC8A6A7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824" y="2359020"/>
                <a:ext cx="965008" cy="1846659"/>
              </a:xfrm>
              <a:prstGeom prst="rect">
                <a:avLst/>
              </a:prstGeom>
              <a:blipFill>
                <a:blip r:embed="rId2"/>
                <a:stretch>
                  <a:fillRect l="-32278" r="-30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345A7DE-CAC0-EB71-30CE-90E37D372E7F}"/>
                  </a:ext>
                </a:extLst>
              </p:cNvPr>
              <p:cNvSpPr txBox="1"/>
              <p:nvPr/>
            </p:nvSpPr>
            <p:spPr>
              <a:xfrm>
                <a:off x="1794347" y="4603884"/>
                <a:ext cx="2162451" cy="1846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4000" b="0" dirty="0"/>
              </a:p>
              <a:p>
                <a:r>
                  <a:rPr lang="en-US" altLang="zh-CN" sz="4000" dirty="0"/>
                  <a:t>forbidden</a:t>
                </a:r>
                <a:endParaRPr lang="en-US" altLang="zh-CN" sz="4000" b="0" dirty="0"/>
              </a:p>
              <a:p>
                <a:endParaRPr lang="zh-CN" altLang="en-US" sz="4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345A7DE-CAC0-EB71-30CE-90E37D372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347" y="4603884"/>
                <a:ext cx="2162451" cy="1846659"/>
              </a:xfrm>
              <a:prstGeom prst="rect">
                <a:avLst/>
              </a:prstGeom>
              <a:blipFill>
                <a:blip r:embed="rId3"/>
                <a:stretch>
                  <a:fillRect l="-14085" r="-13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7599DA8-EF04-C19F-6ED0-A3EC59A5691E}"/>
                  </a:ext>
                </a:extLst>
              </p:cNvPr>
              <p:cNvSpPr txBox="1"/>
              <p:nvPr/>
            </p:nvSpPr>
            <p:spPr>
              <a:xfrm>
                <a:off x="4758469" y="4603884"/>
                <a:ext cx="1314462" cy="1846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CN" sz="4000" b="0" dirty="0"/>
              </a:p>
              <a:p>
                <a:r>
                  <a:rPr lang="en-US" altLang="zh-CN" sz="4000" dirty="0"/>
                  <a:t>target</a:t>
                </a:r>
                <a:endParaRPr lang="en-US" altLang="zh-CN" sz="4000" b="0" dirty="0"/>
              </a:p>
              <a:p>
                <a:endParaRPr lang="zh-CN" altLang="en-US" sz="4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7599DA8-EF04-C19F-6ED0-A3EC59A56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469" y="4603884"/>
                <a:ext cx="1314462" cy="1846659"/>
              </a:xfrm>
              <a:prstGeom prst="rect">
                <a:avLst/>
              </a:prstGeom>
              <a:blipFill>
                <a:blip r:embed="rId4"/>
                <a:stretch>
                  <a:fillRect l="-23721" r="-2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FE964D1-8DAA-344A-19F6-A50ED01F2361}"/>
                  </a:ext>
                </a:extLst>
              </p:cNvPr>
              <p:cNvSpPr txBox="1"/>
              <p:nvPr/>
            </p:nvSpPr>
            <p:spPr>
              <a:xfrm>
                <a:off x="5070730" y="2535626"/>
                <a:ext cx="744243" cy="1231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4000" b="0" dirty="0"/>
              </a:p>
              <a:p>
                <a:endParaRPr lang="zh-CN" altLang="en-US" sz="4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FE964D1-8DAA-344A-19F6-A50ED01F2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730" y="2535626"/>
                <a:ext cx="744243" cy="12311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17C0E294-ED2D-B7F7-3B5A-1613101979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47215" y="183351"/>
                <a:ext cx="10515600" cy="8192164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为起点，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dirty="0"/>
                  <a:t>为终点</a:t>
                </a:r>
                <a:endParaRPr lang="en-US" altLang="zh-CN" dirty="0"/>
              </a:p>
              <a:p>
                <a:r>
                  <a:rPr lang="en-US" altLang="zh-CN" dirty="0"/>
                  <a:t>state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状态</a:t>
                </a:r>
                <a:endParaRPr lang="en-US" altLang="zh-CN" dirty="0"/>
              </a:p>
              <a:p>
                <a:r>
                  <a:rPr lang="en-US" altLang="zh-CN" dirty="0"/>
                  <a:t>state space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状态空间</a:t>
                </a:r>
                <a:endParaRPr lang="en-US" altLang="zh-CN" dirty="0"/>
              </a:p>
              <a:p>
                <a:r>
                  <a:rPr lang="en-US" altLang="zh-CN" dirty="0"/>
                  <a:t>action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行动</a:t>
                </a:r>
                <a:endParaRPr lang="en-US" altLang="zh-CN" dirty="0"/>
              </a:p>
              <a:p>
                <a:r>
                  <a:rPr lang="en-US" altLang="zh-CN" dirty="0"/>
                  <a:t>action space of a state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状态的行动空间</a:t>
                </a:r>
                <a:endParaRPr lang="en-US" altLang="zh-CN" dirty="0"/>
              </a:p>
              <a:p>
                <a:r>
                  <a:rPr lang="en-US" altLang="zh-CN" dirty="0"/>
                  <a:t>transition dynamics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状态转移</a:t>
                </a:r>
                <a:endParaRPr lang="en-US" altLang="zh-CN" dirty="0"/>
              </a:p>
              <a:p>
                <a:r>
                  <a:rPr lang="en-US" altLang="zh-CN" dirty="0"/>
                  <a:t>reward function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奖励函数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17C0E294-ED2D-B7F7-3B5A-1613101979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47215" y="183351"/>
                <a:ext cx="10515600" cy="8192164"/>
              </a:xfrm>
              <a:blipFill>
                <a:blip r:embed="rId6"/>
                <a:stretch>
                  <a:fillRect l="-1043" t="-12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87F4912-DA42-B0B7-29DD-71E2D8282E62}"/>
              </a:ext>
            </a:extLst>
          </p:cNvPr>
          <p:cNvCxnSpPr/>
          <p:nvPr/>
        </p:nvCxnSpPr>
        <p:spPr>
          <a:xfrm flipV="1">
            <a:off x="2752928" y="1546698"/>
            <a:ext cx="0" cy="8123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0D6A2B2-E711-34A3-0527-6EEFCC75A160}"/>
              </a:ext>
            </a:extLst>
          </p:cNvPr>
          <p:cNvCxnSpPr/>
          <p:nvPr/>
        </p:nvCxnSpPr>
        <p:spPr>
          <a:xfrm>
            <a:off x="3618689" y="3103123"/>
            <a:ext cx="98249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5300F1D-DCA9-1FC6-9C79-DF13D3078E04}"/>
              </a:ext>
            </a:extLst>
          </p:cNvPr>
          <p:cNvCxnSpPr/>
          <p:nvPr/>
        </p:nvCxnSpPr>
        <p:spPr>
          <a:xfrm>
            <a:off x="2752928" y="3696511"/>
            <a:ext cx="0" cy="7587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AC73737-8289-34EB-303B-2F3157E52D45}"/>
              </a:ext>
            </a:extLst>
          </p:cNvPr>
          <p:cNvCxnSpPr/>
          <p:nvPr/>
        </p:nvCxnSpPr>
        <p:spPr>
          <a:xfrm flipH="1">
            <a:off x="1303506" y="3103123"/>
            <a:ext cx="76848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92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939673-7F5D-074F-8C4E-573D0FF1D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351463E-1629-A2F0-0D93-9B86DD4E7D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633440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笛卡尔积（卡氏积）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集合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的笛卡尔积为：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取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的元素为第一个元素、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的元素为第二个元素的有序对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组成的集合</a:t>
                </a:r>
                <a:endParaRPr lang="en-US" altLang="zh-CN" dirty="0"/>
              </a:p>
              <a:p>
                <a:r>
                  <a:rPr lang="zh-CN" altLang="en-US" dirty="0"/>
                  <a:t>状态转移函数</a:t>
                </a:r>
                <a:r>
                  <a:rPr lang="en-US" altLang="zh-CN" dirty="0"/>
                  <a:t>P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 ×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↦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i="1" dirty="0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表示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上的概率分布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 </a:t>
                </a:r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奖励函数</a:t>
                </a:r>
                <a:r>
                  <a:rPr lang="en-US" altLang="zh-CN" dirty="0"/>
                  <a:t>R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 ×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 ↦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smtClean="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r>
                  <a:rPr lang="zh-CN" altLang="en-US" dirty="0"/>
                  <a:t>表示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dirty="0"/>
                  <a:t>上的概率分布</a:t>
                </a:r>
                <a:endParaRPr lang="en-US" altLang="zh-CN" dirty="0"/>
              </a:p>
              <a:p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351463E-1629-A2F0-0D93-9B86DD4E7D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6334401"/>
              </a:xfrm>
              <a:blipFill>
                <a:blip r:embed="rId2"/>
                <a:stretch>
                  <a:fillRect l="-1043" t="-17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957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53866E-EF99-1666-ED32-7FC5F2C92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639A6E-C359-E52A-4E34-35815596C0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310671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policy</a:t>
                </a:r>
                <a:r>
                  <a:rPr lang="zh-CN" altLang="en-US" dirty="0"/>
                  <a:t>策略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策略是一种条件概率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b="0" dirty="0"/>
              </a:p>
              <a:p>
                <a:r>
                  <a:rPr lang="en-US" altLang="zh-CN" b="0" dirty="0"/>
                  <a:t>trajectory</a:t>
                </a:r>
                <a:r>
                  <a:rPr lang="zh-CN" altLang="en-US" b="0" dirty="0"/>
                  <a:t>轨迹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state-action-reward chain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9639A6E-C359-E52A-4E34-35815596C0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310671"/>
              </a:xfrm>
              <a:blipFill>
                <a:blip r:embed="rId2"/>
                <a:stretch>
                  <a:fillRect l="-1043" t="-2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B0B7DA1-4ADB-A09A-4151-68BE590CD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259" y="4347099"/>
            <a:ext cx="4303645" cy="7639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639CAC5C-44C3-F54B-4BC6-50EE826A1A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127004"/>
                <a:ext cx="10515600" cy="34619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/>
                  <a:t>return</a:t>
                </a:r>
                <a:r>
                  <a:rPr lang="zh-CN" altLang="en-US" dirty="0"/>
                  <a:t>回报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沿着</a:t>
                </a:r>
                <a:r>
                  <a:rPr lang="en-US" altLang="zh-CN" dirty="0"/>
                  <a:t>trajectory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reward</a:t>
                </a:r>
                <a:r>
                  <a:rPr lang="zh-CN" altLang="en-US" dirty="0"/>
                  <a:t>相加</a:t>
                </a:r>
                <a:endParaRPr lang="en-US" altLang="zh-CN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CN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CN" dirty="0"/>
                  <a:t>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CN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CN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639CAC5C-44C3-F54B-4BC6-50EE826A1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27004"/>
                <a:ext cx="10515600" cy="3461992"/>
              </a:xfrm>
              <a:prstGeom prst="rect">
                <a:avLst/>
              </a:prstGeom>
              <a:blipFill>
                <a:blip r:embed="rId4"/>
                <a:stretch>
                  <a:fillRect l="-1043" t="-3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45B7CEE1-06F3-00EC-A415-D7146E180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101" y="3429000"/>
            <a:ext cx="2636166" cy="207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2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991D94-C3C0-E667-A924-DA47215EE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CCE4E2-E1DD-0DBF-8400-A85A538D54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640397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discount rate</a:t>
                </a:r>
                <a:r>
                  <a:rPr lang="zh-CN" altLang="en-US" dirty="0"/>
                  <a:t>折扣率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衡量当前奖励与未来奖励</a:t>
                </a:r>
                <a:endParaRPr lang="en-US" altLang="zh-CN" b="0" dirty="0"/>
              </a:p>
              <a:p>
                <a:r>
                  <a:rPr lang="en-US" altLang="zh-CN" dirty="0"/>
                  <a:t>discounted return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对未来第 </a:t>
                </a:r>
                <a:r>
                  <a:rPr lang="en-US" altLang="zh-CN" dirty="0"/>
                  <a:t>t </a:t>
                </a:r>
                <a:r>
                  <a:rPr lang="zh-CN" altLang="en-US" dirty="0"/>
                  <a:t>步的奖励，乘以一个折扣因子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b="1" i="1" dirty="0" smtClean="0"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p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距离当前越远的</a:t>
                </a:r>
                <a:r>
                  <a:rPr lang="en-US" altLang="zh-CN" dirty="0"/>
                  <a:t>reward</a:t>
                </a:r>
                <a:r>
                  <a:rPr lang="zh-CN" altLang="en-US" dirty="0"/>
                  <a:t>，权重越低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CCE4E2-E1DD-0DBF-8400-A85A538D5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6403975"/>
              </a:xfrm>
              <a:blipFill>
                <a:blip r:embed="rId2"/>
                <a:stretch>
                  <a:fillRect l="-1043" t="-17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20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06FA2-AB95-773A-8D8F-3779D59A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state value</a:t>
            </a:r>
            <a:r>
              <a:rPr lang="zh-CN" altLang="en-US" dirty="0"/>
              <a:t>与</a:t>
            </a:r>
            <a:r>
              <a:rPr lang="en-US" altLang="zh-CN" dirty="0"/>
              <a:t>action value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618CEC4-0B46-57A4-8988-2AF10BD300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529332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state value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从一个</a:t>
                </a:r>
                <a:r>
                  <a:rPr lang="en-US" altLang="zh-CN" dirty="0"/>
                  <a:t>state</a:t>
                </a:r>
                <a:r>
                  <a:rPr lang="zh-CN" altLang="en-US" dirty="0"/>
                  <a:t>出发，对各个</a:t>
                </a:r>
                <a:r>
                  <a:rPr lang="en-US" altLang="zh-CN" dirty="0"/>
                  <a:t>trajectory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return</a:t>
                </a:r>
                <a:r>
                  <a:rPr lang="zh-CN" altLang="en-US" dirty="0"/>
                  <a:t>求期望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zh-CN" b="0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dirty="0"/>
                  <a:t>从状态 </a:t>
                </a:r>
                <a:r>
                  <a:rPr lang="en-US" altLang="zh-CN" dirty="0"/>
                  <a:t>s </a:t>
                </a:r>
                <a:r>
                  <a:rPr lang="zh-CN" altLang="en-US" dirty="0"/>
                  <a:t>出发，遵循策略 </a:t>
                </a:r>
                <a:r>
                  <a:rPr lang="en-US" altLang="zh-CN" dirty="0"/>
                  <a:t>π </a:t>
                </a:r>
                <a:r>
                  <a:rPr lang="zh-CN" altLang="en-US" dirty="0"/>
                  <a:t>时，未来所有回报的期望总和</a:t>
                </a:r>
                <a:endParaRPr lang="en-US" altLang="zh-CN" dirty="0"/>
              </a:p>
              <a:p>
                <a:r>
                  <a:rPr lang="en-US" altLang="zh-CN" dirty="0"/>
                  <a:t>action value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1" dirty="0"/>
                  <a:t>	</a:t>
                </a:r>
                <a:r>
                  <a:rPr lang="zh-CN" altLang="en-US" dirty="0"/>
                  <a:t>从状态 </a:t>
                </a:r>
                <a:r>
                  <a:rPr lang="en-US" altLang="zh-CN" dirty="0"/>
                  <a:t>s </a:t>
                </a:r>
                <a:r>
                  <a:rPr lang="zh-CN" altLang="en-US" dirty="0"/>
                  <a:t>出发，采取动作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后，再遵循策略 </a:t>
                </a:r>
                <a:r>
                  <a:rPr lang="en-US" altLang="zh-CN" dirty="0"/>
                  <a:t>π </a:t>
                </a:r>
                <a:r>
                  <a:rPr lang="zh-CN" altLang="en-US" dirty="0"/>
                  <a:t>时，未来所有回报的期望总和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618CEC4-0B46-57A4-8988-2AF10BD300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529332"/>
              </a:xfrm>
              <a:blipFill>
                <a:blip r:embed="rId2"/>
                <a:stretch>
                  <a:fillRect l="-1217" t="-1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586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572DA-0FF7-A6A6-5F5A-2CF0CC61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最优策略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FACEEF-DC06-9AA5-75A6-679FDE01F1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state value</a:t>
                </a:r>
                <a:r>
                  <a:rPr lang="zh-CN" altLang="en-US" dirty="0"/>
                  <a:t>可以用来衡量策略的好坏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那么策略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优于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对于</m:t>
                    </m:r>
                  </m:oMath>
                </a14:m>
                <a:r>
                  <a:rPr lang="zh-CN" altLang="en-US" dirty="0"/>
                  <a:t>任意的状态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和策略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都成立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则称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b="0" dirty="0"/>
                  <a:t>最优策略</a:t>
                </a:r>
                <a:endParaRPr lang="en-US" altLang="zh-CN" b="0" dirty="0"/>
              </a:p>
              <a:p>
                <a:r>
                  <a:rPr lang="zh-CN" altLang="en-US" dirty="0"/>
                  <a:t>最优</a:t>
                </a:r>
                <a:r>
                  <a:rPr lang="en-US" altLang="zh-CN" dirty="0"/>
                  <a:t>state value V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遵循最优策略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dirty="0"/>
                  <a:t>，状态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的最大可能价值</a:t>
                </a:r>
                <a:endParaRPr lang="en-US" altLang="zh-CN" dirty="0"/>
              </a:p>
              <a:p>
                <a:r>
                  <a:rPr lang="zh-CN" altLang="en-US" dirty="0"/>
                  <a:t>最优</a:t>
                </a:r>
                <a:r>
                  <a:rPr lang="en-US" altLang="zh-CN" dirty="0"/>
                  <a:t>action value Q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遵循最优策略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(s,a)</a:t>
                </a:r>
                <a:r>
                  <a:rPr lang="zh-CN" altLang="en-US" dirty="0"/>
                  <a:t>的最大可能价值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FACEEF-DC06-9AA5-75A6-679FDE01F1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632A0A2-9B00-65C4-F0AC-A90AB35AB7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944" y="4253779"/>
            <a:ext cx="22764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43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82442-3A11-F70A-779C-85CA09F4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强化学习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7CB93B-084B-598C-EEB8-BC10468F7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强化学习描述的是智能体以最大化累计奖励为目标，在与环境交互的过程中学习到最优策略的过程。</a:t>
            </a:r>
            <a:endParaRPr lang="en-US" altLang="zh-CN" dirty="0"/>
          </a:p>
          <a:p>
            <a:r>
              <a:rPr lang="zh-CN" altLang="en-US" dirty="0"/>
              <a:t>这个交互指的是智能体在不同状态依据当前的策略采取不同的行动，完成状态转移，同时环境向智能体反馈即时奖励。</a:t>
            </a:r>
            <a:endParaRPr lang="en-US" altLang="zh-CN" dirty="0"/>
          </a:p>
          <a:p>
            <a:r>
              <a:rPr lang="zh-CN" altLang="en-US" dirty="0"/>
              <a:t>智能体根据已知信息更新策略，最终学到最优策略</a:t>
            </a:r>
            <a:endParaRPr lang="en-US" altLang="zh-CN" dirty="0"/>
          </a:p>
          <a:p>
            <a:r>
              <a:rPr lang="zh-CN" altLang="en-US" dirty="0"/>
              <a:t>这也是即将介绍的</a:t>
            </a:r>
            <a:r>
              <a:rPr lang="en-US" altLang="zh-CN" dirty="0"/>
              <a:t>Q-learning</a:t>
            </a:r>
            <a:r>
              <a:rPr lang="zh-CN" altLang="en-US" dirty="0"/>
              <a:t>算法所遵循的核心思想</a:t>
            </a:r>
          </a:p>
        </p:txBody>
      </p:sp>
    </p:spTree>
    <p:extLst>
      <p:ext uri="{BB962C8B-B14F-4D97-AF65-F5344CB8AC3E}">
        <p14:creationId xmlns:p14="http://schemas.microsoft.com/office/powerpoint/2010/main" val="118935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AF786-8AE5-B9F8-CD95-83F31AF8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贝尔曼公式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BC5A296-8C6D-952E-F966-56B10A059B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   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r>
                  <a:rPr lang="en-US" altLang="zh-CN" dirty="0"/>
                  <a:t>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 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BC5A296-8C6D-952E-F966-56B10A059B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76938714-5404-9AB5-9E23-6120BB3C5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936" y="533111"/>
            <a:ext cx="2623840" cy="231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3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B2F3C-ED3C-4F12-312B-99F0FAD9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贝尔曼公式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076E26-02AF-7B56-457E-579A637A2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624494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076E26-02AF-7B56-457E-579A637A2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624494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98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2CAC4-BB97-0F6D-28B3-1ECD1A88D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贝尔曼最优公式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D72C739-2C51-3582-FE44-FAC645D8CB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2828104" cy="640397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我们想要让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b="0" dirty="0"/>
                  <a:t>最大，只需令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1</a:t>
                </a:r>
                <a:r>
                  <a:rPr lang="zh-CN" altLang="en-US" b="0" dirty="0"/>
                  <a:t>，若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dirty="0"/>
                  <a:t>        0</a:t>
                </a:r>
                <a:r>
                  <a:rPr lang="zh-CN" altLang="en-US" dirty="0"/>
                  <a:t>，其他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’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𝑚𝑎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  最优状态价值是最优动作价值的 “最大值”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)+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对比得到：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D72C739-2C51-3582-FE44-FAC645D8CB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2828104" cy="6403975"/>
              </a:xfrm>
              <a:blipFill>
                <a:blip r:embed="rId2"/>
                <a:stretch>
                  <a:fillRect l="-8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0794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B7E09-C1EF-BD44-8D21-38E4AFE22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贝尔曼最优公式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30F33E5-0B24-1F3D-9B6A-FB2FD028FD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615530" cy="4351338"/>
              </a:xfrm>
            </p:spPr>
            <p:txBody>
              <a:bodyPr/>
              <a:lstStyle/>
              <a:p>
                <a:r>
                  <a:rPr lang="zh-CN" altLang="en-US" dirty="0"/>
                  <a:t>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以及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’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𝑚𝑎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可以得到：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𝑚𝑎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𝑚𝑎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这就是在确定性环境下的贝尔曼最优公式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30F33E5-0B24-1F3D-9B6A-FB2FD028F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615530" cy="4351338"/>
              </a:xfrm>
              <a:blipFill>
                <a:blip r:embed="rId2"/>
                <a:stretch>
                  <a:fillRect l="-945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284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B34B91-832F-E182-B93E-2D63634E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Q-learning</a:t>
            </a:r>
            <a:r>
              <a:rPr lang="zh-CN" altLang="en-US" dirty="0"/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F8D5C29-02ED-F2FE-4CC3-94B9006CF5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655288" cy="4351338"/>
              </a:xfrm>
            </p:spPr>
            <p:txBody>
              <a:bodyPr/>
              <a:lstStyle/>
              <a:p>
                <a:r>
                  <a:rPr lang="zh-CN" altLang="en-US" dirty="0"/>
                  <a:t>目标是学习到最优的</a:t>
                </a:r>
                <a:r>
                  <a:rPr lang="en-US" altLang="zh-CN" dirty="0"/>
                  <a:t>action value</a:t>
                </a:r>
                <a:r>
                  <a:rPr lang="zh-CN" altLang="en-US" dirty="0"/>
                  <a:t>函数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本质上是要学习到一个行为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、列为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的表格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我们先初始化一个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表，用它来存储对最优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值的近似，不断更新</a:t>
                </a:r>
                <a:endParaRPr lang="en-US" altLang="zh-CN" dirty="0"/>
              </a:p>
              <a:p>
                <a:r>
                  <a:rPr lang="zh-CN" altLang="en-US" dirty="0"/>
                  <a:t>更新公式：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新估计值</a:t>
                </a:r>
                <a:r>
                  <a:rPr lang="en-US" altLang="zh-CN" dirty="0"/>
                  <a:t>=</a:t>
                </a:r>
                <a:r>
                  <a:rPr lang="zh-CN" altLang="en-US" dirty="0"/>
                  <a:t>旧估计值</a:t>
                </a:r>
                <a:r>
                  <a:rPr lang="en-US" altLang="zh-CN" dirty="0"/>
                  <a:t>+</a:t>
                </a:r>
                <a:r>
                  <a:rPr lang="zh-CN" altLang="en-US" dirty="0"/>
                  <a:t>步长</a:t>
                </a:r>
                <a:r>
                  <a:rPr lang="en-US" altLang="zh-CN" dirty="0"/>
                  <a:t>×[</a:t>
                </a:r>
                <a:r>
                  <a:rPr lang="zh-CN" altLang="en-US" dirty="0"/>
                  <a:t>目标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旧估计值</a:t>
                </a:r>
                <a:r>
                  <a:rPr lang="en-US" altLang="zh-CN" dirty="0"/>
                  <a:t>]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 ←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γmaxQ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′,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这里的目标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值就是我们刚才的贝尔曼最优公式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F8D5C29-02ED-F2FE-4CC3-94B9006CF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655288" cy="4351338"/>
              </a:xfrm>
              <a:blipFill>
                <a:blip r:embed="rId2"/>
                <a:stretch>
                  <a:fillRect l="-889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212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5F21F-6EBB-564B-76F4-2A4732FC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Q-learning</a:t>
            </a:r>
            <a:r>
              <a:rPr lang="zh-CN" altLang="en-US" dirty="0"/>
              <a:t>的步骤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3CFF58A-2717-D483-0778-54421A49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6403975"/>
          </a:xfrm>
        </p:spPr>
        <p:txBody>
          <a:bodyPr/>
          <a:lstStyle/>
          <a:p>
            <a:r>
              <a:rPr lang="zh-CN" altLang="en-US" dirty="0"/>
              <a:t>初始化</a:t>
            </a:r>
            <a:r>
              <a:rPr lang="en-US" altLang="zh-CN" dirty="0"/>
              <a:t>Q</a:t>
            </a:r>
            <a:r>
              <a:rPr lang="zh-CN" altLang="en-US" dirty="0"/>
              <a:t>表 初始化为全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以</a:t>
            </a:r>
            <a:r>
              <a:rPr lang="el-GR" altLang="zh-CN" dirty="0"/>
              <a:t>ε</a:t>
            </a:r>
            <a:r>
              <a:rPr lang="zh-CN" altLang="en-US" dirty="0"/>
              <a:t>的概率</a:t>
            </a:r>
            <a:r>
              <a:rPr lang="zh-CN" altLang="en-US" b="1" dirty="0"/>
              <a:t>探索  </a:t>
            </a:r>
            <a:r>
              <a:rPr lang="zh-CN" altLang="en-US" dirty="0"/>
              <a:t>从动作空间里随机选择一个动作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以</a:t>
            </a:r>
            <a:r>
              <a:rPr lang="en-US" altLang="zh-CN" dirty="0"/>
              <a:t>1-</a:t>
            </a:r>
            <a:r>
              <a:rPr lang="el-GR" altLang="zh-CN" dirty="0"/>
              <a:t>ε</a:t>
            </a:r>
            <a:r>
              <a:rPr lang="zh-CN" altLang="en-US" dirty="0"/>
              <a:t>的概率</a:t>
            </a:r>
            <a:r>
              <a:rPr lang="zh-CN" altLang="en-US" b="1" dirty="0"/>
              <a:t>利用  </a:t>
            </a:r>
            <a:r>
              <a:rPr lang="zh-CN" altLang="en-US" dirty="0"/>
              <a:t>选择当前状态下</a:t>
            </a:r>
            <a:r>
              <a:rPr lang="en-US" altLang="zh-CN" dirty="0"/>
              <a:t>Q</a:t>
            </a:r>
            <a:r>
              <a:rPr lang="zh-CN" altLang="en-US" dirty="0"/>
              <a:t>值最大的动作</a:t>
            </a:r>
            <a:endParaRPr lang="en-US" altLang="zh-CN" dirty="0"/>
          </a:p>
          <a:p>
            <a:r>
              <a:rPr lang="zh-CN" altLang="en-US" dirty="0"/>
              <a:t>不断执行动作，获得环境反馈：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下一个状态</a:t>
            </a:r>
            <a:r>
              <a:rPr lang="en-US" altLang="zh-CN" dirty="0"/>
              <a:t>s  </a:t>
            </a:r>
            <a:r>
              <a:rPr lang="zh-CN" altLang="en-US" dirty="0"/>
              <a:t>即时奖励</a:t>
            </a:r>
            <a:r>
              <a:rPr lang="en-US" altLang="zh-CN" dirty="0"/>
              <a:t>r</a:t>
            </a:r>
          </a:p>
          <a:p>
            <a:r>
              <a:rPr lang="zh-CN" altLang="en-US" dirty="0"/>
              <a:t>利用更新公式来更新表格</a:t>
            </a:r>
            <a:endParaRPr lang="en-US" altLang="zh-CN" dirty="0"/>
          </a:p>
          <a:p>
            <a:r>
              <a:rPr lang="zh-CN" altLang="en-US" dirty="0"/>
              <a:t>直到下一个状态达到终止条件，开始下一个</a:t>
            </a:r>
            <a:r>
              <a:rPr lang="en-US" altLang="zh-CN" dirty="0"/>
              <a:t>episode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比如到达终点、撞墙次数上限、迭代步数上限</a:t>
            </a:r>
            <a:r>
              <a:rPr lang="en-US" altLang="zh-CN" dirty="0"/>
              <a:t>…</a:t>
            </a:r>
          </a:p>
          <a:p>
            <a:r>
              <a:rPr lang="zh-CN" altLang="en-US" dirty="0"/>
              <a:t>直到</a:t>
            </a:r>
            <a:r>
              <a:rPr lang="en-US" altLang="zh-CN" dirty="0"/>
              <a:t>Q</a:t>
            </a:r>
            <a:r>
              <a:rPr lang="zh-CN" altLang="en-US" dirty="0"/>
              <a:t>表收敛，算法终止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987736-6BCA-3297-FAF2-84DAED51C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775" y="751681"/>
            <a:ext cx="5524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5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17E60-11D9-1A43-365F-20D757D0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</a:t>
            </a:r>
            <a:r>
              <a:rPr lang="en-US" altLang="zh-CN" dirty="0"/>
              <a:t>Q</a:t>
            </a:r>
            <a:r>
              <a:rPr lang="zh-CN" altLang="en-US" dirty="0"/>
              <a:t>表 初始化为全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E941D0F-7A5B-A249-AC56-CE5BA5DC0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altLang="zh-CN" b="1" i="0" dirty="0">
                <a:solidFill>
                  <a:srgbClr val="204A87"/>
                </a:solidFill>
                <a:effectLst/>
                <a:latin typeface="SFMono-Regular"/>
              </a:rPr>
              <a:t>def</a:t>
            </a:r>
            <a:r>
              <a:rPr lang="en-US" altLang="zh-CN" b="0" i="0" dirty="0">
                <a:solidFill>
                  <a:srgbClr val="F8F8F8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reset_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table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altLang="zh-CN" b="0" i="0" dirty="0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):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F8F8F8"/>
                </a:solidFill>
                <a:effectLst/>
                <a:latin typeface="SFMono-Regular"/>
              </a:rPr>
              <a:t>        </a:t>
            </a:r>
            <a:r>
              <a:rPr lang="en-US" altLang="zh-CN" b="0" i="1" dirty="0">
                <a:solidFill>
                  <a:srgbClr val="8F5902"/>
                </a:solidFill>
                <a:effectLst/>
                <a:latin typeface="SFMono-Regular"/>
              </a:rPr>
              <a:t>"""Reset the </a:t>
            </a:r>
            <a:r>
              <a:rPr lang="en-US" altLang="zh-CN" b="0" i="1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1" dirty="0">
                <a:solidFill>
                  <a:srgbClr val="8F5902"/>
                </a:solidFill>
                <a:effectLst/>
                <a:latin typeface="SFMono-Regular"/>
              </a:rPr>
              <a:t>-table."""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</a:t>
            </a:r>
            <a:r>
              <a:rPr lang="en-US" altLang="zh-CN" b="0" i="0" dirty="0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table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np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zeros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((</a:t>
            </a:r>
            <a:r>
              <a:rPr lang="en-US" altLang="zh-CN" b="0" i="0" dirty="0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state_size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action_size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))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372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9C93F-F5CB-C0B0-158A-F1C107AE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以</a:t>
            </a:r>
            <a:r>
              <a:rPr lang="el-GR" altLang="zh-CN" dirty="0"/>
              <a:t>ε</a:t>
            </a:r>
            <a:r>
              <a:rPr lang="zh-CN" altLang="en-US" dirty="0"/>
              <a:t>的概率</a:t>
            </a:r>
            <a:r>
              <a:rPr lang="zh-CN" altLang="en-US" b="1" dirty="0"/>
              <a:t>探索</a:t>
            </a:r>
            <a:r>
              <a:rPr lang="en-US" altLang="zh-CN" b="1" dirty="0"/>
              <a:t> </a:t>
            </a:r>
            <a:r>
              <a:rPr lang="zh-CN" altLang="en-US" dirty="0"/>
              <a:t>以</a:t>
            </a:r>
            <a:r>
              <a:rPr lang="en-US" altLang="zh-CN" dirty="0"/>
              <a:t>1-</a:t>
            </a:r>
            <a:r>
              <a:rPr lang="el-GR" altLang="zh-CN" dirty="0"/>
              <a:t>ε</a:t>
            </a:r>
            <a:r>
              <a:rPr lang="zh-CN" altLang="en-US" dirty="0"/>
              <a:t>的概率</a:t>
            </a:r>
            <a:r>
              <a:rPr lang="zh-CN" altLang="en-US" b="1" dirty="0"/>
              <a:t>利用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56CC9C-C186-BA70-CDA1-F8C66F6BF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0345"/>
            <a:ext cx="10515600" cy="5367655"/>
          </a:xfrm>
        </p:spPr>
        <p:txBody>
          <a:bodyPr>
            <a:normAutofit fontScale="92500" lnSpcReduction="10000"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204A87"/>
                </a:solidFill>
                <a:effectLst/>
                <a:latin typeface="SFMono-Regular"/>
              </a:rPr>
              <a:t>class</a:t>
            </a:r>
            <a:r>
              <a:rPr lang="en-US" altLang="zh-CN" b="0" i="0" dirty="0">
                <a:solidFill>
                  <a:srgbClr val="F8F8F8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EpsilonGreedy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: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</a:t>
            </a:r>
            <a:r>
              <a:rPr lang="en-US" altLang="zh-CN" b="1" i="0" dirty="0">
                <a:solidFill>
                  <a:srgbClr val="204A87"/>
                </a:solidFill>
                <a:effectLst/>
                <a:latin typeface="SFMono-Regular"/>
              </a:rPr>
              <a:t>def</a:t>
            </a:r>
            <a:r>
              <a:rPr lang="en-US" altLang="zh-CN" b="0" i="0" dirty="0">
                <a:solidFill>
                  <a:srgbClr val="F8F8F8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__init__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altLang="zh-CN" b="0" i="0" dirty="0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epsilon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):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</a:t>
            </a:r>
            <a:r>
              <a:rPr lang="en-US" altLang="zh-CN" b="0" i="0" dirty="0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epsilon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epsilon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</a:t>
            </a:r>
            <a:r>
              <a:rPr lang="en-US" altLang="zh-CN" b="1" i="0" dirty="0">
                <a:solidFill>
                  <a:srgbClr val="204A87"/>
                </a:solidFill>
                <a:effectLst/>
                <a:latin typeface="SFMono-Regular"/>
              </a:rPr>
              <a:t>def</a:t>
            </a:r>
            <a:r>
              <a:rPr lang="en-US" altLang="zh-CN" b="0" i="0" dirty="0">
                <a:solidFill>
                  <a:srgbClr val="F8F8F8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choose_action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altLang="zh-CN" b="0" i="0" dirty="0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action_space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q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table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):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F8F8F8"/>
                </a:solidFill>
                <a:effectLst/>
                <a:latin typeface="SFMono-Regular"/>
              </a:rPr>
              <a:t>        </a:t>
            </a:r>
            <a:r>
              <a:rPr lang="en-US" altLang="zh-CN" b="0" i="1" dirty="0">
                <a:solidFill>
                  <a:srgbClr val="8F5902"/>
                </a:solidFill>
                <a:effectLst/>
                <a:latin typeface="SFMono-Regular"/>
              </a:rPr>
              <a:t>"""Choose an action `a` in the current world state (s)."""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explor_exploit_tradeoff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rng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uniform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altLang="zh-CN" b="1" i="0" dirty="0">
                <a:solidFill>
                  <a:srgbClr val="0000CF"/>
                </a:solidFill>
                <a:effectLst/>
                <a:latin typeface="SFMono-Regular"/>
              </a:rPr>
              <a:t>0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0000CF"/>
                </a:solidFill>
                <a:effectLst/>
                <a:latin typeface="SFMono-Regular"/>
              </a:rPr>
              <a:t>1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</a:t>
            </a:r>
            <a:r>
              <a:rPr lang="en-US" altLang="zh-CN" b="1" i="0" dirty="0">
                <a:solidFill>
                  <a:srgbClr val="204A87"/>
                </a:solidFill>
                <a:effectLst/>
                <a:latin typeface="SFMono-Regular"/>
              </a:rPr>
              <a:t>if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explor_exploit_tradeoff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&lt;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epsilon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: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 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action_space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sample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()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1" i="0" dirty="0">
                <a:solidFill>
                  <a:srgbClr val="204A87"/>
                </a:solidFill>
                <a:effectLst/>
                <a:latin typeface="SFMono-Regular"/>
              </a:rPr>
              <a:t>	     else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: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	          max_ids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np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where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table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[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:]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204A87"/>
                </a:solidFill>
                <a:effectLst/>
                <a:latin typeface="SFMono-Regular"/>
              </a:rPr>
              <a:t>max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table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[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:]))[</a:t>
            </a:r>
            <a:r>
              <a:rPr lang="en-US" altLang="zh-CN" b="1" i="0" dirty="0">
                <a:solidFill>
                  <a:srgbClr val="0000CF"/>
                </a:solidFill>
                <a:effectLst/>
                <a:latin typeface="SFMono-Regular"/>
              </a:rPr>
              <a:t>0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]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 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rng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choice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max_ids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</a:t>
            </a:r>
            <a:r>
              <a:rPr lang="en-US" altLang="zh-CN" b="1" i="0" dirty="0">
                <a:solidFill>
                  <a:srgbClr val="204A87"/>
                </a:solidFill>
                <a:effectLst/>
                <a:latin typeface="SFMono-Regular"/>
              </a:rPr>
              <a:t>return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215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85A25-40C6-8D56-54C9-0E09F98F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不断执行动作，获得环境反馈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B7E350-E1E0-DB68-0250-58E511876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50600" cy="5276215"/>
          </a:xfrm>
        </p:spPr>
        <p:txBody>
          <a:bodyPr>
            <a:normAutofit lnSpcReduction="10000"/>
          </a:bodyPr>
          <a:lstStyle/>
          <a:p>
            <a:pPr algn="l">
              <a:buNone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explorer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choose_action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        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action_space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env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action_space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state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q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table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learner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table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</a:t>
            </a: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all_states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append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all_actions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append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new_state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reward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terminated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truncated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info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env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step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done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terminated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204A87"/>
                </a:solidFill>
                <a:effectLst/>
                <a:latin typeface="SFMono-Regular"/>
              </a:rPr>
              <a:t>or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truncated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learner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table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[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]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learner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update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        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reward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new_state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CFFFEA-DDEC-2145-0BBE-387D4DAB1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036" y="498764"/>
            <a:ext cx="1662546" cy="166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92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C6123-A335-A247-3E9D-63B03E1DE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利用更新公式来更新表格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78E85-94ED-19BE-ABFB-1D215A85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489576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204A87"/>
                </a:solidFill>
                <a:effectLst/>
                <a:latin typeface="SFMono-Regular"/>
              </a:rPr>
              <a:t>def</a:t>
            </a:r>
            <a:r>
              <a:rPr lang="en-US" altLang="zh-CN" b="0" i="0" dirty="0">
                <a:solidFill>
                  <a:srgbClr val="F8F8F8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update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altLang="zh-CN" b="0" i="0" dirty="0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reward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new_state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):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F8F8F8"/>
                </a:solidFill>
                <a:effectLst/>
                <a:latin typeface="SFMono-Regular"/>
              </a:rPr>
              <a:t>        </a:t>
            </a:r>
            <a:r>
              <a:rPr lang="en-US" altLang="zh-CN" b="0" i="1" dirty="0">
                <a:solidFill>
                  <a:srgbClr val="8F5902"/>
                </a:solidFill>
                <a:effectLst/>
                <a:latin typeface="SFMono-Regular"/>
              </a:rPr>
              <a:t>"""Update </a:t>
            </a:r>
            <a:r>
              <a:rPr lang="en-US" altLang="zh-CN" b="0" i="1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1" dirty="0">
                <a:solidFill>
                  <a:srgbClr val="8F5902"/>
                </a:solidFill>
                <a:effectLst/>
                <a:latin typeface="SFMono-Regular"/>
              </a:rPr>
              <a:t>(s,a):= </a:t>
            </a:r>
            <a:r>
              <a:rPr lang="en-US" altLang="zh-CN" b="0" i="1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1" dirty="0">
                <a:solidFill>
                  <a:srgbClr val="8F5902"/>
                </a:solidFill>
                <a:effectLst/>
                <a:latin typeface="SFMono-Regular"/>
              </a:rPr>
              <a:t>(s,a) + </a:t>
            </a:r>
            <a:r>
              <a:rPr lang="en-US" altLang="zh-CN" b="0" i="1" dirty="0" err="1">
                <a:solidFill>
                  <a:srgbClr val="8F5902"/>
                </a:solidFill>
                <a:effectLst/>
                <a:latin typeface="SFMono-Regular"/>
              </a:rPr>
              <a:t>lr</a:t>
            </a:r>
            <a:r>
              <a:rPr lang="en-US" altLang="zh-CN" b="0" i="1" dirty="0">
                <a:solidFill>
                  <a:srgbClr val="8F5902"/>
                </a:solidFill>
                <a:effectLst/>
                <a:latin typeface="SFMono-Regular"/>
              </a:rPr>
              <a:t> [R(s,a) + gamma * max </a:t>
            </a:r>
            <a:r>
              <a:rPr lang="en-US" altLang="zh-CN" b="0" i="1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1" dirty="0">
                <a:solidFill>
                  <a:srgbClr val="8F5902"/>
                </a:solidFill>
                <a:effectLst/>
                <a:latin typeface="SFMono-Regular"/>
              </a:rPr>
              <a:t>(</a:t>
            </a:r>
            <a:r>
              <a:rPr lang="en-US" altLang="zh-CN" b="0" i="1" dirty="0" err="1">
                <a:solidFill>
                  <a:srgbClr val="8F5902"/>
                </a:solidFill>
                <a:effectLst/>
                <a:latin typeface="SFMono-Regular"/>
              </a:rPr>
              <a:t>s',a</a:t>
            </a:r>
            <a:r>
              <a:rPr lang="en-US" altLang="zh-CN" b="0" i="1" dirty="0">
                <a:solidFill>
                  <a:srgbClr val="8F5902"/>
                </a:solidFill>
                <a:effectLst/>
                <a:latin typeface="SFMono-Regular"/>
              </a:rPr>
              <a:t>') - </a:t>
            </a:r>
            <a:r>
              <a:rPr lang="en-US" altLang="zh-CN" b="0" i="1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1" dirty="0">
                <a:solidFill>
                  <a:srgbClr val="8F5902"/>
                </a:solidFill>
                <a:effectLst/>
                <a:latin typeface="SFMono-Regular"/>
              </a:rPr>
              <a:t>(s,a)]"""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delta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reward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   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+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 err="1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 err="1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SFMono-Regular"/>
              </a:rPr>
              <a:t>gamma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*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SFMono-Regular"/>
              </a:rPr>
              <a:t>np</a:t>
            </a:r>
            <a:r>
              <a:rPr lang="en-US" altLang="zh-CN" b="1" i="0" dirty="0" err="1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SFMono-Regular"/>
              </a:rPr>
              <a:t>max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altLang="zh-CN" b="0" i="0" dirty="0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table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[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new_state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:])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   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-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table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[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]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)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</a:t>
            </a:r>
            <a:r>
              <a:rPr lang="en-US" altLang="zh-CN" b="0" i="0" dirty="0" err="1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SFMono-Regular"/>
              </a:rPr>
              <a:t>_update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=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table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[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state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,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action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SFMono-Regular"/>
              </a:rPr>
              <a:t>]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+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 err="1">
                <a:solidFill>
                  <a:srgbClr val="3465A4"/>
                </a:solidFill>
                <a:effectLst/>
                <a:latin typeface="SFMono-Regular"/>
              </a:rPr>
              <a:t>self</a:t>
            </a:r>
            <a:r>
              <a:rPr lang="en-US" altLang="zh-CN" b="1" i="0" dirty="0" err="1">
                <a:solidFill>
                  <a:srgbClr val="CE5C00"/>
                </a:solidFill>
                <a:effectLst/>
                <a:latin typeface="SFMono-Regular"/>
              </a:rPr>
              <a:t>.</a:t>
            </a:r>
            <a:r>
              <a:rPr lang="en-US" altLang="zh-CN" b="0" i="0" dirty="0" err="1">
                <a:solidFill>
                  <a:srgbClr val="202123"/>
                </a:solidFill>
                <a:effectLst/>
                <a:latin typeface="SFMono-Regular"/>
              </a:rPr>
              <a:t>learning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SFMono-Regular"/>
              </a:rPr>
              <a:t>_rate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1" i="0" dirty="0">
                <a:solidFill>
                  <a:srgbClr val="CE5C00"/>
                </a:solidFill>
                <a:effectLst/>
                <a:latin typeface="SFMono-Regular"/>
              </a:rPr>
              <a:t>*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SFMono-Regular"/>
              </a:rPr>
              <a:t>delta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pPr algn="l">
              <a:buNone/>
            </a:pP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       </a:t>
            </a:r>
            <a:r>
              <a:rPr lang="en-US" altLang="zh-CN" b="1" i="0" dirty="0">
                <a:solidFill>
                  <a:srgbClr val="204A87"/>
                </a:solidFill>
                <a:effectLst/>
                <a:latin typeface="SFMono-Regular"/>
              </a:rPr>
              <a:t>return</a:t>
            </a:r>
            <a:r>
              <a:rPr lang="en-US" altLang="zh-CN" b="0" i="0" dirty="0">
                <a:solidFill>
                  <a:srgbClr val="202123"/>
                </a:solidFill>
                <a:effectLst/>
                <a:latin typeface="SFMono-Regular"/>
              </a:rPr>
              <a:t> </a:t>
            </a:r>
            <a:r>
              <a:rPr lang="en-US" altLang="zh-CN" b="0" i="0" dirty="0" err="1">
                <a:solidFill>
                  <a:srgbClr val="202123"/>
                </a:solidFill>
                <a:effectLst/>
                <a:latin typeface="SFMono-Regular"/>
              </a:rPr>
              <a:t>q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SFMono-Regular"/>
              </a:rPr>
              <a:t>_update</a:t>
            </a:r>
            <a:endParaRPr lang="en-US" altLang="zh-CN" b="0" i="0" dirty="0">
              <a:solidFill>
                <a:srgbClr val="202123"/>
              </a:solidFill>
              <a:effectLst/>
              <a:latin typeface="SFMono-Regular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456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1513</Words>
  <Application>Microsoft Office PowerPoint</Application>
  <PresentationFormat>宽屏</PresentationFormat>
  <Paragraphs>186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SFMono-Regular</vt:lpstr>
      <vt:lpstr>等线</vt:lpstr>
      <vt:lpstr>等线 Light</vt:lpstr>
      <vt:lpstr>Arial</vt:lpstr>
      <vt:lpstr>Cambria Math</vt:lpstr>
      <vt:lpstr>Office 主题​​</vt:lpstr>
      <vt:lpstr>【零基础友好】 从强化学习基本概念 到Q-learning算法与代码 </vt:lpstr>
      <vt:lpstr>主要内容</vt:lpstr>
      <vt:lpstr>Grid-World Example</vt:lpstr>
      <vt:lpstr>基本概念</vt:lpstr>
      <vt:lpstr>基本概念</vt:lpstr>
      <vt:lpstr>基本概念</vt:lpstr>
      <vt:lpstr>state value与action value</vt:lpstr>
      <vt:lpstr>最优策略</vt:lpstr>
      <vt:lpstr>强化学习</vt:lpstr>
      <vt:lpstr>贝尔曼公式</vt:lpstr>
      <vt:lpstr>贝尔曼公式</vt:lpstr>
      <vt:lpstr>贝尔曼最优公式</vt:lpstr>
      <vt:lpstr>贝尔曼最优公式</vt:lpstr>
      <vt:lpstr>Q-learning算法</vt:lpstr>
      <vt:lpstr>Q-learning的步骤</vt:lpstr>
      <vt:lpstr>初始化Q表 初始化为全0</vt:lpstr>
      <vt:lpstr>以ε的概率探索 以1-ε的概率利用</vt:lpstr>
      <vt:lpstr>不断执行动作，获得环境反馈</vt:lpstr>
      <vt:lpstr>利用更新公式来更新表格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11</cp:revision>
  <dcterms:created xsi:type="dcterms:W3CDTF">2025-10-03T07:06:15Z</dcterms:created>
  <dcterms:modified xsi:type="dcterms:W3CDTF">2025-10-07T14:34:38Z</dcterms:modified>
</cp:coreProperties>
</file>