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4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8E60D-AC7C-4B9E-9270-2C609E917DB2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0EBD4-6EAC-4D33-BB8F-92DC04BB4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41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0EBD4-6EAC-4D33-BB8F-92DC04BB4F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149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47012-161E-6907-D208-3D1DE0235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EEAD56-0056-08E0-ABB8-6FB9EAA43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CC79F-9BC1-C17B-3387-69D1E815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5721EB-3AC4-F722-EA4B-2FAFC435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D4CBEC-2772-71E1-382B-08F18ABF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645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4F841-DD9C-DC64-813C-FB6432F5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36B9A5-BBE2-A3C6-3075-42308D902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AD0D2A-6031-67E0-A615-F5EE3D3C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AD0A-E38C-9FC7-CEB1-3849C76B2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3B54E-5952-9F54-24AB-85A2F38B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83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70951-B62E-CEA5-7CBD-499AF3DA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259C3-834A-D7DF-8803-B258C906E6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EECA9-96C1-25B1-0BBD-D0552CDF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F90E00-F33A-39E4-0428-2B4E21AC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F67EE-D184-9BC4-E73A-E263CDF8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493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31EDD-1E50-0733-6193-43486C14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531E98-6AFA-BF05-E962-2A383E817A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50C5B0-0BFA-D6CE-F1B8-BA772942E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A99294-13B7-84BE-4CB3-FC17AA81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B514C1-458D-E8E7-9ED4-BF7902396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6673C4-C0DF-5098-6DE2-8EF1A0E8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3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E93AC-D634-BF22-C35F-C15A8F2A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D61F97-EE7B-6109-7DA8-78111128E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938438-430C-2D92-51A2-328AC2774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F7BB45-78B9-33BB-7832-41854EB0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EBF70D-3237-B174-E0B9-5A48C6DAF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5894E3-E801-0B00-29CB-72EA0393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1CD7C1-255B-D42D-2B8F-9B23105AA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ED81CDD-F697-E6E0-6077-161E161C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210BA-4D01-181F-978F-FBDCAC6D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4A7539-4825-E8C4-ED9D-597930E0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28ADBD-BCA0-C5B1-1CE1-498AC9BE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97A459-D9D7-9D9F-4056-4939949A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493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5B607F-28ED-83DD-D527-09574939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B54E07-022A-3B37-C166-434BA4E35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32CB0F-EFD7-7BD8-6ACF-7373B6F2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21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1C0C5-5658-4880-1682-AD60D679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FEAFD3-C288-47F0-CB13-90B2D2656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EDFDEA-1CF1-92C1-95BB-B816185FB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DF1B49-2018-E547-05C0-675185C89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CE09E-532E-7779-6F7D-E8FB493D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DE0C7C-1D63-A5F7-E5CF-3981885C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46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A1ED5-CD2E-6C5C-F5C8-A4F50844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FB12D9-5A7E-57B5-CA07-B26B4FC8E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3E5BA0-6284-762A-DC3B-2EE4F1CA2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82F95A-C46A-5672-E6CF-DE0525B2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1D0039-A948-D795-23DC-F6061B6D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455AEE-2B84-7295-D448-F456EF75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90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63EAC-25D7-3CF3-0FAF-A28522A9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A56092-2E0C-B06D-9918-9C2EA6BA1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DBA15B-63E8-A87B-EB39-B386E4A8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9C2143-4485-00F4-2A4B-1E55FFC7B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FC160-5E24-208D-F8F8-E74FEBAF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0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37D609-D218-B597-70B2-C3D583FC7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2F0CAB-0CD8-B9AF-EE45-2F8F23155A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6CC6DA-7358-1EEE-BF7F-9A3D318F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5E7677-0638-9096-9B5A-6AFACF1C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0D3ED-7836-7A98-E0F8-D2FED67FE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08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796CC9A-BB39-6041-AA16-DB1ACF0A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21B97-9702-5379-0FF8-36B3A84E6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BBEA38-974E-32E2-D988-FD6183019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0E7AC-8372-4F7F-A7C7-13A1E7F578AC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DE70F5-88C4-E466-29CD-031745477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56602-9AEF-1625-FC68-32D7F8DAC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8E169-A28B-489E-879C-CBCEFD9E6F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36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A9338-6395-19A0-765B-08F9A0AA4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7200" dirty="0"/>
              <a:t>从</a:t>
            </a:r>
            <a:r>
              <a:rPr lang="en-US" altLang="zh-CN" sz="7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AC</a:t>
            </a:r>
            <a:r>
              <a:rPr lang="zh-CN" altLang="en-US" sz="7200" dirty="0"/>
              <a:t>到</a:t>
            </a:r>
            <a:r>
              <a:rPr lang="en-US" altLang="zh-CN" sz="7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A2C</a:t>
            </a:r>
            <a:br>
              <a:rPr lang="en-US" altLang="zh-CN" sz="7200" dirty="0"/>
            </a:br>
            <a:r>
              <a:rPr lang="en-US" altLang="zh-CN" sz="72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Actor-Critic</a:t>
            </a:r>
            <a:r>
              <a:rPr lang="zh-CN" altLang="en-US" sz="72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算法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798656-61DB-C3CD-CA3C-B5DEE5F64F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216075-12C5-4936-1FBC-D04682620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608" y="4304439"/>
            <a:ext cx="2102784" cy="156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00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C0272-FE6E-BFAD-81F1-90101CD5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6CEA85-E35F-B35A-8DAF-82E5CE3D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Reinforce</a:t>
            </a:r>
            <a:r>
              <a:rPr lang="zh-CN" altLang="en-US" dirty="0"/>
              <a:t>算法的问题</a:t>
            </a:r>
            <a:endParaRPr lang="en-US" altLang="zh-CN" dirty="0"/>
          </a:p>
          <a:p>
            <a:r>
              <a:rPr lang="zh-CN" altLang="en-US" dirty="0"/>
              <a:t>基于</a:t>
            </a:r>
            <a:r>
              <a:rPr lang="en-US" altLang="zh-CN" dirty="0"/>
              <a:t>Q</a:t>
            </a:r>
            <a:r>
              <a:rPr lang="zh-CN" altLang="en-US" dirty="0"/>
              <a:t>值的</a:t>
            </a:r>
            <a:r>
              <a:rPr lang="en-US" altLang="zh-CN" dirty="0"/>
              <a:t>Actor-Critic</a:t>
            </a:r>
            <a:r>
              <a:rPr lang="zh-CN" altLang="en-US" dirty="0"/>
              <a:t>算法</a:t>
            </a:r>
            <a:endParaRPr lang="en-US" altLang="zh-CN" dirty="0"/>
          </a:p>
          <a:p>
            <a:r>
              <a:rPr lang="en-US" altLang="zh-CN" dirty="0"/>
              <a:t>Advantage Actor-Critic</a:t>
            </a:r>
            <a:r>
              <a:rPr lang="zh-CN" altLang="en-US" dirty="0"/>
              <a:t>算法（</a:t>
            </a:r>
            <a:r>
              <a:rPr lang="en-US" altLang="zh-CN" dirty="0"/>
              <a:t>A2C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On-policy Off-policy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23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7EE863-DA4B-FB19-DE03-3702D1AC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Reinforce</a:t>
            </a:r>
            <a:r>
              <a:rPr lang="zh-CN" altLang="en-US" dirty="0"/>
              <a:t>算法的问题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D5B67B-636C-7208-A3CD-4A11DCDF2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15818"/>
          </a:xfrm>
        </p:spPr>
        <p:txBody>
          <a:bodyPr/>
          <a:lstStyle/>
          <a:p>
            <a:r>
              <a:rPr lang="zh-CN" altLang="en-US" dirty="0"/>
              <a:t>方差大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无偏性的必然结果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它没有估算回报，采样的是每条轨迹的真实回报</a:t>
            </a:r>
            <a:endParaRPr lang="en-US" altLang="zh-CN" dirty="0"/>
          </a:p>
          <a:p>
            <a:r>
              <a:rPr lang="zh-CN" altLang="en-US" dirty="0"/>
              <a:t>机器学习里的偏差与方差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欠拟合：高偏差   过拟合：高方差</a:t>
            </a:r>
            <a:endParaRPr lang="en-US" altLang="zh-CN" dirty="0"/>
          </a:p>
          <a:p>
            <a:r>
              <a:rPr lang="zh-CN" altLang="en-US" dirty="0"/>
              <a:t>强化学习里的偏差与方差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Q-learning</a:t>
            </a:r>
          </a:p>
          <a:p>
            <a:pPr marL="0" indent="0">
              <a:buNone/>
            </a:pPr>
            <a:r>
              <a:rPr lang="en-US" altLang="zh-CN" dirty="0"/>
              <a:t>	Reinforce</a:t>
            </a:r>
            <a:r>
              <a:rPr lang="zh-CN" altLang="en-US" dirty="0"/>
              <a:t>算法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903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92BAF-B96A-92AC-600A-626DF6E3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Reinforce</a:t>
            </a:r>
            <a:r>
              <a:rPr lang="zh-CN" altLang="en-US" dirty="0"/>
              <a:t>算法的问题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33270-991F-DC97-088C-136E6EC6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必须等轨迹结束才能更新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必须等一个</a:t>
            </a:r>
            <a:r>
              <a:rPr lang="en-US" altLang="zh-CN" dirty="0"/>
              <a:t>episode</a:t>
            </a:r>
            <a:r>
              <a:rPr lang="zh-CN" altLang="en-US" dirty="0"/>
              <a:t>结束才能求</a:t>
            </a:r>
            <a:r>
              <a:rPr lang="en-US" altLang="zh-CN" dirty="0"/>
              <a:t>return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要求任务是有限步的</a:t>
            </a:r>
            <a:endParaRPr lang="en-US" altLang="zh-CN" dirty="0"/>
          </a:p>
          <a:p>
            <a:r>
              <a:rPr lang="zh-CN" altLang="en-US" dirty="0"/>
              <a:t>如果任务是无限步的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就无法使用</a:t>
            </a:r>
            <a:r>
              <a:rPr lang="en-US" altLang="zh-CN" dirty="0"/>
              <a:t>Reinforce</a:t>
            </a:r>
            <a:r>
              <a:rPr lang="zh-CN" altLang="en-US" dirty="0"/>
              <a:t>算法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CDB6A6C-FBF4-C39B-A602-E46E1B7A6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354" y="3854822"/>
            <a:ext cx="2048057" cy="163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DCDEE-41DE-DB32-2514-03CA84EC0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Actor-Critic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FF5F1B-5BDA-2A74-D1E5-67EE9F973B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42820"/>
              </a:xfrm>
            </p:spPr>
            <p:txBody>
              <a:bodyPr/>
              <a:lstStyle/>
              <a:p>
                <a:r>
                  <a:rPr lang="zh-CN" altLang="en-US" dirty="0"/>
                  <a:t>用价值函数来替代</a:t>
                </a:r>
                <a:r>
                  <a:rPr lang="en-US" altLang="zh-CN" dirty="0" err="1"/>
                  <a:t>MonteCarlo</a:t>
                </a:r>
                <a:r>
                  <a:rPr lang="zh-CN" altLang="en-US" dirty="0"/>
                  <a:t>采样的总</a:t>
                </a:r>
                <a:r>
                  <a:rPr lang="en-US" altLang="zh-CN" dirty="0"/>
                  <a:t>return</a:t>
                </a:r>
                <a:r>
                  <a:rPr lang="zh-CN" altLang="en-US" dirty="0"/>
                  <a:t>，指导策略更新</a:t>
                </a:r>
                <a:endParaRPr lang="en-US" altLang="zh-CN" dirty="0"/>
              </a:p>
              <a:p>
                <a:r>
                  <a:rPr lang="en-US" altLang="zh-CN" dirty="0"/>
                  <a:t>Actor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选动作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是一个由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zh-CN" altLang="en-US" dirty="0"/>
                  <a:t>参数化的策略函数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Critic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评价动作的好坏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用评估结果指导</a:t>
                </a:r>
                <a:r>
                  <a:rPr lang="en-US" altLang="zh-CN" dirty="0"/>
                  <a:t>actor</a:t>
                </a:r>
                <a:r>
                  <a:rPr lang="zh-CN" altLang="en-US" dirty="0"/>
                  <a:t>改进策略</a:t>
                </a:r>
                <a:endParaRPr lang="en-US" altLang="zh-CN" dirty="0"/>
              </a:p>
              <a:p>
                <a:r>
                  <a:rPr lang="zh-CN" altLang="en-US" dirty="0"/>
                  <a:t>如果</a:t>
                </a:r>
                <a:r>
                  <a:rPr lang="en-US" altLang="zh-CN" dirty="0"/>
                  <a:t>Critic</a:t>
                </a:r>
                <a:r>
                  <a:rPr lang="zh-CN" altLang="en-US" dirty="0"/>
                  <a:t>用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值来计算误差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则定义为基于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值的</a:t>
                </a:r>
                <a:r>
                  <a:rPr lang="en-US" altLang="zh-CN" dirty="0"/>
                  <a:t>Actor-Critic</a:t>
                </a:r>
                <a:r>
                  <a:rPr lang="zh-CN" altLang="en-US" dirty="0"/>
                  <a:t>算法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3FF5F1B-5BDA-2A74-D1E5-67EE9F973B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42820"/>
              </a:xfrm>
              <a:blipFill>
                <a:blip r:embed="rId2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0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5B616-71E3-3064-B1B0-7343E1D3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Q</a:t>
            </a:r>
            <a:r>
              <a:rPr lang="zh-CN" altLang="en-US" dirty="0"/>
              <a:t>值的</a:t>
            </a:r>
            <a:r>
              <a:rPr lang="en-US" altLang="zh-CN" dirty="0"/>
              <a:t>Actor-Critic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E40386-B370-507B-8A1C-6BDF8255B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3576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Critic</a:t>
                </a:r>
                <a:r>
                  <a:rPr lang="zh-CN" altLang="en-US" dirty="0"/>
                  <a:t>为价值网络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学习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值，逼近真实的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en-US" altLang="zh-CN" dirty="0"/>
                  <a:t>Q-learning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TD </a:t>
                </a:r>
                <a:r>
                  <a:rPr lang="en-US" altLang="zh-CN" dirty="0"/>
                  <a:t>target: rₜ + </a:t>
                </a:r>
                <a:r>
                  <a:rPr lang="el-GR" altLang="zh-CN" dirty="0"/>
                  <a:t>γ</a:t>
                </a:r>
                <a:r>
                  <a:rPr lang="zh-CN" altLang="el-GR" dirty="0"/>
                  <a:t>・</a:t>
                </a:r>
                <a:r>
                  <a:rPr lang="en-US" altLang="zh-CN" dirty="0"/>
                  <a:t>maxQ (sₜ₊₁,a’;w)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	TD error: </a:t>
                </a:r>
                <a:r>
                  <a:rPr lang="en-US" altLang="zh-CN" dirty="0"/>
                  <a:t>rₜ + </a:t>
                </a:r>
                <a:r>
                  <a:rPr lang="el-GR" altLang="zh-CN" dirty="0"/>
                  <a:t>γ</a:t>
                </a:r>
                <a:r>
                  <a:rPr lang="zh-CN" altLang="el-GR" dirty="0"/>
                  <a:t>・</a:t>
                </a:r>
                <a:r>
                  <a:rPr lang="en-US" altLang="zh-CN" dirty="0"/>
                  <a:t>maxQ (sₜ₊₁,a’;w)-Q (</a:t>
                </a:r>
                <a:r>
                  <a:rPr lang="en-US" altLang="zh-CN" dirty="0" err="1"/>
                  <a:t>sₜ,a</a:t>
                </a:r>
                <a:r>
                  <a:rPr lang="en-US" altLang="zh-CN" dirty="0"/>
                  <a:t>ₜ;w)</a:t>
                </a:r>
                <a:endParaRPr lang="en-US" altLang="zh-CN" b="0" dirty="0"/>
              </a:p>
              <a:p>
                <a:r>
                  <a:rPr lang="zh-CN" altLang="en-US" dirty="0"/>
                  <a:t>基于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值的</a:t>
                </a:r>
                <a:r>
                  <a:rPr lang="en-US" altLang="zh-CN" dirty="0"/>
                  <a:t>AC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TD target: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rₜ + </a:t>
                </a:r>
                <a:r>
                  <a:rPr lang="el-GR" altLang="zh-CN" dirty="0"/>
                  <a:t>γ</a:t>
                </a:r>
                <a:r>
                  <a:rPr lang="zh-CN" altLang="el-GR" dirty="0"/>
                  <a:t>・</a:t>
                </a:r>
                <a:r>
                  <a:rPr lang="en-US" altLang="zh-CN" dirty="0"/>
                  <a:t>q (sₜ₊₁,aₜ₊₁;w)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 TD error: rₜ + </a:t>
                </a:r>
                <a:r>
                  <a:rPr lang="el-GR" altLang="zh-CN" dirty="0"/>
                  <a:t>γ</a:t>
                </a:r>
                <a:r>
                  <a:rPr lang="zh-CN" altLang="el-GR" dirty="0"/>
                  <a:t>・</a:t>
                </a:r>
                <a:r>
                  <a:rPr lang="en-US" altLang="zh-CN" dirty="0"/>
                  <a:t>q (sₜ₊₁,aₜ₊₁;w)- Q (</a:t>
                </a:r>
                <a:r>
                  <a:rPr lang="en-US" altLang="zh-CN" dirty="0" err="1"/>
                  <a:t>sₜ,a</a:t>
                </a:r>
                <a:r>
                  <a:rPr lang="en-US" altLang="zh-CN" dirty="0"/>
                  <a:t>ₜ;w)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E40386-B370-507B-8A1C-6BDF8255B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357600"/>
              </a:xfrm>
              <a:blipFill>
                <a:blip r:embed="rId2"/>
                <a:stretch>
                  <a:fillRect l="-1043" t="-2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3FBF495-5C10-A9BF-3570-39E5565FB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375" y="2057400"/>
            <a:ext cx="16573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7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BF752-662F-CFB7-6641-9A071432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QAC</a:t>
            </a:r>
            <a:r>
              <a:rPr lang="zh-CN" altLang="en-US" dirty="0"/>
              <a:t>的流程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E9AC3-0A35-0D8C-57D2-002228A9C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74416"/>
          </a:xfrm>
        </p:spPr>
        <p:txBody>
          <a:bodyPr/>
          <a:lstStyle/>
          <a:p>
            <a:r>
              <a:rPr lang="en-US" altLang="zh-CN" dirty="0"/>
              <a:t>Actor</a:t>
            </a:r>
            <a:r>
              <a:rPr lang="zh-CN" altLang="en-US" dirty="0"/>
              <a:t>观测当前状态，按照当前策略随机执行一个动作</a:t>
            </a:r>
            <a:endParaRPr lang="en-US" altLang="zh-CN" dirty="0"/>
          </a:p>
          <a:p>
            <a:r>
              <a:rPr lang="en-US" altLang="zh-CN" dirty="0"/>
              <a:t>Agent</a:t>
            </a:r>
            <a:r>
              <a:rPr lang="zh-CN" altLang="en-US" dirty="0"/>
              <a:t>从环境获取即时反馈</a:t>
            </a:r>
            <a:endParaRPr lang="en-US" altLang="zh-CN" dirty="0"/>
          </a:p>
          <a:p>
            <a:r>
              <a:rPr lang="en-US" altLang="zh-CN" dirty="0"/>
              <a:t>Actor</a:t>
            </a:r>
            <a:r>
              <a:rPr lang="zh-CN" altLang="en-US" dirty="0"/>
              <a:t>按照当前的策略网络随机采样一个动作</a:t>
            </a:r>
            <a:endParaRPr lang="en-US" altLang="zh-CN" dirty="0"/>
          </a:p>
          <a:p>
            <a:r>
              <a:rPr lang="en-US" altLang="zh-CN" dirty="0"/>
              <a:t>Critic</a:t>
            </a:r>
            <a:r>
              <a:rPr lang="zh-CN" altLang="en-US" dirty="0"/>
              <a:t>用当前价值网络计算：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当前状态动作对的估计价值</a:t>
            </a:r>
            <a:r>
              <a:rPr lang="en-US" altLang="zh-CN" dirty="0"/>
              <a:t>q̂ₜ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下一个状态动作对的估计价值</a:t>
            </a:r>
            <a:r>
              <a:rPr lang="en-US" altLang="zh-CN" dirty="0"/>
              <a:t>q̂ₜ₊₁</a:t>
            </a:r>
          </a:p>
          <a:p>
            <a:r>
              <a:rPr lang="zh-CN" altLang="en-US" dirty="0"/>
              <a:t>计算</a:t>
            </a:r>
            <a:r>
              <a:rPr lang="cy-GB" altLang="zh-CN" dirty="0"/>
              <a:t>TD Target</a:t>
            </a:r>
            <a:r>
              <a:rPr lang="zh-CN" altLang="cy-GB" dirty="0"/>
              <a:t>：</a:t>
            </a:r>
            <a:r>
              <a:rPr lang="cy-GB" altLang="zh-CN" dirty="0"/>
              <a:t>ŷₜ = rₜ + </a:t>
            </a:r>
            <a:r>
              <a:rPr lang="el-GR" altLang="zh-CN" dirty="0"/>
              <a:t>γ</a:t>
            </a:r>
            <a:r>
              <a:rPr lang="zh-CN" altLang="el-GR" dirty="0"/>
              <a:t>・</a:t>
            </a:r>
            <a:r>
              <a:rPr lang="cy-GB" altLang="zh-CN" dirty="0"/>
              <a:t>q̂ₜ₊₁</a:t>
            </a:r>
          </a:p>
          <a:p>
            <a:pPr marL="0" indent="0">
              <a:buNone/>
            </a:pPr>
            <a:r>
              <a:rPr lang="cy-GB" altLang="zh-CN" dirty="0"/>
              <a:t>	TD Error</a:t>
            </a:r>
            <a:r>
              <a:rPr lang="zh-CN" altLang="cy-GB" dirty="0"/>
              <a:t>：</a:t>
            </a:r>
            <a:r>
              <a:rPr lang="el-GR" altLang="zh-CN" dirty="0"/>
              <a:t>δ</a:t>
            </a:r>
            <a:r>
              <a:rPr lang="cy-GB" altLang="zh-CN" dirty="0"/>
              <a:t>ₜ = q̂ₜ - ŷₜ</a:t>
            </a:r>
            <a:endParaRPr lang="en-US" altLang="zh-CN" dirty="0"/>
          </a:p>
          <a:p>
            <a:r>
              <a:rPr lang="zh-CN" altLang="en-US" dirty="0"/>
              <a:t>梯度下降，更新参数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653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3CCA4-6450-66B8-DC95-1B545BF8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On-policy Off-policy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769C57-A6F2-F4AE-E4ED-90606712D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348173"/>
          </a:xfrm>
        </p:spPr>
        <p:txBody>
          <a:bodyPr/>
          <a:lstStyle/>
          <a:p>
            <a:r>
              <a:rPr lang="en-US" altLang="zh-CN" dirty="0"/>
              <a:t>on-policy: the target and the behavior polices are the same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产出数据的策略和用这批数据做更新的策略是同一个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智能体一边用某个策略与环境互动、产生行动，一边直接用这些自己刚做的行动和反馈来更新这个策略</a:t>
            </a:r>
            <a:endParaRPr lang="en-US" altLang="zh-CN" dirty="0"/>
          </a:p>
          <a:p>
            <a:r>
              <a:rPr lang="en-US" altLang="zh-CN" dirty="0"/>
              <a:t>off-policy: the learning is from the data off the target policy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产出数据的策略和用这批数据做更新的策略不是同一个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学习时只关注最优可能的行动反馈，或者直接用其他策略的数据来更新目标策略</a:t>
            </a:r>
            <a:endParaRPr lang="en-US" altLang="zh-CN" dirty="0"/>
          </a:p>
          <a:p>
            <a:r>
              <a:rPr lang="en-US" altLang="zh-CN" dirty="0"/>
              <a:t>Actor-Critic</a:t>
            </a:r>
            <a:r>
              <a:rPr lang="zh-CN" altLang="en-US" dirty="0"/>
              <a:t>属于</a:t>
            </a:r>
            <a:r>
              <a:rPr lang="en-US" altLang="zh-CN" dirty="0"/>
              <a:t>on-policy</a:t>
            </a:r>
          </a:p>
        </p:txBody>
      </p:sp>
    </p:spTree>
    <p:extLst>
      <p:ext uri="{BB962C8B-B14F-4D97-AF65-F5344CB8AC3E}">
        <p14:creationId xmlns:p14="http://schemas.microsoft.com/office/powerpoint/2010/main" val="370528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EE5D5-B806-2E8F-29E4-45C7CC01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Advantage Actor-Critic</a:t>
            </a:r>
            <a:r>
              <a:rPr lang="zh-CN" altLang="en-US" dirty="0"/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E81ACA-3466-3FAC-7715-A985B0ACD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282185"/>
              </a:xfrm>
            </p:spPr>
            <p:txBody>
              <a:bodyPr/>
              <a:lstStyle/>
              <a:p>
                <a:r>
                  <a:rPr lang="en-US" altLang="zh-CN" dirty="0"/>
                  <a:t>A2C</a:t>
                </a:r>
              </a:p>
              <a:p>
                <a:r>
                  <a:rPr lang="zh-CN" altLang="en-US" dirty="0"/>
                  <a:t>通过优势函数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状态 </a:t>
                </a:r>
                <a:r>
                  <a:rPr lang="en-US" altLang="zh-CN" dirty="0"/>
                  <a:t>s </a:t>
                </a:r>
                <a:r>
                  <a:rPr lang="zh-CN" altLang="en-US" dirty="0"/>
                  <a:t>下选动作 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，比状态 </a:t>
                </a:r>
                <a:r>
                  <a:rPr lang="en-US" altLang="zh-CN" dirty="0"/>
                  <a:t>s </a:t>
                </a:r>
                <a:r>
                  <a:rPr lang="zh-CN" altLang="en-US" dirty="0"/>
                  <a:t>的平均动作价值好多少</a:t>
                </a:r>
                <a:endParaRPr lang="en-US" altLang="zh-CN" dirty="0"/>
              </a:p>
              <a:p>
                <a:r>
                  <a:rPr lang="zh-CN" altLang="en-US" b="0" dirty="0"/>
                  <a:t>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dirty="0"/>
                  <a:t>来近似</a:t>
                </a:r>
                <a:r>
                  <a:rPr lang="en-US" altLang="zh-CN" b="0" dirty="0"/>
                  <a:t>Q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预测误差可以写成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为正，说明当前</a:t>
                </a:r>
                <a:r>
                  <a:rPr lang="en-US" altLang="zh-CN" b="0" dirty="0"/>
                  <a:t>action</a:t>
                </a:r>
                <a:r>
                  <a:rPr lang="zh-CN" altLang="en-US" b="0" dirty="0"/>
                  <a:t>不错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b="0" dirty="0"/>
                  <a:t>为负，说明当前</a:t>
                </a:r>
                <a:r>
                  <a:rPr lang="en-US" altLang="zh-CN" b="0" dirty="0"/>
                  <a:t>action</a:t>
                </a:r>
                <a:r>
                  <a:rPr lang="zh-CN" altLang="en-US" b="0" dirty="0"/>
                  <a:t>不太行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E81ACA-3466-3FAC-7715-A985B0ACD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282185"/>
              </a:xfrm>
              <a:blipFill>
                <a:blip r:embed="rId2"/>
                <a:stretch>
                  <a:fillRect l="-1043" t="-2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34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D1B24-766B-5696-2AEA-2EFF5527E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Critic</a:t>
            </a:r>
            <a:r>
              <a:rPr lang="zh-CN" altLang="en-US" dirty="0"/>
              <a:t>的目标：让自己的预测更准确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034053-7EC8-2780-7781-7871C9EA9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Critic</a:t>
                </a:r>
                <a:r>
                  <a:rPr lang="zh-CN" altLang="en-US" dirty="0"/>
                  <a:t>不断修正自己的估计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来让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最小化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这意味着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可以更精确表示从状态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出发的实际回报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批评家的评价越准确，演员的动作调整才越正确</a:t>
                </a:r>
                <a:endParaRPr lang="en-US" altLang="zh-CN" dirty="0"/>
              </a:p>
              <a:p>
                <a:r>
                  <a:rPr lang="zh-CN" altLang="en-US" dirty="0"/>
                  <a:t>如何让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dirty="0"/>
                  <a:t>最小化？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求损失函数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求梯度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梯度下降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034053-7EC8-2780-7781-7871C9EA9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988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56661-974D-CFE5-03E8-F66A8717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损失函数求梯度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38A7B3-10A9-819A-45F8-A2216EC97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224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平方损失误差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接下来使用梯度下降来更新参数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b="0" dirty="0"/>
                  <a:t>衡量的是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参数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b="0" dirty="0"/>
                  <a:t>调整时动作选择概率的变化率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38A7B3-10A9-819A-45F8-A2216EC97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2247"/>
              </a:xfrm>
              <a:blipFill>
                <a:blip r:embed="rId2"/>
                <a:stretch>
                  <a:fillRect l="-1043" t="-2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5AB03C8B-2785-4316-9ACD-30DFA50E2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640" y="4249271"/>
            <a:ext cx="2469426" cy="13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2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739</Words>
  <Application>Microsoft Office PowerPoint</Application>
  <PresentationFormat>宽屏</PresentationFormat>
  <Paragraphs>89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 Unicode MS</vt:lpstr>
      <vt:lpstr>Noto Sans SC Black</vt:lpstr>
      <vt:lpstr>等线</vt:lpstr>
      <vt:lpstr>等线 Light</vt:lpstr>
      <vt:lpstr>Arial</vt:lpstr>
      <vt:lpstr>Cambria Math</vt:lpstr>
      <vt:lpstr>Office 主题​​</vt:lpstr>
      <vt:lpstr>从AC到A2C Actor-Critic算法</vt:lpstr>
      <vt:lpstr>主要内容</vt:lpstr>
      <vt:lpstr>Reinforce算法的问题</vt:lpstr>
      <vt:lpstr>Reinforce算法的问题</vt:lpstr>
      <vt:lpstr>Actor-Critic算法</vt:lpstr>
      <vt:lpstr>基于Q值的Actor-Critic算法</vt:lpstr>
      <vt:lpstr>QAC的流程</vt:lpstr>
      <vt:lpstr>On-policy Off-policy</vt:lpstr>
      <vt:lpstr>Advantage Actor-Critic算法</vt:lpstr>
      <vt:lpstr>Critic的目标：让自己的预测更准确</vt:lpstr>
      <vt:lpstr>损失函数求梯度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9</cp:revision>
  <dcterms:created xsi:type="dcterms:W3CDTF">2025-10-15T01:50:07Z</dcterms:created>
  <dcterms:modified xsi:type="dcterms:W3CDTF">2025-10-16T03:21:33Z</dcterms:modified>
</cp:coreProperties>
</file>