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8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39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DA2414-E952-4CAE-84B6-997D34CF1D91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67C7E-5050-4C29-8EE7-0CAC0C84E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441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167C7E-5050-4C29-8EE7-0CAC0C84E2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03981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4E183D-2E57-E4B4-4D21-B85F7420C1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C4A10C3-ED0C-7E3D-0888-A431349D87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83563F-E1D6-711D-9639-F54EFFAB5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3638DD-BC61-13C8-79B7-80D7F1E3C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53033D-7A91-DFA7-5D93-0E2D4CB6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6163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AEBF0-9434-8AFD-F10E-AFA57F9B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3B3BF2-7B9E-5E35-808A-987D8C46F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F95544-B2D7-2B5A-15C5-85DC448CA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2E2880-CCD3-B8D1-379C-63B1DCC6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A2BB15-EA1B-FA26-6007-F996E8AA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3346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C411E6-C330-75B6-3C1F-17A3D5748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3ABC70A-A6AE-FFBF-24AD-473BC7A75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1914E-A778-9D10-EE44-ED33312B1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A75E1A-E949-3D03-5756-5679A5C57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33AA41-D720-47A2-0016-942DF5E94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159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7DA7D8-A105-BA9D-7214-AA6147DAB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6AE9B0-EC0F-75E0-51D8-2533AC2A4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1E7FA12-2236-ABC3-990B-A59ECF11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A544AB-C372-5F6D-11ED-B7341C0F0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3D1ED02-F654-183D-645B-EDB642BB3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4A50B0-A9E6-A9E8-6D94-1F467D958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2695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A4259-CADE-CA0A-5D62-2AAE70945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8CE7E3-BE09-901D-789F-E6F68DA43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F273761-AB02-D552-E17B-1A2941DA87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B9F4BD3-8CE2-E7C4-BEE1-BA49A1EF10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713DAB-071C-9B5E-5820-A7D146A923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BF8A87-1953-1AAB-A86D-0F1EDF474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0EA7FE0-6E7F-1C28-76F1-A497C279E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F81FB4E-010F-DD34-3F3E-283DCDBCB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103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924D91-6E37-2D59-FAEA-4A162AF63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D386B08-A19D-C6CE-84EE-41FC7924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775C72A-9653-0B65-5673-A575209F9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E68DED-DB44-9920-D6D5-31507627F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699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EC5F4E-5356-99C1-EDB8-4409C2F61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A5763F6-3638-FB7A-AA7A-2B47DA023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FA78C7-62B3-C886-C72D-893DD4FED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103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48B64A-6B4A-6FF0-60F1-387F47A59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EBA9C0-4C32-F311-2102-C99310DD01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FEA052E-605F-60DB-8484-9C20F0EC00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DB7B65-D706-4AAE-0BCA-44065670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07F886-E375-6282-AC52-35DC9EA35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B28305-CFEC-BB3C-6E31-17351F6D1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05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7D931-E7C4-839E-774C-5B1717048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867042-7C44-246A-903E-87C9F4FF7D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230657-3230-206B-7C19-2E7C32A1F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C0BCB5-E5C9-8A67-6565-0206A312B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E445B94-E320-7D7B-644B-0CDD80B5E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4C34A5-433F-80F8-4AA1-4F6ABA633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4902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F7FC12-F415-62FB-3402-97E0078EF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E898BB4-4175-27A2-B2C9-AD1D69936D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AFADCC-375E-03C4-8D30-B1613C481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C882C6-8D58-C9C6-6A5A-EDADDE55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D96F9D-E920-A617-2FAC-A76E27EE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918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A796338-F434-3E27-2ACC-2D31EEC13E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940A1C-ED32-9734-D3C7-394B9FA6DA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AE3910-7B8E-0F90-5317-149D626D0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814D13-171D-3C9C-AE52-13DE17A9D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34E274-0B73-7D0D-F7A4-6C3289CE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9405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44DEA76-850C-FECB-33AF-58A0E8669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1C8D33-DB97-B83F-749E-1CC83EBB2E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255321-6058-745E-D6AC-7E11D42CE6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9AA783-25A6-4FE2-8925-107B8FE34190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28E615-C611-4807-C0F6-6AA97B7F3B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E728E2-DDB9-1D7A-8D38-CEBB279833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B8CD6-F2FC-4BDC-9ECE-143D21EB1C9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084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gif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9.png"/><Relationship Id="rId7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382F0-DABF-899C-14D3-5CB2C6BBD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2934" y="1253772"/>
            <a:ext cx="9986128" cy="2859514"/>
          </a:xfrm>
        </p:spPr>
        <p:txBody>
          <a:bodyPr>
            <a:noAutofit/>
          </a:bodyPr>
          <a:lstStyle/>
          <a:p>
            <a:r>
              <a:rPr lang="en-US" altLang="zh-CN" sz="12000" b="1" dirty="0">
                <a:latin typeface="MS PGothic" panose="020B0600070205080204" pitchFamily="34" charset="-128"/>
                <a:ea typeface="MS PGothic" panose="020B0600070205080204" pitchFamily="34" charset="-128"/>
              </a:rPr>
              <a:t>PPO</a:t>
            </a:r>
            <a:br>
              <a:rPr lang="en-US" altLang="zh-CN" sz="9600" dirty="0"/>
            </a:br>
            <a:r>
              <a:rPr lang="zh-CN" altLang="en-US" sz="9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从零到深入</a:t>
            </a:r>
            <a:r>
              <a:rPr lang="en-US" altLang="zh-CN" sz="9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(1)</a:t>
            </a:r>
            <a:endParaRPr lang="zh-CN" altLang="en-US" sz="5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12C9F6-2C6C-6C07-56DA-520F7AC82A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4280767"/>
            <a:ext cx="9144000" cy="1655762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1BD283E-2893-85DC-5BB2-DB5044B5B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880" y="4615730"/>
            <a:ext cx="1138237" cy="985837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584F6B7-7C1A-B298-CE20-C153BE0B5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5700" y="5601567"/>
            <a:ext cx="7880596" cy="82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58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9C219-94BD-7936-469E-B00D3E461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627A87-F366-1AB6-5DB1-936C6B14A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TRPO</a:t>
            </a:r>
            <a:r>
              <a:rPr lang="zh-CN" altLang="en-US" dirty="0"/>
              <a:t>的做法</a:t>
            </a:r>
            <a:endParaRPr lang="en-US" altLang="zh-CN" dirty="0"/>
          </a:p>
          <a:p>
            <a:r>
              <a:rPr lang="en-US" altLang="zh-CN" dirty="0"/>
              <a:t>PPO</a:t>
            </a:r>
            <a:r>
              <a:rPr lang="zh-CN" altLang="en-US" dirty="0"/>
              <a:t>的改进</a:t>
            </a:r>
            <a:endParaRPr lang="en-US" altLang="zh-CN" dirty="0"/>
          </a:p>
          <a:p>
            <a:r>
              <a:rPr lang="en-US" altLang="zh-CN" dirty="0"/>
              <a:t>PPO</a:t>
            </a:r>
            <a:r>
              <a:rPr lang="zh-CN" altLang="en-US" dirty="0"/>
              <a:t>的另一种变体</a:t>
            </a:r>
            <a:endParaRPr lang="en-US" altLang="zh-CN" dirty="0"/>
          </a:p>
          <a:p>
            <a:r>
              <a:rPr lang="en-US" altLang="zh-CN" dirty="0"/>
              <a:t>Clipped Surrogate Objective function</a:t>
            </a:r>
          </a:p>
          <a:p>
            <a:r>
              <a:rPr lang="en-US" altLang="zh-CN" dirty="0"/>
              <a:t>PPO</a:t>
            </a:r>
            <a:r>
              <a:rPr lang="zh-CN" altLang="en-US" dirty="0"/>
              <a:t>里梯度的传播</a:t>
            </a:r>
            <a:endParaRPr lang="en-US" altLang="zh-CN" dirty="0"/>
          </a:p>
          <a:p>
            <a:r>
              <a:rPr lang="zh-CN" altLang="en-US" dirty="0"/>
              <a:t>直观看每一段的梯度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3E78F22-3052-956E-C4FE-626FDC3F160E}"/>
              </a:ext>
            </a:extLst>
          </p:cNvPr>
          <p:cNvSpPr txBox="1"/>
          <p:nvPr/>
        </p:nvSpPr>
        <p:spPr>
          <a:xfrm>
            <a:off x="6759018" y="440630"/>
            <a:ext cx="42232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感谢粉丝大佬</a:t>
            </a:r>
            <a:endParaRPr lang="en-US" altLang="zh-CN" sz="2800" dirty="0"/>
          </a:p>
          <a:p>
            <a:r>
              <a:rPr lang="en-US" altLang="zh-CN" sz="2800" dirty="0"/>
              <a:t>W0NDE3RFULHE4VEN</a:t>
            </a:r>
          </a:p>
          <a:p>
            <a:r>
              <a:rPr lang="zh-CN" altLang="en-US" sz="2800" dirty="0"/>
              <a:t>的高档包月充电！</a:t>
            </a:r>
            <a:endParaRPr lang="en-US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9511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1B7B5E-C70D-0355-833A-E51BA882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TRPO</a:t>
            </a:r>
            <a:r>
              <a:rPr lang="zh-CN" altLang="en-US" dirty="0"/>
              <a:t>的做法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BC98D0-9C52-24D2-BBC9-3DF9CA8FD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75731"/>
            <a:ext cx="10515600" cy="998704"/>
          </a:xfrm>
        </p:spPr>
        <p:txBody>
          <a:bodyPr>
            <a:normAutofit/>
          </a:bodyPr>
          <a:lstStyle/>
          <a:p>
            <a:r>
              <a:rPr lang="en-US" altLang="zh-CN" dirty="0"/>
              <a:t>TRPO</a:t>
            </a:r>
            <a:r>
              <a:rPr lang="zh-CN" altLang="en-US" dirty="0"/>
              <a:t>里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拉格朗日对偶</a:t>
            </a:r>
            <a:r>
              <a:rPr lang="en-US" altLang="zh-CN" dirty="0"/>
              <a:t>  KKT</a:t>
            </a:r>
            <a:r>
              <a:rPr lang="zh-CN" altLang="en-US" dirty="0"/>
              <a:t>条件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5FBDFFF-B79F-ED65-7320-7AF5365D07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926" y="1735690"/>
            <a:ext cx="7170817" cy="132556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06C696B-EC47-136A-6922-9BD46F64D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926" y="4174435"/>
            <a:ext cx="8405191" cy="785953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E9877BC3-5EF9-BC25-42C2-BC15417D2577}"/>
              </a:ext>
            </a:extLst>
          </p:cNvPr>
          <p:cNvSpPr txBox="1">
            <a:spLocks/>
          </p:cNvSpPr>
          <p:nvPr/>
        </p:nvSpPr>
        <p:spPr>
          <a:xfrm>
            <a:off x="838200" y="5047601"/>
            <a:ext cx="10515600" cy="20290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TRPO</a:t>
            </a:r>
            <a:r>
              <a:rPr lang="zh-CN" altLang="en-US" dirty="0"/>
              <a:t>不采用惩罚项形式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TRPO</a:t>
            </a:r>
            <a:r>
              <a:rPr lang="zh-CN" altLang="en-US" dirty="0"/>
              <a:t>用的是硬约束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复杂、速度慢、开销高</a:t>
            </a:r>
            <a:endParaRPr lang="en-US" altLang="zh-CN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9AF5200-C327-6349-427E-D31C99F16D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357" y="1735690"/>
            <a:ext cx="1095375" cy="109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268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B313EA-662A-33BD-1F69-33F9876BF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8C386D-DA64-6AE4-15A9-639B71930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353800" cy="2100332"/>
          </a:xfrm>
        </p:spPr>
        <p:txBody>
          <a:bodyPr/>
          <a:lstStyle/>
          <a:p>
            <a:r>
              <a:rPr lang="zh-CN" altLang="en-US" dirty="0"/>
              <a:t>有的兄弟，有的！</a:t>
            </a:r>
            <a:endParaRPr lang="en-US" altLang="zh-CN" dirty="0"/>
          </a:p>
          <a:p>
            <a:r>
              <a:rPr lang="zh-CN" altLang="en-US" dirty="0"/>
              <a:t>既然</a:t>
            </a:r>
            <a:r>
              <a:rPr lang="en-US" altLang="zh-CN" dirty="0"/>
              <a:t>TRPO</a:t>
            </a:r>
            <a:r>
              <a:rPr lang="zh-CN" altLang="en-US" dirty="0"/>
              <a:t>的硬约束不便于实现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我们可不可以用软约束？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不等式约束一定要严格遵守吗？偶尔违反几次会不会影响不大？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3FCB270-B784-C408-8014-2EEA865EF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65125"/>
            <a:ext cx="4518991" cy="12945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DDAF5539-4815-5998-F450-C5DCC5B6F3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853949"/>
                <a:ext cx="10515600" cy="9987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b="0" dirty="0"/>
                  <a:t>既然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zh-CN" altLang="en-US" dirty="0"/>
                  <a:t>不好选择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使用动态的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10" name="内容占位符 2">
                <a:extLst>
                  <a:ext uri="{FF2B5EF4-FFF2-40B4-BE49-F238E27FC236}">
                    <a16:creationId xmlns:a16="http://schemas.microsoft.com/office/drawing/2014/main" id="{DDAF5539-4815-5998-F450-C5DCC5B6F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853949"/>
                <a:ext cx="10515600" cy="998704"/>
              </a:xfrm>
              <a:prstGeom prst="rect">
                <a:avLst/>
              </a:prstGeom>
              <a:blipFill>
                <a:blip r:embed="rId3"/>
                <a:stretch>
                  <a:fillRect l="-1043" t="-10366" b="-152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21DDFD7A-F8F2-8BE0-8CF5-EF37A3EA2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2512" y="4852653"/>
            <a:ext cx="8269357" cy="78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29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01885A-1ECE-4210-16BE-C22F843CE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penalty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D70E57F-127E-5544-7E54-5F6CFF7680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06777" y="2337847"/>
                <a:ext cx="10515600" cy="2036190"/>
              </a:xfrm>
            </p:spPr>
            <p:txBody>
              <a:bodyPr/>
              <a:lstStyle/>
              <a:p>
                <a:r>
                  <a:rPr lang="zh-CN" altLang="en-US" dirty="0"/>
                  <a:t>先确定一个目标</a:t>
                </a:r>
                <a:r>
                  <a:rPr lang="en-US" altLang="zh-CN" dirty="0"/>
                  <a:t>KL</a:t>
                </a:r>
                <a:r>
                  <a:rPr lang="zh-CN" altLang="en-US" dirty="0"/>
                  <a:t>散度</a:t>
                </a:r>
                <a:r>
                  <a:rPr lang="en-US" altLang="zh-CN" dirty="0"/>
                  <a:t>target</a:t>
                </a:r>
              </a:p>
              <a:p>
                <a:r>
                  <a:rPr lang="zh-CN" altLang="en-US" dirty="0"/>
                  <a:t>通过新旧策略的差异（</a:t>
                </a:r>
                <a:r>
                  <a:rPr lang="en-US" altLang="zh-CN" dirty="0"/>
                  <a:t>KL</a:t>
                </a:r>
                <a:r>
                  <a:rPr lang="zh-CN" altLang="en-US" dirty="0"/>
                  <a:t>散度）来动态调整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若</a:t>
                </a:r>
                <a:r>
                  <a:rPr lang="en-US" altLang="zh-CN" dirty="0"/>
                  <a:t>KL</a:t>
                </a:r>
                <a:r>
                  <a:rPr lang="zh-CN" altLang="en-US" dirty="0"/>
                  <a:t>散度过小，减小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若</a:t>
                </a:r>
                <a:r>
                  <a:rPr lang="en-US" altLang="zh-CN" dirty="0"/>
                  <a:t>KL</a:t>
                </a:r>
                <a:r>
                  <a:rPr lang="zh-CN" altLang="en-US" dirty="0"/>
                  <a:t>散度过大，增大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D70E57F-127E-5544-7E54-5F6CFF7680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06777" y="2337847"/>
                <a:ext cx="10515600" cy="2036190"/>
              </a:xfrm>
              <a:blipFill>
                <a:blip r:embed="rId2"/>
                <a:stretch>
                  <a:fillRect l="-1043" t="-5689" b="-688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7F09A8B-A6BD-5EDD-62F3-85246E2727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29" y="1455575"/>
            <a:ext cx="8269357" cy="78022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6377049-A723-0BBD-DE12-25D676ED9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1216" y="4374037"/>
            <a:ext cx="6657680" cy="53246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9257269-5E67-2A49-8CDB-CE08CAA00E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0125" y="4906502"/>
            <a:ext cx="4948935" cy="1047285"/>
          </a:xfrm>
          <a:prstGeom prst="rect">
            <a:avLst/>
          </a:prstGeom>
        </p:spPr>
      </p:pic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6B69E92-160E-8922-7CDA-075E8DEB76D4}"/>
              </a:ext>
            </a:extLst>
          </p:cNvPr>
          <p:cNvSpPr txBox="1">
            <a:spLocks/>
          </p:cNvSpPr>
          <p:nvPr/>
        </p:nvSpPr>
        <p:spPr>
          <a:xfrm>
            <a:off x="838200" y="5877762"/>
            <a:ext cx="10515600" cy="532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PPO with Adaptive KL Penalty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CBA870A-3AB1-4E68-5B59-A990F210A40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116" y="4242535"/>
            <a:ext cx="1689735" cy="1635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072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2D69C-D670-2B74-E948-86D22513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13FB4C-E01E-90F0-104F-A80074B63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4CF6AAE-F40D-2FF1-8CF2-E57168441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44" y="426053"/>
            <a:ext cx="11598111" cy="606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394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753344-4C3C-92CA-E684-003B98083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PPO-clip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47F08C-F159-0299-2E7F-B4FCFC895E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566507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PPO-penalty</a:t>
                </a:r>
                <a:r>
                  <a:rPr lang="zh-CN" altLang="en-US" dirty="0"/>
                  <a:t>随着时间的推移改变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altLang="zh-CN" dirty="0"/>
              </a:p>
              <a:p>
                <a:r>
                  <a:rPr lang="en-US" altLang="zh-CN" dirty="0"/>
                  <a:t>PPO-clip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直接把策略的改动限制在一个范围里</a:t>
                </a:r>
                <a:endParaRPr lang="en-US" altLang="zh-CN" dirty="0"/>
              </a:p>
              <a:p>
                <a:r>
                  <a:rPr lang="en-US" altLang="zh-CN" dirty="0"/>
                  <a:t>PPO-penalty</a:t>
                </a:r>
                <a:r>
                  <a:rPr lang="zh-CN" altLang="en-US" dirty="0"/>
                  <a:t>用</a:t>
                </a:r>
                <a:r>
                  <a:rPr lang="en-US" altLang="zh-CN" dirty="0"/>
                  <a:t>KL</a:t>
                </a:r>
                <a:r>
                  <a:rPr lang="zh-CN" altLang="en-US" dirty="0"/>
                  <a:t>散度衡量新旧策略的差异</a:t>
                </a:r>
                <a:endParaRPr lang="en-US" altLang="zh-CN" dirty="0"/>
              </a:p>
              <a:p>
                <a:r>
                  <a:rPr lang="en-US" altLang="zh-CN" dirty="0"/>
                  <a:t>PPO-clip</a:t>
                </a:r>
                <a:r>
                  <a:rPr lang="zh-CN" altLang="en-US" dirty="0"/>
                  <a:t>用重要性权重衡量新旧策略的差异</a:t>
                </a:r>
                <a:endParaRPr lang="en-US" altLang="zh-CN" dirty="0"/>
              </a:p>
              <a:p>
                <a:r>
                  <a:rPr lang="en-US" altLang="zh-CN" dirty="0"/>
                  <a:t>CLIP</a:t>
                </a:r>
                <a:r>
                  <a:rPr lang="zh-CN" altLang="en-US" dirty="0"/>
                  <a:t>函数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𝑐𝑙𝑖𝑝</m:t>
                    </m:r>
                    <m:d>
                      <m:d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i="1" dirty="0" err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𝑚𝑎𝑥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𝑚𝑖𝑛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</m:oMath>
                </a14:m>
                <a:endParaRPr lang="en-US" altLang="zh-CN" b="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047F08C-F159-0299-2E7F-B4FCFC895E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566507"/>
              </a:xfrm>
              <a:blipFill>
                <a:blip r:embed="rId3"/>
                <a:stretch>
                  <a:fillRect l="-1043" t="-29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5BC77DE4-B2AD-CDCF-BF16-8544F75AE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199" y="5371634"/>
            <a:ext cx="7231145" cy="133817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7957EEF-ECDB-B5D8-2C87-57FC83172A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6669" y="5644455"/>
            <a:ext cx="2249806" cy="81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88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3791E8-CB5F-F044-AACC-49AE6F804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min</a:t>
            </a:r>
            <a:r>
              <a:rPr lang="zh-CN" altLang="en-US" dirty="0"/>
              <a:t>和</a:t>
            </a:r>
            <a:r>
              <a:rPr lang="en-US" altLang="zh-CN" dirty="0"/>
              <a:t>CLIP</a:t>
            </a:r>
            <a:r>
              <a:rPr lang="zh-CN" altLang="en-US" dirty="0"/>
              <a:t>的梯度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3531F2-C32C-22FD-0C56-6AC537074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7654"/>
            <a:ext cx="10515600" cy="490193"/>
          </a:xfrm>
        </p:spPr>
        <p:txBody>
          <a:bodyPr/>
          <a:lstStyle/>
          <a:p>
            <a:r>
              <a:rPr lang="en-US" altLang="zh-CN" dirty="0"/>
              <a:t>min</a:t>
            </a:r>
            <a:r>
              <a:rPr lang="zh-CN" altLang="en-US" dirty="0"/>
              <a:t>函数的梯度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1107CB8-E80E-EFBA-010A-74229C7042BA}"/>
              </a:ext>
            </a:extLst>
          </p:cNvPr>
          <p:cNvPicPr>
            <a:picLocks/>
          </p:cNvPicPr>
          <p:nvPr/>
        </p:nvPicPr>
        <p:blipFill>
          <a:blip r:embed="rId2"/>
          <a:srcRect l="2574"/>
          <a:stretch>
            <a:fillRect/>
          </a:stretch>
        </p:blipFill>
        <p:spPr>
          <a:xfrm>
            <a:off x="1572934" y="2445077"/>
            <a:ext cx="3607208" cy="87669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F15C388-1FC9-5B7D-A18E-98E40AA37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311" y="3429000"/>
            <a:ext cx="3534826" cy="776290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0C76E2E6-8646-6FC5-42FD-C29DC94871AD}"/>
              </a:ext>
            </a:extLst>
          </p:cNvPr>
          <p:cNvSpPr txBox="1">
            <a:spLocks/>
          </p:cNvSpPr>
          <p:nvPr/>
        </p:nvSpPr>
        <p:spPr>
          <a:xfrm>
            <a:off x="838200" y="4312520"/>
            <a:ext cx="10515600" cy="490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CLIP</a:t>
            </a:r>
            <a:r>
              <a:rPr lang="zh-CN" altLang="en-US" dirty="0"/>
              <a:t>函数的梯度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7A73D11-43C7-07C0-419A-1C5E6CBC7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189" y="4802713"/>
            <a:ext cx="4758794" cy="968291"/>
          </a:xfrm>
          <a:prstGeom prst="rect">
            <a:avLst/>
          </a:prstGeom>
        </p:spPr>
      </p:pic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7CAF199C-AD90-54E2-37EA-B556DD1EA623}"/>
              </a:ext>
            </a:extLst>
          </p:cNvPr>
          <p:cNvSpPr txBox="1">
            <a:spLocks/>
          </p:cNvSpPr>
          <p:nvPr/>
        </p:nvSpPr>
        <p:spPr>
          <a:xfrm>
            <a:off x="838200" y="5689770"/>
            <a:ext cx="10515600" cy="1168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注意这些导数在数学上可能并不严谨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只是深度学习包所采用的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F279367-4ECF-7348-4F55-046C5ED005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205" y="601343"/>
            <a:ext cx="8150557" cy="85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922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AB414D-8917-29EF-6FBC-AAD2E8189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PPO</a:t>
            </a:r>
            <a:r>
              <a:rPr lang="zh-CN" altLang="en-US" dirty="0"/>
              <a:t>里梯度的传播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80FB116-8A36-7553-FB2D-E30D2177D4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077072"/>
              </a:xfrm>
            </p:spPr>
            <p:txBody>
              <a:bodyPr/>
              <a:lstStyle/>
              <a:p>
                <a:r>
                  <a:rPr lang="zh-CN" altLang="en-US" dirty="0"/>
                  <a:t>我们的目标是最大化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𝐶𝐿𝐼𝑃</m:t>
                        </m:r>
                      </m:sup>
                    </m:sSub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主流深度学习优化器</a:t>
                </a:r>
                <a:r>
                  <a:rPr lang="en-US" altLang="zh-CN" dirty="0"/>
                  <a:t>:</a:t>
                </a:r>
                <a:r>
                  <a:rPr lang="zh-CN" altLang="en-US" dirty="0"/>
                  <a:t>最小化优化函数</a:t>
                </a:r>
                <a:endParaRPr lang="en-US" altLang="zh-CN" dirty="0"/>
              </a:p>
              <a:p>
                <a:r>
                  <a:rPr lang="zh-CN" altLang="en-US" dirty="0"/>
                  <a:t>取负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𝐶𝐿𝐼𝑃</m:t>
                        </m:r>
                      </m:sup>
                    </m:sSub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dirty="0"/>
                  <a:t>求梯度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80FB116-8A36-7553-FB2D-E30D2177D4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077072"/>
              </a:xfrm>
              <a:blipFill>
                <a:blip r:embed="rId2"/>
                <a:stretch>
                  <a:fillRect l="-1043" t="-4692" b="-55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991AB539-1341-A33D-77F9-6EEF5E5D46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960" y="3902697"/>
            <a:ext cx="10646004" cy="69391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5A64886-CA9C-92C0-C172-6B92966E01CF}"/>
              </a:ext>
            </a:extLst>
          </p:cNvPr>
          <p:cNvPicPr>
            <a:picLocks/>
          </p:cNvPicPr>
          <p:nvPr/>
        </p:nvPicPr>
        <p:blipFill>
          <a:blip r:embed="rId4"/>
          <a:srcRect l="2574"/>
          <a:stretch>
            <a:fillRect/>
          </a:stretch>
        </p:blipFill>
        <p:spPr>
          <a:xfrm>
            <a:off x="6928930" y="1219190"/>
            <a:ext cx="2576660" cy="6394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75C27B9-35F1-E84E-DCE0-78EB9EFA6C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5633" y="1320585"/>
            <a:ext cx="2319550" cy="5094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BF18503-D66F-11A1-69D2-0602F62785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2106" y="1818836"/>
            <a:ext cx="3519955" cy="71621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281A5F2-B617-0749-97C9-DD35ED1F3A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99521" y="322614"/>
            <a:ext cx="6579909" cy="53392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5C86530-A1AC-1C72-DA93-6B113FAF5E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7176" y="4673160"/>
            <a:ext cx="7762768" cy="218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01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727B78-990C-BC2B-22E5-D9EBE7B80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3922"/>
            <a:ext cx="10515600" cy="1325563"/>
          </a:xfrm>
        </p:spPr>
        <p:txBody>
          <a:bodyPr/>
          <a:lstStyle/>
          <a:p>
            <a:r>
              <a:rPr lang="zh-CN" altLang="en-US" dirty="0"/>
              <a:t>直观看每段的梯度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3B77CCB-6C07-5C2C-2B1F-AA3A498EA53F}"/>
              </a:ext>
            </a:extLst>
          </p:cNvPr>
          <p:cNvPicPr>
            <a:picLocks/>
          </p:cNvPicPr>
          <p:nvPr/>
        </p:nvPicPr>
        <p:blipFill>
          <a:blip r:embed="rId2"/>
          <a:srcRect t="1171"/>
          <a:stretch>
            <a:fillRect/>
          </a:stretch>
        </p:blipFill>
        <p:spPr>
          <a:xfrm>
            <a:off x="1836794" y="1014834"/>
            <a:ext cx="7921126" cy="435133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F164A01-E73D-DA8C-1731-3E44EEF9AE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9858" y="5366172"/>
                <a:ext cx="10515600" cy="4351338"/>
              </a:xfrm>
            </p:spPr>
            <p:txBody>
              <a:bodyPr/>
              <a:lstStyle/>
              <a:p>
                <a:r>
                  <a:rPr lang="zh-CN" altLang="en-US" dirty="0"/>
                  <a:t>策略只在两种情况下更新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dirty="0"/>
                  <a:t>落在邻域里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dirty="0"/>
                  <a:t>未落在邻域里但优势函数引领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zh-CN" altLang="en-US" dirty="0"/>
                  <a:t>更靠近邻域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FF164A01-E73D-DA8C-1731-3E44EEF9AE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9858" y="5366172"/>
                <a:ext cx="10515600" cy="4351338"/>
              </a:xfrm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53F1CD62-084D-3CD8-DEF5-B2D8AAC69CFF}"/>
              </a:ext>
            </a:extLst>
          </p:cNvPr>
          <p:cNvSpPr txBox="1"/>
          <p:nvPr/>
        </p:nvSpPr>
        <p:spPr>
          <a:xfrm>
            <a:off x="7801878" y="45299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Daniel Bick daniel.bick@live.de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79DD426-3D5D-84B5-EE4B-094FF20F19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64" y="3165205"/>
            <a:ext cx="2249806" cy="81303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C266840-AEB7-A51D-510C-6CD138C32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54535"/>
            <a:ext cx="2542506" cy="36933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968FF64-A0F4-2EED-F1EA-8B95B3CAE4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21686" y="149527"/>
            <a:ext cx="3342344" cy="356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559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3732</TotalTime>
  <Words>333</Words>
  <Application>Microsoft Office PowerPoint</Application>
  <PresentationFormat>宽屏</PresentationFormat>
  <Paragraphs>54</Paragraphs>
  <Slides>10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MS PGothic</vt:lpstr>
      <vt:lpstr>等线</vt:lpstr>
      <vt:lpstr>等线 Light</vt:lpstr>
      <vt:lpstr>微软雅黑</vt:lpstr>
      <vt:lpstr>Arial</vt:lpstr>
      <vt:lpstr>Cambria Math</vt:lpstr>
      <vt:lpstr>Office 主题​​</vt:lpstr>
      <vt:lpstr>PPO 从零到深入(1)</vt:lpstr>
      <vt:lpstr>主要内容</vt:lpstr>
      <vt:lpstr>TRPO的做法</vt:lpstr>
      <vt:lpstr>PowerPoint 演示文稿</vt:lpstr>
      <vt:lpstr>penalty</vt:lpstr>
      <vt:lpstr>PowerPoint 演示文稿</vt:lpstr>
      <vt:lpstr>PPO-clip</vt:lpstr>
      <vt:lpstr>min和CLIP的梯度</vt:lpstr>
      <vt:lpstr>PPO里梯度的传播</vt:lpstr>
      <vt:lpstr>直观看每段的梯度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11</cp:revision>
  <dcterms:created xsi:type="dcterms:W3CDTF">2025-11-09T06:22:50Z</dcterms:created>
  <dcterms:modified xsi:type="dcterms:W3CDTF">2025-11-13T09:44:10Z</dcterms:modified>
</cp:coreProperties>
</file>