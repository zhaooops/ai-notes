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60" r:id="rId6"/>
    <p:sldId id="259" r:id="rId7"/>
    <p:sldId id="272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59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7F66F-738F-455A-BEDD-EBFF883863B9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AD381-7018-4274-B801-CF0ACD7A57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32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AD381-7018-4274-B801-CF0ACD7A57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78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646-809D-E466-5F52-DACB10E58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46962-94AF-A0F5-FC70-322D8D2BC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54401-8ABB-680F-13E9-91C5435B8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0D76D-09E8-2813-1C34-566C9E8B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EF378-D5AE-124B-3B85-C9DCC8E2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1FCE-EC1C-104D-D6C4-CF757816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545C4-11ED-753B-70A8-60EF773A5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42BA-A883-9BDF-2F41-9FF6340E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DD9E0-E982-A964-791E-F0CF3A30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F7D8C-4CFA-C680-DD06-56E65FD7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18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26B2-0143-2F1C-0B7B-AB38A0F5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B47B0-412F-2F6E-5BC3-1FAA0BE7D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29868-E603-CCD5-E0B3-5C039962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4EEF3-04DF-778B-8D78-9BED2590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4002E-BC4B-B697-C970-59AAB68A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35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E9C2-B798-1F05-B535-1A8DD07C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D91C7-9371-F05D-AAA1-041D2B85B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A3584-E9E3-EEA4-94FF-8D564FAD4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8BC95-44E5-6C44-B576-F67254BC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31BCE-84E0-9274-AF9E-7622CE9F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1D2A5-0055-D443-FCAF-709646B5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19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2A88-AE6A-D9FD-9B51-646ECE9C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44AFA-9DC4-5036-D4C4-F42432DC5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4CB6F-40FA-4131-51F2-8DDE196BA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7B829-D4F9-059D-ECAF-AC2121335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1D859-9D21-0473-C289-D28E49695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250D8-4521-F0FE-17C0-F5ABC266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404CC-4884-60FF-2333-FB1C4534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2AEB5-0111-F9C7-A8FE-17813CC2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49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DA92-B4E6-7ECA-EC74-B4A46421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BA55B4-BABB-5BC3-8F8E-C349BA11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AB95D-CC9A-EED0-FC59-41B61EAB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6EDC4-80E5-D935-3BF5-344F88C5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42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EBDA7-8262-8659-5B7D-9857885D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F8C69-BC1C-8E03-6169-546367AB8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5476D-8999-6C18-733A-994CD609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11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3DBF-1E7B-53BA-DC24-8E87118E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9806-67EB-054C-3024-40A7AF474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D2C17-D482-A93B-CCF2-36C7AA7D4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A522A-A276-B790-5859-27927DCA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90F4C-F50E-846E-B75A-72C39165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56B0B-1A7C-59AA-C523-8EE2A160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832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F238-6D4D-B4B4-7F3C-1B7EC8E20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B0C86-A19D-B555-247A-977AC1DBA32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5E8A2-ABD2-5C09-D90C-0C9DBAAA1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378DA-5F11-4ED5-D847-0223B041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6DDC4-CA62-215A-7449-1042B466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DC868-41FB-D958-76C1-4E7A17E1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68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2B79-4B26-3BCF-C31F-A69E7686C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30E7E-DA92-E237-455A-44252A119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85D50-CA42-E4C4-DCC8-DE6F01AE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84ED9-9DEE-4046-3B58-47FE4B16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5D74-C800-B275-5A98-4D3DBCFC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03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2F2B0-5137-DDF1-954E-DB3A2FE40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BD0BE-65D0-3085-720F-D77A9B9F3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09172-9D60-283F-2AA0-C452E5C4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199BD-D425-25DF-BBAD-C4BE17EC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37B-0A95-7AB5-FE0B-2E578B7C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143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C32FF-5743-F75D-40B9-D635D103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AC3DEC-DD53-A401-D017-A4FD5F08A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4B311-9182-511C-1577-EE78EB53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D0081-6577-7FD4-73D0-5B541E9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93C07-4A6E-C7CD-B4BA-DA0F3FF5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3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7E8F1-0145-AD27-3CFF-852A8A8B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A54A-4DBE-09F5-EC48-B3991EC52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068AB-BA37-B482-9303-E9F1FADD7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8BF1F-400E-4170-BAD9-576D8AAEA3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1B5B9-58CE-CBD2-5659-F52A892D9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CFEF6-EF9F-C0B7-20C0-E01A9B70B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A4687-3ECC-477D-8B21-225C7FB10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91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D3E673-46FC-92B5-24AE-EF58F9D1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2D550-46D6-6ABD-8086-63FC7361B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AD73B9-B6F1-FDDD-E5D2-A7D9543F5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A28E2-D4B9-4CE2-8A98-1195E6611144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ABCFB-DE01-5B22-F16F-139CC27E7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6F6ECC-6CFE-92C5-C0D8-E638A3B04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4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xiv.org/abs/2609.2080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7.1807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0675-6681-256C-E9B1-632E0D5E3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566" y="2276221"/>
            <a:ext cx="9965267" cy="1862666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+mn-lt"/>
              </a:rPr>
              <a:t>Score Centering </a:t>
            </a:r>
            <a:r>
              <a:rPr lang="en-US" altLang="zh-CN" sz="8000" dirty="0"/>
              <a:t>Stabilizes Off-policy RL</a:t>
            </a:r>
            <a:endParaRPr lang="zh-CN" alt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ACF33-13D1-DB0B-1BBE-1A1A81A73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27826"/>
            <a:ext cx="9144000" cy="541866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17F97-D615-D253-0F58-F13D7003FD51}"/>
              </a:ext>
            </a:extLst>
          </p:cNvPr>
          <p:cNvSpPr txBox="1"/>
          <p:nvPr/>
        </p:nvSpPr>
        <p:spPr>
          <a:xfrm>
            <a:off x="7992533" y="233515"/>
            <a:ext cx="411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2"/>
              </a:rPr>
              <a:t>[2609.20807] Score Centering Stabilizes Off-policy Reinforcement Learning</a:t>
            </a:r>
            <a:endParaRPr lang="zh-CN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EA428D-245E-AB3D-1E18-049E097C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33515"/>
            <a:ext cx="4766733" cy="123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19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61EA-C644-8355-E55E-B3C8F262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264FC-F197-B363-6918-3F5B46E4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训推不一致及其来源</a:t>
            </a:r>
            <a:endParaRPr lang="en-US" altLang="zh-CN" dirty="0"/>
          </a:p>
          <a:p>
            <a:r>
              <a:rPr lang="zh-CN" altLang="en-US" dirty="0"/>
              <a:t>重要性采样可以解决但引入高方差噪声</a:t>
            </a:r>
            <a:endParaRPr lang="en-US" altLang="zh-CN" dirty="0"/>
          </a:p>
          <a:p>
            <a:r>
              <a:rPr lang="zh-CN" altLang="en-US" dirty="0"/>
              <a:t>训推不一致时策略梯度更新的分解</a:t>
            </a:r>
            <a:endParaRPr lang="en-US" altLang="zh-CN" dirty="0"/>
          </a:p>
          <a:p>
            <a:r>
              <a:rPr lang="en-US" altLang="zh-CN" dirty="0"/>
              <a:t>Score Centering</a:t>
            </a:r>
            <a:r>
              <a:rPr lang="zh-CN" altLang="en-US" dirty="0"/>
              <a:t>方法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752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D7FC2-6C8C-72C8-B015-96AFD200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60742D-FED6-4A51-A204-DB73B7557D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0537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对</a:t>
                </a:r>
                <a:r>
                  <a:rPr lang="en-US" altLang="zh-CN" dirty="0"/>
                  <a:t>LLM</a:t>
                </a:r>
                <a:r>
                  <a:rPr lang="zh-CN" altLang="en-US" dirty="0"/>
                  <a:t>训</a:t>
                </a:r>
                <a:r>
                  <a:rPr lang="en-US" altLang="zh-CN" dirty="0"/>
                  <a:t>RL</a:t>
                </a:r>
                <a:r>
                  <a:rPr lang="zh-CN" altLang="en-US" dirty="0"/>
                  <a:t>有三步骤：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采样</a:t>
                </a:r>
                <a:r>
                  <a:rPr lang="en-US" altLang="zh-CN" dirty="0"/>
                  <a:t>rollout  </a:t>
                </a:r>
                <a:r>
                  <a:rPr lang="zh-CN" altLang="en-US" dirty="0"/>
                  <a:t>给每条答案以奖励  计算梯度</a:t>
                </a:r>
                <a:endParaRPr lang="en-US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y</a:t>
                </a:r>
                <a:r>
                  <a:rPr lang="zh-CN" altLang="en-US" dirty="0"/>
                  <a:t>是当前模型采样的</a:t>
                </a:r>
                <a:r>
                  <a:rPr lang="en-US" altLang="zh-CN" dirty="0"/>
                  <a:t>rollout  R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获得的奖励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在论文里被称为</a:t>
                </a:r>
                <a:r>
                  <a:rPr lang="en-US" altLang="zh-CN" dirty="0"/>
                  <a:t>score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期望奖励的梯度</a:t>
                </a:r>
                <a:r>
                  <a:rPr lang="en-US" altLang="zh-CN" dirty="0"/>
                  <a:t>=score</a:t>
                </a:r>
                <a:r>
                  <a:rPr lang="zh-CN" altLang="en-US" dirty="0"/>
                  <a:t>以奖励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加权后求期望</a:t>
                </a:r>
                <a:endParaRPr lang="en-US" altLang="zh-CN" dirty="0"/>
              </a:p>
              <a:p>
                <a:r>
                  <a:rPr lang="zh-CN" altLang="en-US" dirty="0"/>
                  <a:t>等式右边需要做两次独立的反向传播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模型作为</a:t>
                </a:r>
                <a:r>
                  <a:rPr lang="en-US" altLang="zh-CN" dirty="0"/>
                  <a:t>sampler</a:t>
                </a:r>
                <a:r>
                  <a:rPr lang="zh-CN" altLang="en-US" dirty="0"/>
                  <a:t>来采样</a:t>
                </a:r>
                <a:r>
                  <a:rPr lang="en-US" altLang="zh-CN" dirty="0"/>
                  <a:t>rollout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模型作为</a:t>
                </a:r>
                <a:r>
                  <a:rPr lang="en-US" altLang="zh-CN" dirty="0"/>
                  <a:t>trainer</a:t>
                </a:r>
                <a:r>
                  <a:rPr lang="zh-CN" altLang="en-US" dirty="0"/>
                  <a:t>来计算梯度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60742D-FED6-4A51-A204-DB73B7557D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05375"/>
              </a:xfrm>
              <a:blipFill>
                <a:blip r:embed="rId2"/>
                <a:stretch>
                  <a:fillRect l="-1043" t="-2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24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3A450E-3247-08FB-952A-A55183DCF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" y="652075"/>
            <a:ext cx="12127017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5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B8DE-A789-69D4-5226-57F3CDC7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训推不一致及其来源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04AE8-7A90-1ACC-96E0-9EEA51C98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3042"/>
          </a:xfrm>
        </p:spPr>
        <p:txBody>
          <a:bodyPr>
            <a:normAutofit/>
          </a:bodyPr>
          <a:lstStyle/>
          <a:p>
            <a:r>
              <a:rPr lang="zh-CN" altLang="en-US" dirty="0"/>
              <a:t>同一个</a:t>
            </a:r>
            <a:r>
              <a:rPr lang="en-US" altLang="zh-CN" dirty="0"/>
              <a:t>LLM</a:t>
            </a:r>
            <a:r>
              <a:rPr lang="zh-CN" altLang="en-US" dirty="0"/>
              <a:t>先后作为</a:t>
            </a:r>
            <a:r>
              <a:rPr lang="en-US" altLang="zh-CN" dirty="0"/>
              <a:t>sampler p</a:t>
            </a:r>
            <a:r>
              <a:rPr lang="zh-CN" altLang="en-US" dirty="0"/>
              <a:t>和</a:t>
            </a:r>
            <a:r>
              <a:rPr lang="en-US" altLang="zh-CN" dirty="0"/>
              <a:t>trainer q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二者的输出理应完全一致，但实际中几乎从不如此</a:t>
            </a:r>
            <a:endParaRPr lang="en-US" altLang="zh-CN" dirty="0"/>
          </a:p>
          <a:p>
            <a:r>
              <a:rPr lang="zh-CN" altLang="en-US" dirty="0"/>
              <a:t>训推引擎之间存在差异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training-inference mismatch (TIM)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来源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精度不同或代码库不同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浮点运算的非结合律   </a:t>
            </a:r>
            <a:r>
              <a:rPr lang="en-US" altLang="zh-CN" dirty="0"/>
              <a:t>fp4 0.5+0.5+2</a:t>
            </a:r>
          </a:p>
          <a:p>
            <a:pPr marL="0" indent="0">
              <a:buNone/>
            </a:pPr>
            <a:r>
              <a:rPr lang="en-US" altLang="zh-CN" dirty="0"/>
              <a:t>		staleness   </a:t>
            </a:r>
            <a:r>
              <a:rPr lang="zh-CN" altLang="en-US" dirty="0"/>
              <a:t>异步</a:t>
            </a:r>
            <a:r>
              <a:rPr lang="en-US" altLang="zh-CN" dirty="0"/>
              <a:t>RL </a:t>
            </a:r>
            <a:r>
              <a:rPr lang="zh-CN" altLang="en-US" dirty="0"/>
              <a:t>训推解耦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57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22221-9F28-72DF-E038-03B4AA91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重要性采样能解决</a:t>
            </a:r>
            <a:r>
              <a:rPr lang="en-US" altLang="zh-CN" dirty="0"/>
              <a:t>TIM</a:t>
            </a:r>
            <a:r>
              <a:rPr lang="zh-CN" altLang="en-US" dirty="0"/>
              <a:t>，</a:t>
            </a:r>
            <a:r>
              <a:rPr lang="en-US" altLang="zh-CN" dirty="0"/>
              <a:t>but at what cost?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B9E1E3-267F-D8C4-C45E-328337A04E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6341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q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q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GRPO</a:t>
                </a:r>
                <a:r>
                  <a:rPr lang="zh-CN" altLang="en-US" dirty="0"/>
                  <a:t>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old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应该多次采样，但</a:t>
                </a:r>
                <a:r>
                  <a:rPr lang="en-US" altLang="zh-CN" dirty="0"/>
                  <a:t>GRPO</a:t>
                </a:r>
                <a:r>
                  <a:rPr lang="zh-CN" altLang="en-US" dirty="0"/>
                  <a:t>只能采样一次</a:t>
                </a:r>
                <a:endParaRPr lang="en-US" altLang="zh-CN" dirty="0"/>
              </a:p>
              <a:p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的条件下，生成</a:t>
                </a:r>
                <a:r>
                  <a:rPr lang="en-US" altLang="zh-CN" dirty="0"/>
                  <a:t>next token</a:t>
                </a:r>
                <a:r>
                  <a:rPr lang="zh-CN" altLang="en-US" dirty="0"/>
                  <a:t>的过程只会发生一次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只采样了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，相当于把单次采样的结果当成了期望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因此引入了高方差噪声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B9E1E3-267F-D8C4-C45E-328337A04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6341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87AD929-AD39-97CB-B769-9DC7B7ECF8F3}"/>
              </a:ext>
            </a:extLst>
          </p:cNvPr>
          <p:cNvSpPr txBox="1"/>
          <p:nvPr/>
        </p:nvSpPr>
        <p:spPr>
          <a:xfrm>
            <a:off x="9050867" y="-25509"/>
            <a:ext cx="3141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3"/>
              </a:rPr>
              <a:t>[2507.18071] Group Sequence Policy Optimization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565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B76E-36E6-E3EB-474E-3FBE1B32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 policy</a:t>
            </a:r>
            <a:r>
              <a:rPr lang="zh-CN" altLang="en-US" dirty="0"/>
              <a:t>且奖励恒定时 理论上不学习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6B134-A66B-1412-3309-8C029BC04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0708"/>
              </a:xfrm>
            </p:spPr>
            <p:txBody>
              <a:bodyPr/>
              <a:lstStyle/>
              <a:p>
                <a:r>
                  <a:rPr lang="zh-CN" altLang="zh-CN" dirty="0"/>
                  <a:t>在一个固定前缀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dirty="0"/>
                  <a:t>上，采样器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dirty="0"/>
                  <a:t>产生token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dirty="0"/>
                  <a:t>遍历词表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zh-CN" dirty="0"/>
                  <a:t>分别是trainer和sampler对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dirty="0"/>
                  <a:t>的下一token概率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zh-CN" dirty="0"/>
                  <a:t>是它的 score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zh-CN" dirty="0"/>
                  <a:t>是采样器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dirty="0"/>
                  <a:t>下的期望 score</a:t>
                </a:r>
                <a:endParaRPr lang="en-US" altLang="zh-CN" dirty="0"/>
              </a:p>
              <a:p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1=0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score</a:t>
                </a:r>
                <a:r>
                  <a:rPr lang="zh-CN" altLang="en-US" dirty="0"/>
                  <a:t>函数期望为</a:t>
                </a:r>
                <a:r>
                  <a:rPr lang="en-US" altLang="zh-CN" dirty="0"/>
                  <a:t>0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前提是</a:t>
                </a:r>
                <a:r>
                  <a:rPr lang="en-US" altLang="zh-CN" dirty="0"/>
                  <a:t>on policy</a:t>
                </a:r>
                <a:r>
                  <a:rPr lang="zh-CN" altLang="en-US" dirty="0"/>
                  <a:t>，采样和求梯度用同一个</a:t>
                </a:r>
                <a:r>
                  <a:rPr lang="en-US" altLang="zh-CN" dirty="0"/>
                  <a:t>p</a:t>
                </a:r>
              </a:p>
              <a:p>
                <a:r>
                  <a:rPr lang="zh-CN" altLang="en-US" dirty="0"/>
                  <a:t>如果在奖励恒定的环境里做原始策略梯度的</a:t>
                </a:r>
                <a:r>
                  <a:rPr lang="en-US" altLang="zh-CN" dirty="0"/>
                  <a:t>RL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⋅0</m:t>
                    </m:r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6B134-A66B-1412-3309-8C029BC04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0708"/>
              </a:xfrm>
              <a:blipFill>
                <a:blip r:embed="rId2"/>
                <a:stretch>
                  <a:fillRect l="-1043" t="-2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27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4906-9DF2-9C42-A05A-C2B218D6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</a:t>
            </a:r>
            <a:r>
              <a:rPr lang="zh-CN" altLang="en-US" dirty="0"/>
              <a:t>下的期望更新可以分解为信号和漂移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AC8F33-057C-5A8B-5DF0-09EE633B39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44200" cy="3169708"/>
              </a:xfrm>
            </p:spPr>
            <p:txBody>
              <a:bodyPr/>
              <a:lstStyle/>
              <a:p>
                <a:r>
                  <a:rPr lang="zh-CN" altLang="en-US" dirty="0"/>
                  <a:t>在</a:t>
                </a:r>
                <a:r>
                  <a:rPr lang="en-US" altLang="zh-CN" dirty="0"/>
                  <a:t>TIM</a:t>
                </a:r>
                <a:r>
                  <a:rPr lang="zh-CN" altLang="en-US" dirty="0"/>
                  <a:t>情况下，期望梯度不为</a:t>
                </a:r>
                <a:r>
                  <a:rPr lang="en-US" altLang="zh-CN" dirty="0"/>
                  <a:t>0  </a:t>
                </a:r>
              </a:p>
              <a:p>
                <a:r>
                  <a:rPr lang="en-US" altLang="zh-CN" dirty="0"/>
                  <a:t>On policy</a:t>
                </a:r>
                <a:r>
                  <a:rPr lang="zh-CN" altLang="en-US" dirty="0"/>
                  <a:t>情况下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TIM</a:t>
                </a:r>
                <a:r>
                  <a:rPr lang="zh-CN" altLang="en-US" dirty="0"/>
                  <a:t>情况下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zh-CN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pos m:val="bot"/>
                            <m:vertJc m:val="top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zh-CN" altLang="en-US" i="0"/>
                          <m:t>policy gradient update</m:t>
                        </m:r>
                      </m:lim>
                    </m:limLow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pos m:val="bot"/>
                            <m:vertJc m:val="top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  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zh-CN" altLang="en-US" i="0"/>
                          <m:t>``drift′′</m:t>
                        </m:r>
                      </m:lim>
                    </m:limLow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pos m:val="bot"/>
                            <m:vertJc m:val="top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zh-CN" altLang="en-US" i="0"/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/>
                                  <m:t>Cov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,  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zh-CN" altLang="en-US" i="0"/>
                          <m:t>``signal′′</m:t>
                        </m:r>
                      </m:lim>
                    </m:limLow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AC8F33-057C-5A8B-5DF0-09EE633B3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44200" cy="3169708"/>
              </a:xfrm>
              <a:blipFill>
                <a:blip r:embed="rId3"/>
                <a:stretch>
                  <a:fillRect l="-1022" t="-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6BE530E-4D73-CCA1-1D0C-E9040DE46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99" y="4971349"/>
            <a:ext cx="6637867" cy="188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0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B4ED9-2224-3D50-5DD6-7BA0D8537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zh-CN" dirty="0"/>
                  <a:t>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dirty="0"/>
                  <a:t>为目标分布的交叉熵损失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i="0"/>
                      <m:t>CE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b="1" dirty="0"/>
                  <a:t>	</a:t>
                </a:r>
                <a:r>
                  <a:rPr lang="zh-CN" altLang="zh-CN" dirty="0"/>
                  <a:t>它对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zh-CN" dirty="0"/>
                  <a:t>的梯度是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b="1" dirty="0"/>
                  <a:t>	</a:t>
                </a:r>
                <a:r>
                  <a:rPr lang="zh-CN" altLang="zh-CN" dirty="0"/>
                  <a:t>沿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zh-CN" altLang="zh-CN" dirty="0"/>
                  <a:t>走一步=沿交叉熵的负梯度走一步=让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更像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b="1" dirty="0"/>
                  <a:t>	</a:t>
                </a:r>
                <a:r>
                  <a:rPr lang="zh-CN" altLang="en-US" b="1" dirty="0"/>
                  <a:t>漂移是</a:t>
                </a:r>
                <a:r>
                  <a:rPr lang="en-US" altLang="zh-CN" b="1" dirty="0"/>
                  <a:t>TIM</a:t>
                </a:r>
                <a:r>
                  <a:rPr lang="zh-CN" altLang="en-US" b="1" dirty="0"/>
                  <a:t>的副产物，其作用相当于向</a:t>
                </a:r>
                <a:r>
                  <a:rPr lang="en-US" altLang="zh-CN" b="1" dirty="0"/>
                  <a:t>sampler q</a:t>
                </a:r>
                <a:r>
                  <a:rPr lang="zh-CN" altLang="en-US" b="1" dirty="0"/>
                  <a:t>蒸馏</a:t>
                </a:r>
                <a:endParaRPr lang="en-US" altLang="zh-CN" b="1" dirty="0"/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pos m:val="bot"/>
                            <m:vertJc m:val="top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zh-CN" altLang="en-US" i="0"/>
                          <m:t>policy gradient update</m:t>
                        </m:r>
                      </m:lim>
                    </m:limLow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pos m:val="bot"/>
                            <m:vertJc m:val="top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  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zh-CN" altLang="en-US" i="0"/>
                          <m:t>``drift′′</m:t>
                        </m:r>
                      </m:lim>
                    </m:limLow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pos m:val="bot"/>
                            <m:vertJc m:val="top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zh-CN" altLang="en-US" i="0"/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/>
                                  <m:t>Cov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,  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zh-CN" altLang="en-US" i="0"/>
                          <m:t>``signal′′</m:t>
                        </m:r>
                      </m:lim>
                    </m:limLow>
                  </m:oMath>
                </a14:m>
                <a:r>
                  <a:rPr lang="en-US" altLang="zh-CN" b="1" dirty="0"/>
                  <a:t>	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	</a:t>
                </a:r>
                <a:r>
                  <a:rPr lang="en-US" altLang="zh-CN" dirty="0"/>
                  <a:t>on policy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drift=0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向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蒸馏，这是无害的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off policy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的带偏差的拷贝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每一步都把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推向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的权重又被同步回</a:t>
                </a:r>
                <a:r>
                  <a:rPr lang="en-US" altLang="zh-CN" dirty="0"/>
                  <a:t>q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误差会循环累加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B4ED9-2224-3D50-5DD6-7BA0D8537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B335D18-FECA-DC3B-31D1-DE5E9DD6C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0"/>
            <a:ext cx="10363200" cy="174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5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55F2BB-F4F8-C40C-6150-440BC4F8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1342734"/>
            <a:ext cx="11698333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32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0978-48AB-959C-1DCA-735DF712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Score Centering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81006-2CEF-69E7-8562-76966F0502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764375"/>
                <a:ext cx="10515600" cy="66462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˜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zh-CN" altLang="en-US">
                        <a:latin typeface="Cambria Math" panose="02040503050406030204" pitchFamily="18" charset="0"/>
                      </a:rPr>
                      <m:t>, </m:t>
                    </m:r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81006-2CEF-69E7-8562-76966F050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764375"/>
                <a:ext cx="10515600" cy="6646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542A93F-BC63-8DF0-EA9C-8C2111E99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443682"/>
            <a:ext cx="11353800" cy="1320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679558-6553-EDAD-35BD-3B02B87DB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341273"/>
            <a:ext cx="9395047" cy="173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1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1802</TotalTime>
  <Words>927</Words>
  <Application>Microsoft Office PowerPoint</Application>
  <PresentationFormat>Widescreen</PresentationFormat>
  <Paragraphs>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Arial</vt:lpstr>
      <vt:lpstr>Cambria Math</vt:lpstr>
      <vt:lpstr>Office Theme</vt:lpstr>
      <vt:lpstr>Office 主题​​</vt:lpstr>
      <vt:lpstr>Score Centering Stabilizes Off-policy RL</vt:lpstr>
      <vt:lpstr>主要内容</vt:lpstr>
      <vt:lpstr>策略梯度</vt:lpstr>
      <vt:lpstr>PowerPoint Presentation</vt:lpstr>
      <vt:lpstr>训推不一致及其来源</vt:lpstr>
      <vt:lpstr>重要性采样能解决TIM，but at what cost?</vt:lpstr>
      <vt:lpstr>On policy且奖励恒定时 理论上不学习</vt:lpstr>
      <vt:lpstr>TIM下的期望更新可以分解为信号和漂移</vt:lpstr>
      <vt:lpstr>PowerPoint Presentation</vt:lpstr>
      <vt:lpstr>PowerPoint Presentation</vt:lpstr>
      <vt:lpstr>Score Centering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Yuzhe Zhao (FESCO Adecco Human Resources)</dc:creator>
  <cp:lastModifiedBy>Yuzhe Zhao (FESCO Adecco Human Resources)</cp:lastModifiedBy>
  <cp:revision>2</cp:revision>
  <dcterms:created xsi:type="dcterms:W3CDTF">2026-09-26T08:27:41Z</dcterms:created>
  <dcterms:modified xsi:type="dcterms:W3CDTF">2026-09-27T14:40:55Z</dcterms:modified>
</cp:coreProperties>
</file>