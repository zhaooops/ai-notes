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70" r:id="rId5"/>
    <p:sldId id="271" r:id="rId6"/>
    <p:sldId id="272" r:id="rId7"/>
    <p:sldId id="264" r:id="rId8"/>
    <p:sldId id="275" r:id="rId9"/>
    <p:sldId id="274" r:id="rId10"/>
    <p:sldId id="276" r:id="rId11"/>
    <p:sldId id="260" r:id="rId12"/>
    <p:sldId id="262" r:id="rId13"/>
    <p:sldId id="277" r:id="rId1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3" d="100"/>
          <a:sy n="93" d="100"/>
        </p:scale>
        <p:origin x="274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73D167-9200-7140-1EBC-98DE4466A2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2E4AF0C-0171-1B55-BA66-095F07A105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2AE5969-486F-CFA2-D2CB-AE03C6CF5B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A28E2-D4B9-4CE2-8A98-1195E6611144}" type="datetimeFigureOut">
              <a:rPr lang="zh-CN" altLang="en-US" smtClean="0"/>
              <a:t>2026/4/29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797502-162E-E22F-FA10-589AA23EC7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D69ACBB-85B3-E09A-9576-E35DA1C257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4132F6-9C40-405A-841B-1DCEF6D0A83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89663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6CC32FF-5743-F75D-40B9-D635D1039B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6AC3DEC-DD53-A401-D017-A4FD5F08AB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C54B311-9182-511C-1577-EE78EB535B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A28E2-D4B9-4CE2-8A98-1195E6611144}" type="datetimeFigureOut">
              <a:rPr lang="zh-CN" altLang="en-US" smtClean="0"/>
              <a:t>2026/4/29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BDD0081-6577-7FD4-73D0-5B541E9669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C993C07-4A6E-C7CD-B4BA-DA0F3FF5A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4132F6-9C40-405A-841B-1DCEF6D0A83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92001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63848C-8952-A68E-BE7F-8C7A497BFB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370C802-25E3-8BB9-1AB9-503A417975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33207F5-868E-2D41-E31D-FC0306F67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A28E2-D4B9-4CE2-8A98-1195E6611144}" type="datetimeFigureOut">
              <a:rPr lang="zh-CN" altLang="en-US" smtClean="0"/>
              <a:t>2026/4/29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5749905-475B-40D4-4FAE-9E2D8DB712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62C9216-97AB-E2D5-1A02-DC5F9259B6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4132F6-9C40-405A-841B-1DCEF6D0A83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5940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AC5C6F-8F4B-9DAC-3055-DF80900C4D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44A3365-ECD9-8F66-D78A-F740FF5862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964D69F-E20A-E464-E9F5-5E89C52BF3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50EC791-C26D-41B7-DDAB-8DA28F38E7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A28E2-D4B9-4CE2-8A98-1195E6611144}" type="datetimeFigureOut">
              <a:rPr lang="zh-CN" altLang="en-US" smtClean="0"/>
              <a:t>2026/4/29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9B65992-BF92-94EA-1B9A-9DE55A9F1D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BAC0F51-6291-2631-AD19-97307AF66F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4132F6-9C40-405A-841B-1DCEF6D0A83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55586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ACD83BA-E19B-9E0F-F08A-B055E80F40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450CAAE-D651-DA18-07BE-CB6A648298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6EA821B-A499-F901-D563-BDB51C06C0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CB064C69-B085-7778-DC0A-BBCFDFEB5D1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9CC9C8F6-3149-D9BB-2E35-D190F3DD62C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81BF0D9-B729-DCF4-EA85-940BCFE0CD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A28E2-D4B9-4CE2-8A98-1195E6611144}" type="datetimeFigureOut">
              <a:rPr lang="zh-CN" altLang="en-US" smtClean="0"/>
              <a:t>2026/4/29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3D91CA0A-29D4-0B23-4E55-0B25CCF196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37C330CC-9826-F604-AC13-447289FCB6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4132F6-9C40-405A-841B-1DCEF6D0A83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997369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7155C74-4DB8-0B34-CF98-B90C595126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30985DF-857B-C496-1412-E8489E67CF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A28E2-D4B9-4CE2-8A98-1195E6611144}" type="datetimeFigureOut">
              <a:rPr lang="zh-CN" altLang="en-US" smtClean="0"/>
              <a:t>2026/4/29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3CDAA46-EEA6-1AD1-76A8-A78E96BA82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548C2A3-E51F-9A70-D95D-16D51AF559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4132F6-9C40-405A-841B-1DCEF6D0A83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70474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7BFBD56-37DD-0934-B7FE-7ACA2A89A1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A28E2-D4B9-4CE2-8A98-1195E6611144}" type="datetimeFigureOut">
              <a:rPr lang="zh-CN" altLang="en-US" smtClean="0"/>
              <a:t>2026/4/29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FD0938B2-4C20-F499-5A16-AD35D88058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5FD4EC9-CB08-8F1F-D121-D343E0A856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4132F6-9C40-405A-841B-1DCEF6D0A83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72373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D2EDCA9-279B-E158-9867-DFFD6FB724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FEBFEAB-0C00-C967-5217-82119F571B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976B49-A9A0-7699-178B-89B9246429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BC005C4-4552-55A5-DB26-BEB4C32CD8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A28E2-D4B9-4CE2-8A98-1195E6611144}" type="datetimeFigureOut">
              <a:rPr lang="zh-CN" altLang="en-US" smtClean="0"/>
              <a:t>2026/4/29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F8A0711-2C44-B97B-7C59-E95E9EB180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61BD1A4-B5D7-D944-1AF2-65DA9BF1B5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4132F6-9C40-405A-841B-1DCEF6D0A83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22447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F72FF35-8F3A-68DD-FD8C-A87EF90674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995032EE-851E-AE00-35F1-A4869268287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19BB6E6-0D9A-9BF0-59C7-053AD20105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215C42B-D1D7-D91B-7FFB-BC407E7CAA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A28E2-D4B9-4CE2-8A98-1195E6611144}" type="datetimeFigureOut">
              <a:rPr lang="zh-CN" altLang="en-US" smtClean="0"/>
              <a:t>2026/4/29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029DE27-85D5-8A27-3C5B-2393121500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5CF5B06-4D22-5C21-5B3B-DDE26F0C6D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4132F6-9C40-405A-841B-1DCEF6D0A83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7406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2CA70DE-E9AB-85AE-D4E7-75CC3DEE7C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A03A65D-0BD1-3B8B-76B0-5744F01C02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8A5DC3F-47FE-6CC9-79D4-DEB6698678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A28E2-D4B9-4CE2-8A98-1195E6611144}" type="datetimeFigureOut">
              <a:rPr lang="zh-CN" altLang="en-US" smtClean="0"/>
              <a:t>2026/4/29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EA7F3CC-779D-9D30-EDBD-B724E4F063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F8CD29D-ED81-1107-5EDF-AFF234706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4132F6-9C40-405A-841B-1DCEF6D0A83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183945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86634ECE-F6C0-C65A-E0CB-C07593C05FD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100AFC4-9676-8523-5F3A-4AE4ACA62A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ADB6961-2B19-2D14-FDC9-C274429AF4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A28E2-D4B9-4CE2-8A98-1195E6611144}" type="datetimeFigureOut">
              <a:rPr lang="zh-CN" altLang="en-US" smtClean="0"/>
              <a:t>2026/4/29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329F682-AB90-539E-BA15-458201265B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FB3EDD1-6201-4307-5B34-E43639D83E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4132F6-9C40-405A-841B-1DCEF6D0A83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20887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FCD3E673-46FC-92B5-24AE-EF58F9D17E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DF2D550-46D6-6ABD-8086-63FC7361B8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FAD73B9-B6F1-FDDD-E5D2-A7D9543F586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1A28E2-D4B9-4CE2-8A98-1195E6611144}" type="datetimeFigureOut">
              <a:rPr lang="zh-CN" altLang="en-US" smtClean="0"/>
              <a:t>2026/4/29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DAABCFB-DE01-5B22-F16F-139CC27E7B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06F6ECC-6CFE-92C5-C0D8-E638A3B047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4132F6-9C40-405A-841B-1DCEF6D0A83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30790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9706694-497D-0ECE-70CD-C92A37F63E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095270"/>
            <a:ext cx="9144000" cy="2816628"/>
          </a:xfrm>
        </p:spPr>
        <p:txBody>
          <a:bodyPr>
            <a:normAutofit/>
          </a:bodyPr>
          <a:lstStyle/>
          <a:p>
            <a:r>
              <a:rPr lang="en-US" altLang="zh-CN" sz="16000" b="1" dirty="0">
                <a:latin typeface="+mn-ea"/>
                <a:ea typeface="+mn-ea"/>
              </a:rPr>
              <a:t>GSPO</a:t>
            </a:r>
            <a:br>
              <a:rPr lang="en-US" altLang="zh-CN" sz="13000" b="1" dirty="0">
                <a:latin typeface="+mn-ea"/>
                <a:ea typeface="+mn-ea"/>
              </a:rPr>
            </a:br>
            <a:r>
              <a:rPr lang="en-US" altLang="zh-CN" sz="2700" dirty="0"/>
              <a:t>Group Sequence Policy Optimization</a:t>
            </a:r>
            <a:endParaRPr lang="zh-CN" altLang="en-US" sz="2700" b="1" dirty="0">
              <a:latin typeface="+mn-ea"/>
              <a:ea typeface="+mn-ea"/>
            </a:endParaRP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388D9F4-E3C9-2C50-4636-118298A104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803112"/>
            <a:ext cx="9144000" cy="1077686"/>
          </a:xfrm>
        </p:spPr>
        <p:txBody>
          <a:bodyPr/>
          <a:lstStyle/>
          <a:p>
            <a:r>
              <a:rPr lang="zh-CN" altLang="en-US" dirty="0"/>
              <a:t>东川路第一可爱猫猫虫</a:t>
            </a:r>
          </a:p>
        </p:txBody>
      </p:sp>
    </p:spTree>
    <p:extLst>
      <p:ext uri="{BB962C8B-B14F-4D97-AF65-F5344CB8AC3E}">
        <p14:creationId xmlns:p14="http://schemas.microsoft.com/office/powerpoint/2010/main" val="40626646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8E2F3C4-4150-F879-3A71-C8A12A1B31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主要内容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011164F-2006-CCB2-03A1-A45FE7952A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/>
          <a:lstStyle/>
          <a:p>
            <a:r>
              <a:rPr lang="en-US" altLang="zh-CN" dirty="0"/>
              <a:t>GRPO</a:t>
            </a:r>
          </a:p>
          <a:p>
            <a:pPr marL="0" indent="0">
              <a:buNone/>
            </a:pPr>
            <a:r>
              <a:rPr lang="en-US" altLang="zh-CN" dirty="0"/>
              <a:t>	on-policy or off-policy</a:t>
            </a:r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为什么需要重要性采样</a:t>
            </a:r>
            <a:endParaRPr lang="en-US" altLang="zh-CN" dirty="0"/>
          </a:p>
          <a:p>
            <a:r>
              <a:rPr lang="en-US" altLang="zh-CN" dirty="0"/>
              <a:t>GSPO</a:t>
            </a:r>
            <a:r>
              <a:rPr lang="zh-CN" altLang="en-US" dirty="0"/>
              <a:t>论文认为</a:t>
            </a:r>
            <a:r>
              <a:rPr lang="en-US" altLang="zh-CN" dirty="0"/>
              <a:t>GRPO</a:t>
            </a:r>
            <a:r>
              <a:rPr lang="zh-CN" altLang="en-US" dirty="0"/>
              <a:t>存在的问题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GRPO</a:t>
            </a:r>
            <a:r>
              <a:rPr lang="zh-CN" altLang="en-US" dirty="0"/>
              <a:t>的重要性权重无法起到分布校正的作用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reward </a:t>
            </a:r>
            <a:r>
              <a:rPr lang="zh-CN" altLang="en-US" dirty="0"/>
              <a:t>的单位和优化的单位不一致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token</a:t>
            </a:r>
            <a:r>
              <a:rPr lang="zh-CN" altLang="en-US" dirty="0"/>
              <a:t>之间权重的差异可能会很大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GRPO</a:t>
            </a:r>
            <a:r>
              <a:rPr lang="zh-CN" altLang="en-US" dirty="0"/>
              <a:t>训</a:t>
            </a:r>
            <a:r>
              <a:rPr lang="en-US" altLang="zh-CN" dirty="0" err="1"/>
              <a:t>MoE</a:t>
            </a:r>
            <a:r>
              <a:rPr lang="zh-CN" altLang="en-US" dirty="0"/>
              <a:t>会不稳定  </a:t>
            </a:r>
            <a:r>
              <a:rPr lang="en-US" altLang="zh-CN" dirty="0"/>
              <a:t>routing replay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814530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B056519-9E14-AA1E-9805-2065B6FCDB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195443"/>
            <a:ext cx="10515600" cy="1325563"/>
          </a:xfrm>
        </p:spPr>
        <p:txBody>
          <a:bodyPr/>
          <a:lstStyle/>
          <a:p>
            <a:r>
              <a:rPr lang="en-US" altLang="zh-CN" dirty="0"/>
              <a:t>GRPO</a:t>
            </a:r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689DE7E6-C2A9-8315-9A59-D761BC969A6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2121031"/>
                <a:ext cx="11353801" cy="4637988"/>
              </a:xfrm>
            </p:spPr>
            <p:txBody>
              <a:bodyPr>
                <a:noAutofit/>
              </a:bodyPr>
              <a:lstStyle/>
              <a:p>
                <a:r>
                  <a:rPr lang="zh-CN" altLang="en-US" dirty="0"/>
                  <a:t>查询：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zh-CN" altLang="en-US" dirty="0"/>
                  <a:t>        查询集合：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        </m:t>
                    </m:r>
                  </m:oMath>
                </a14:m>
                <a:endParaRPr lang="en-US" altLang="zh-CN" dirty="0"/>
              </a:p>
              <a:p>
                <a:r>
                  <a:rPr lang="zh-CN" altLang="en-US" dirty="0"/>
                  <a:t>响应：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zh-CN" altLang="en-US" dirty="0"/>
                  <a:t>，第 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zh-CN" altLang="en-US" dirty="0"/>
                  <a:t>个响应记为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dirty="0"/>
                  <a:t>        第 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zh-CN" altLang="en-US" dirty="0"/>
                  <a:t>个 </a:t>
                </a:r>
                <a:r>
                  <a:rPr lang="en-US" altLang="zh-CN" dirty="0"/>
                  <a:t>token</a:t>
                </a:r>
                <a:r>
                  <a:rPr lang="zh-CN" altLang="en-US" dirty="0"/>
                  <a:t>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ar-AE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zh-CN" altLang="ar-AE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ar-AE" altLang="zh-CN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zh-CN" altLang="ar-AE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lang="zh-CN" altLang="en-US" b="0" dirty="0"/>
              </a:p>
              <a:p>
                <a:r>
                  <a:rPr lang="zh-CN" altLang="en-US" dirty="0"/>
                  <a:t>旧策略：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ar-AE" i="1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sSub>
                          <m:sSubPr>
                            <m:ctrlPr>
                              <a:rPr lang="ar-AE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ar-AE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>
                                <a:latin typeface="Cambria Math" panose="02040503050406030204" pitchFamily="18" charset="0"/>
                              </a:rPr>
                              <m:t>old</m:t>
                            </m:r>
                          </m:sub>
                        </m:sSub>
                      </m:sub>
                    </m:sSub>
                  </m:oMath>
                </a14:m>
                <a:r>
                  <a:rPr lang="zh-CN" altLang="en-US" dirty="0"/>
                  <a:t>        每个 </a:t>
                </a:r>
                <a:r>
                  <a:rPr lang="en-US" altLang="zh-CN" dirty="0"/>
                  <a:t>query </a:t>
                </a:r>
                <a:r>
                  <a:rPr lang="zh-CN" altLang="en-US" dirty="0"/>
                  <a:t>采样 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zh-CN" altLang="en-US" dirty="0"/>
                  <a:t>个响应</a:t>
                </a:r>
                <a:endParaRPr lang="en-US" altLang="zh-CN" dirty="0"/>
              </a:p>
              <a:p>
                <a:r>
                  <a:rPr lang="zh-CN" altLang="en-US" dirty="0"/>
                  <a:t>重要性权重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CN" i="1" dirty="0" err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i="1" dirty="0" err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i="1" dirty="0" err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d>
                      <m:d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altLang="zh-CN" i="1" dirty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d>
                          <m:dPr>
                            <m:sepChr m:val="∣"/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altLang="zh-CN" i="1" dirty="0" err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altLang="zh-CN" i="1" dirty="0" err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zh-CN" i="1" dirty="0" err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e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altLang="zh-CN" i="1" dirty="0" err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,&lt;</m:t>
                                </m:r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e>
                        </m:d>
                      </m:num>
                      <m:den>
                        <m:sSub>
                          <m:sSub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m:rPr>
                                    <m:nor/>
                                  </m:rPr>
                                  <a:rPr lang="en-US" altLang="zh-CN" i="0" dirty="0">
                                    <a:latin typeface="Cambria Math" panose="02040503050406030204" pitchFamily="18" charset="0"/>
                                  </a:rPr>
                                  <m:t>old</m:t>
                                </m:r>
                              </m:sub>
                            </m:sSub>
                          </m:sub>
                        </m:sSub>
                        <m:d>
                          <m:dPr>
                            <m:sepChr m:val="∣"/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altLang="zh-CN" i="1" dirty="0" err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altLang="zh-CN" i="1" dirty="0" err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zh-CN" i="1" dirty="0" err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e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altLang="zh-CN" i="1" dirty="0" err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,&lt;</m:t>
                                </m:r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e>
                        </m:d>
                      </m:den>
                    </m:f>
                  </m:oMath>
                </a14:m>
                <a:endParaRPr lang="en-US" altLang="zh-CN" dirty="0"/>
              </a:p>
              <a:p>
                <a:r>
                  <a:rPr lang="zh-CN" altLang="en-US" dirty="0"/>
                  <a:t>组内标准化</a:t>
                </a:r>
                <a:r>
                  <a:rPr lang="en-US" altLang="zh-CN" dirty="0"/>
                  <a:t>advantage</a:t>
                </a:r>
                <a:r>
                  <a:rPr lang="zh-CN" altLang="en-US" dirty="0"/>
                  <a:t>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zh-CN" alt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acc>
                      </m:e>
                      <m:sub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zh-CN" altLang="en-US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𝑟</m:t>
                        </m:r>
                        <m:d>
                          <m:dPr>
                            <m:sepChr m:val=","/>
                            <m:ctrlPr>
                              <a:rPr lang="zh-CN" alt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e>
                            <m:sSub>
                              <m:sSubPr>
                                <m:ctrlP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  <m:r>
                          <a:rPr lang="zh-CN" altLang="en-US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zh-CN" altLang="en-US">
                            <a:latin typeface="Cambria Math" panose="02040503050406030204" pitchFamily="18" charset="0"/>
                          </a:rPr>
                          <m:t>mean</m:t>
                        </m:r>
                        <m:d>
                          <m:dPr>
                            <m:ctrlPr>
                              <a:rPr lang="zh-CN" alt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d>
                                  <m:dPr>
                                    <m:begChr m:val="{"/>
                                    <m:endChr m:val="}"/>
                                    <m:ctrlPr>
                                      <a:rPr lang="zh-CN" alt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altLang="en-US" i="1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  <m:d>
                                      <m:dPr>
                                        <m:sepChr m:val=","/>
                                        <m:ctrlPr>
                                          <a:rPr lang="zh-CN" alt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zh-CN" altLang="en-US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e>
                                        <m:sSub>
                                          <m:sSubPr>
                                            <m:ctrlPr>
                                              <a:rPr lang="zh-CN" altLang="en-US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zh-CN" altLang="en-US" i="1">
                                                <a:latin typeface="Cambria Math" panose="02040503050406030204" pitchFamily="18" charset="0"/>
                                              </a:rPr>
                                              <m:t>𝑦</m:t>
                                            </m:r>
                                          </m:e>
                                          <m:sub>
                                            <m:r>
                                              <a:rPr lang="zh-CN" altLang="en-US" i="1"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</m:d>
                              </m:e>
                              <m:sub>
                                <m: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zh-CN" altLang="en-US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zh-CN" altLang="en-US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  <m:t>𝐺</m:t>
                                </m:r>
                              </m:sup>
                            </m:sSubSup>
                          </m:e>
                        </m:d>
                      </m:num>
                      <m:den>
                        <m:r>
                          <m:rPr>
                            <m:sty m:val="p"/>
                          </m:rPr>
                          <a:rPr lang="zh-CN" altLang="en-US">
                            <a:latin typeface="Cambria Math" panose="02040503050406030204" pitchFamily="18" charset="0"/>
                          </a:rPr>
                          <m:t>std</m:t>
                        </m:r>
                        <m:d>
                          <m:dPr>
                            <m:ctrlPr>
                              <a:rPr lang="zh-CN" alt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d>
                                  <m:dPr>
                                    <m:begChr m:val="{"/>
                                    <m:endChr m:val="}"/>
                                    <m:ctrlPr>
                                      <a:rPr lang="zh-CN" alt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altLang="en-US" i="1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  <m:d>
                                      <m:dPr>
                                        <m:sepChr m:val=","/>
                                        <m:ctrlPr>
                                          <a:rPr lang="zh-CN" alt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zh-CN" altLang="en-US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e>
                                        <m:sSub>
                                          <m:sSubPr>
                                            <m:ctrlPr>
                                              <a:rPr lang="zh-CN" altLang="en-US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zh-CN" altLang="en-US" i="1">
                                                <a:latin typeface="Cambria Math" panose="02040503050406030204" pitchFamily="18" charset="0"/>
                                              </a:rPr>
                                              <m:t>𝑦</m:t>
                                            </m:r>
                                          </m:e>
                                          <m:sub>
                                            <m:r>
                                              <a:rPr lang="zh-CN" altLang="en-US" i="1"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</m:d>
                              </m:e>
                              <m:sub>
                                <m: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zh-CN" altLang="en-US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zh-CN" altLang="en-US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  <m:t>𝐺</m:t>
                                </m:r>
                              </m:sup>
                            </m:sSubSup>
                          </m:e>
                        </m:d>
                      </m:den>
                    </m:f>
                  </m:oMath>
                </a14:m>
                <a:endParaRPr lang="en-US" altLang="zh-CN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ar-AE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ar-AE" i="1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sSub>
                          <m:sSubPr>
                            <m:ctrlPr>
                              <a:rPr lang="ar-AE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ar-AE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>
                                <a:latin typeface="Cambria Math" panose="02040503050406030204" pitchFamily="18" charset="0"/>
                              </a:rPr>
                              <m:t>old</m:t>
                            </m:r>
                          </m:sub>
                        </m:sSub>
                      </m:sub>
                    </m:sSub>
                  </m:oMath>
                </a14:m>
                <a:r>
                  <a:rPr lang="zh-CN" altLang="en-US" dirty="0"/>
                  <a:t>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</m:oMath>
                </a14:m>
                <a:r>
                  <a:rPr lang="zh-CN" altLang="en-US" dirty="0"/>
                  <a:t>具体是什么 为什么需要重要性采样 </a:t>
                </a:r>
                <a:r>
                  <a:rPr lang="en-US" altLang="zh-CN" dirty="0"/>
                  <a:t>GRPO</a:t>
                </a:r>
                <a:r>
                  <a:rPr lang="zh-CN" altLang="en-US" dirty="0"/>
                  <a:t>是</a:t>
                </a:r>
                <a:r>
                  <a:rPr lang="en-US" altLang="zh-CN" dirty="0"/>
                  <a:t>on-policy</a:t>
                </a:r>
                <a:r>
                  <a:rPr lang="zh-CN" altLang="en-US" dirty="0"/>
                  <a:t>吗</a:t>
                </a:r>
                <a:endParaRPr lang="en-US" altLang="zh-CN" dirty="0"/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689DE7E6-C2A9-8315-9A59-D761BC969A6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2121031"/>
                <a:ext cx="11353801" cy="4637988"/>
              </a:xfrm>
              <a:blipFill>
                <a:blip r:embed="rId2"/>
                <a:stretch>
                  <a:fillRect l="-913" t="-236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图片 4">
            <a:extLst>
              <a:ext uri="{FF2B5EF4-FFF2-40B4-BE49-F238E27FC236}">
                <a16:creationId xmlns:a16="http://schemas.microsoft.com/office/drawing/2014/main" id="{7A6B60A2-FDDA-0135-4B28-3FD79F6DFF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199" y="1155794"/>
            <a:ext cx="11067068" cy="965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6899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4FDAFDA-B754-1CF8-ADCA-77AB21924A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为什么需要重要性采样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2964199B-4D3F-0D93-6FEC-DA66DDA3009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4913105"/>
              </a:xfrm>
            </p:spPr>
            <p:txBody>
              <a:bodyPr>
                <a:normAutofit/>
              </a:bodyPr>
              <a:lstStyle/>
              <a:p>
                <a:r>
                  <a:rPr lang="en-US" altLang="zh-CN" dirty="0"/>
                  <a:t>GRPO</a:t>
                </a:r>
                <a:r>
                  <a:rPr lang="zh-CN" altLang="en-US" dirty="0"/>
                  <a:t>是</a:t>
                </a:r>
                <a:r>
                  <a:rPr lang="en-US" altLang="zh-CN" dirty="0"/>
                  <a:t>on-policy</a:t>
                </a:r>
                <a:r>
                  <a:rPr lang="zh-CN" altLang="en-US" dirty="0"/>
                  <a:t>还是</a:t>
                </a:r>
                <a:r>
                  <a:rPr lang="en-US" altLang="zh-CN" dirty="0"/>
                  <a:t>off-policy</a:t>
                </a:r>
                <a:r>
                  <a:rPr lang="zh-CN" altLang="en-US" dirty="0"/>
                  <a:t>的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on policy </a:t>
                </a:r>
                <a:r>
                  <a:rPr lang="zh-CN" altLang="en-US" dirty="0"/>
                  <a:t>训练所用的数据由当前模型本身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off policy </a:t>
                </a:r>
                <a:r>
                  <a:rPr lang="zh-CN" altLang="en-US" dirty="0"/>
                  <a:t>训练所用数据来自历史模型或者外部数据</a:t>
                </a:r>
                <a:endParaRPr lang="en-US" altLang="zh-CN" dirty="0"/>
              </a:p>
              <a:p>
                <a:r>
                  <a:rPr lang="en-US" altLang="zh-CN" dirty="0"/>
                  <a:t>GRPO</a:t>
                </a:r>
                <a:r>
                  <a:rPr lang="zh-CN" altLang="en-US" dirty="0"/>
                  <a:t>可以认为是半</a:t>
                </a:r>
                <a:r>
                  <a:rPr lang="en-US" altLang="zh-CN" dirty="0"/>
                  <a:t>on policy</a:t>
                </a:r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zh-CN" altLang="en-US" dirty="0"/>
                  <a:t>通常会将大批次的</a:t>
                </a:r>
                <a:r>
                  <a:rPr lang="en-US" altLang="zh-CN" dirty="0"/>
                  <a:t>rollout</a:t>
                </a:r>
                <a:r>
                  <a:rPr lang="zh-CN" altLang="en-US" dirty="0"/>
                  <a:t>数据切分成多个</a:t>
                </a:r>
                <a:r>
                  <a:rPr lang="en-US" altLang="zh-CN" dirty="0"/>
                  <a:t>mini-batch</a:t>
                </a:r>
                <a:r>
                  <a:rPr lang="zh-CN" altLang="en-US" dirty="0"/>
                  <a:t>来更新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ar-AE" altLang="zh-CN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ar-AE" i="1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sSub>
                          <m:sSubPr>
                            <m:ctrlPr>
                              <a:rPr lang="ar-AE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ar-AE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>
                                <a:latin typeface="Cambria Math" panose="02040503050406030204" pitchFamily="18" charset="0"/>
                              </a:rPr>
                              <m:t>old</m:t>
                            </m:r>
                          </m:sub>
                        </m:sSub>
                      </m:sub>
                    </m:sSub>
                  </m:oMath>
                </a14:m>
                <a:r>
                  <a:rPr lang="zh-CN" altLang="en-US" dirty="0"/>
                  <a:t>采样得到</a:t>
                </a:r>
                <a:r>
                  <a:rPr lang="en-US" altLang="zh-CN" dirty="0"/>
                  <a:t>rollout</a:t>
                </a:r>
                <a:r>
                  <a:rPr lang="zh-CN" altLang="en-US" dirty="0"/>
                  <a:t>数据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zh-CN" altLang="en-US" dirty="0"/>
                  <a:t>每次</a:t>
                </a:r>
                <a:r>
                  <a:rPr lang="en-US" altLang="zh-CN" dirty="0"/>
                  <a:t>mini-batch</a:t>
                </a:r>
                <a:r>
                  <a:rPr lang="zh-CN" altLang="en-US" dirty="0"/>
                  <a:t>更新时的数据为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</m:oMath>
                </a14:m>
                <a:endParaRPr lang="en-US" altLang="zh-CN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ar-AE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ar-AE" i="1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sSub>
                          <m:sSubPr>
                            <m:ctrlPr>
                              <a:rPr lang="ar-AE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ar-AE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>
                                <a:latin typeface="Cambria Math" panose="02040503050406030204" pitchFamily="18" charset="0"/>
                              </a:rPr>
                              <m:t>old</m:t>
                            </m:r>
                          </m:sub>
                        </m:sSub>
                      </m:sub>
                    </m:sSub>
                  </m:oMath>
                </a14:m>
                <a:r>
                  <a:rPr lang="zh-CN" altLang="en-US" dirty="0"/>
                  <a:t>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</m:oMath>
                </a14:m>
                <a:r>
                  <a:rPr lang="zh-CN" altLang="en-US" dirty="0"/>
                  <a:t>很接近，但终归不是一个分布，因此不是严格</a:t>
                </a:r>
                <a:r>
                  <a:rPr lang="en-US" altLang="zh-CN" dirty="0"/>
                  <a:t>on-policy</a:t>
                </a:r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zh-CN" altLang="en-US" dirty="0"/>
                  <a:t>因此需要重要性采样来完成分布校正</a:t>
                </a:r>
                <a:endParaRPr lang="en-US" altLang="zh-CN" dirty="0"/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2964199B-4D3F-0D93-6FEC-DA66DDA3009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4913105"/>
              </a:xfrm>
              <a:blipFill>
                <a:blip r:embed="rId2"/>
                <a:stretch>
                  <a:fillRect l="-1043" t="-2233" r="-81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842156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A18099D-43D3-076E-FEC7-C072A3061A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重要性采样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20DF7F5F-D1DC-F52D-DC26-ABFF1E2B2CC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/>
                        </m:ctrlPr>
                      </m:sSubPr>
                      <m:e>
                        <m:r>
                          <a:rPr lang="zh-CN" altLang="en-US"/>
                          <m:t>𝔼</m:t>
                        </m:r>
                      </m:e>
                      <m:sub>
                        <m:r>
                          <a:rPr lang="zh-CN" altLang="en-US" i="1"/>
                          <m:t>𝑧</m:t>
                        </m:r>
                        <m:r>
                          <a:rPr lang="zh-CN" altLang="en-US"/>
                          <m:t>∼</m:t>
                        </m:r>
                        <m:sSub>
                          <m:sSubPr>
                            <m:ctrlPr>
                              <a:rPr lang="zh-CN" altLang="en-US" i="1"/>
                            </m:ctrlPr>
                          </m:sSubPr>
                          <m:e>
                            <m:r>
                              <a:rPr lang="zh-CN" altLang="en-US" i="1"/>
                              <m:t>𝜋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zh-CN" altLang="en-US"/>
                              <m:t>tar</m:t>
                            </m:r>
                          </m:sub>
                        </m:sSub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zh-CN" altLang="en-US" i="1"/>
                        </m:ctrlPr>
                      </m:dPr>
                      <m:e>
                        <m:r>
                          <a:rPr lang="zh-CN" altLang="en-US" i="1"/>
                          <m:t>𝑓</m:t>
                        </m:r>
                        <m:d>
                          <m:dPr>
                            <m:ctrlPr>
                              <a:rPr lang="zh-CN" altLang="en-US" i="1"/>
                            </m:ctrlPr>
                          </m:dPr>
                          <m:e>
                            <m:r>
                              <a:rPr lang="zh-CN" altLang="en-US" i="1"/>
                              <m:t>𝑧</m:t>
                            </m:r>
                          </m:e>
                        </m:d>
                      </m:e>
                    </m:d>
                    <m:r>
                      <a:rPr lang="zh-CN" altLang="en-US"/>
                      <m:t>=</m:t>
                    </m:r>
                    <m:sSub>
                      <m:sSubPr>
                        <m:ctrlPr>
                          <a:rPr lang="zh-CN" altLang="en-US" i="1"/>
                        </m:ctrlPr>
                      </m:sSubPr>
                      <m:e>
                        <m:r>
                          <a:rPr lang="zh-CN" altLang="en-US"/>
                          <m:t>𝔼</m:t>
                        </m:r>
                      </m:e>
                      <m:sub>
                        <m:r>
                          <a:rPr lang="zh-CN" altLang="en-US" i="1"/>
                          <m:t>𝑧</m:t>
                        </m:r>
                        <m:r>
                          <a:rPr lang="zh-CN" altLang="en-US"/>
                          <m:t>∼</m:t>
                        </m:r>
                        <m:sSub>
                          <m:sSubPr>
                            <m:ctrlPr>
                              <a:rPr lang="zh-CN" altLang="en-US" i="1"/>
                            </m:ctrlPr>
                          </m:sSubPr>
                          <m:e>
                            <m:r>
                              <a:rPr lang="zh-CN" altLang="en-US" i="1"/>
                              <m:t>𝜋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zh-CN" altLang="en-US"/>
                              <m:t>beh</m:t>
                            </m:r>
                          </m:sub>
                        </m:sSub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zh-CN" altLang="en-US" i="1"/>
                        </m:ctrlPr>
                      </m:dPr>
                      <m:e>
                        <m:f>
                          <m:fPr>
                            <m:ctrlPr>
                              <a:rPr lang="zh-CN" altLang="en-US" i="1"/>
                            </m:ctrlPr>
                          </m:fPr>
                          <m:num>
                            <m:sSub>
                              <m:sSubPr>
                                <m:ctrlPr>
                                  <a:rPr lang="zh-CN" altLang="en-US" i="1"/>
                                </m:ctrlPr>
                              </m:sSubPr>
                              <m:e>
                                <m:r>
                                  <a:rPr lang="zh-CN" altLang="en-US" i="1"/>
                                  <m:t>𝜋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zh-CN" altLang="en-US"/>
                                  <m:t>tar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zh-CN" altLang="en-US" i="1"/>
                                </m:ctrlPr>
                              </m:dPr>
                              <m:e>
                                <m:r>
                                  <a:rPr lang="zh-CN" altLang="en-US" i="1"/>
                                  <m:t>𝑧</m:t>
                                </m:r>
                              </m:e>
                            </m:d>
                          </m:num>
                          <m:den>
                            <m:sSub>
                              <m:sSubPr>
                                <m:ctrlPr>
                                  <a:rPr lang="zh-CN" altLang="en-US" i="1"/>
                                </m:ctrlPr>
                              </m:sSubPr>
                              <m:e>
                                <m:r>
                                  <a:rPr lang="zh-CN" altLang="en-US" i="1"/>
                                  <m:t>𝜋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zh-CN" altLang="en-US"/>
                                  <m:t>beh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zh-CN" altLang="en-US" i="1"/>
                                </m:ctrlPr>
                              </m:dPr>
                              <m:e>
                                <m:r>
                                  <a:rPr lang="zh-CN" altLang="en-US" i="1"/>
                                  <m:t>𝑧</m:t>
                                </m:r>
                              </m:e>
                            </m:d>
                          </m:den>
                        </m:f>
                        <m:r>
                          <a:rPr lang="zh-CN" altLang="en-US" i="1"/>
                          <m:t>𝑓</m:t>
                        </m:r>
                        <m:d>
                          <m:dPr>
                            <m:ctrlPr>
                              <a:rPr lang="zh-CN" altLang="en-US" i="1"/>
                            </m:ctrlPr>
                          </m:dPr>
                          <m:e>
                            <m:r>
                              <a:rPr lang="zh-CN" altLang="en-US" i="1"/>
                              <m:t>𝑧</m:t>
                            </m:r>
                          </m:e>
                        </m:d>
                      </m:e>
                    </m:d>
                  </m:oMath>
                </a14:m>
                <a:endParaRPr lang="zh-CN" alt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zh-CN" altLang="en-US">
                            <a:latin typeface="Cambria Math" panose="02040503050406030204" pitchFamily="18" charset="0"/>
                          </a:rPr>
                          <m:t>tar</m:t>
                        </m:r>
                      </m:sub>
                    </m:sSub>
                  </m:oMath>
                </a14:m>
                <a:r>
                  <a:rPr lang="zh-CN" altLang="en-US" dirty="0"/>
                  <a:t> 想要优化的目标分布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zh-CN" altLang="en-US" dirty="0"/>
                  <a:t>对应的就是</a:t>
                </a:r>
                <a:r>
                  <a:rPr lang="en-US" altLang="zh-CN" dirty="0"/>
                  <a:t>GRPO</a:t>
                </a:r>
                <a:r>
                  <a:rPr lang="zh-CN" altLang="en-US" dirty="0"/>
                  <a:t>的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</m:oMath>
                </a14:m>
                <a:endParaRPr lang="en-US" altLang="zh-CN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zh-CN" altLang="en-US">
                            <a:latin typeface="Cambria Math" panose="02040503050406030204" pitchFamily="18" charset="0"/>
                          </a:rPr>
                          <m:t>beh</m:t>
                        </m:r>
                      </m:sub>
                    </m:sSub>
                  </m:oMath>
                </a14:m>
                <a:r>
                  <a:rPr lang="zh-CN" altLang="en-US" dirty="0"/>
                  <a:t> 实际采样数据来自的行为分布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zh-CN" altLang="en-US" dirty="0"/>
                  <a:t>对应的就是</a:t>
                </a:r>
                <a:r>
                  <a:rPr lang="en-US" altLang="zh-CN" dirty="0"/>
                  <a:t>GRPO</a:t>
                </a:r>
                <a:r>
                  <a:rPr lang="zh-CN" altLang="en-US" dirty="0"/>
                  <a:t>的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ar-AE" i="1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sSub>
                          <m:sSubPr>
                            <m:ctrlPr>
                              <a:rPr lang="ar-AE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ar-AE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>
                                <a:latin typeface="Cambria Math" panose="02040503050406030204" pitchFamily="18" charset="0"/>
                              </a:rPr>
                              <m:t>old</m:t>
                            </m:r>
                          </m:sub>
                        </m:sSub>
                      </m:sub>
                    </m:sSub>
                  </m:oMath>
                </a14:m>
                <a:endParaRPr lang="en-US" altLang="zh-CN" dirty="0"/>
              </a:p>
              <a:p>
                <a:r>
                  <a:rPr lang="zh-CN" altLang="en-US" dirty="0"/>
                  <a:t>用旧</a:t>
                </a:r>
                <a:r>
                  <a:rPr lang="en-US" altLang="zh-CN" dirty="0"/>
                  <a:t>policy</a:t>
                </a:r>
                <a:r>
                  <a:rPr lang="zh-CN" altLang="en-US" dirty="0"/>
                  <a:t>采样的数据，近似估计当前 </a:t>
                </a:r>
                <a:r>
                  <a:rPr lang="en-US" altLang="zh-CN" dirty="0"/>
                  <a:t>policy </a:t>
                </a:r>
                <a:r>
                  <a:rPr lang="zh-CN" altLang="en-US" dirty="0"/>
                  <a:t>下的优化目标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clip</a:t>
                </a:r>
                <a:r>
                  <a:rPr lang="zh-CN" altLang="en-US" dirty="0"/>
                  <a:t>可以防止某些样本太</a:t>
                </a:r>
                <a:r>
                  <a:rPr lang="en-US" altLang="zh-CN" dirty="0"/>
                  <a:t>off-policy</a:t>
                </a:r>
                <a:endParaRPr lang="zh-CN" altLang="en-US" dirty="0"/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20DF7F5F-D1DC-F52D-DC26-ABFF1E2B2CC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318384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C022221-9F28-72DF-E038-03B4AA9163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GSPO</a:t>
            </a:r>
            <a:r>
              <a:rPr lang="zh-CN" altLang="en-US" dirty="0"/>
              <a:t>论文认为</a:t>
            </a:r>
            <a:r>
              <a:rPr lang="en-US" altLang="zh-CN" dirty="0"/>
              <a:t>GRPO</a:t>
            </a:r>
            <a:r>
              <a:rPr lang="zh-CN" altLang="en-US" dirty="0"/>
              <a:t>存在问题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6EB9E1E3-267F-D8C4-C45E-328337A04E2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863410"/>
              </a:xfrm>
            </p:spPr>
            <p:txBody>
              <a:bodyPr>
                <a:normAutofit/>
              </a:bodyPr>
              <a:lstStyle/>
              <a:p>
                <a:r>
                  <a:rPr lang="en-US" altLang="zh-CN" dirty="0"/>
                  <a:t>GRPO</a:t>
                </a:r>
                <a:r>
                  <a:rPr lang="zh-CN" altLang="en-US" dirty="0"/>
                  <a:t>的重要性权重无法起到分布校正的作用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>
                            <a:latin typeface="Cambria Math" panose="02040503050406030204" pitchFamily="18" charset="0"/>
                          </a:rPr>
                          <m:t>𝔼</m:t>
                        </m:r>
                      </m:e>
                      <m:sub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zh-CN" altLang="en-US">
                            <a:latin typeface="Cambria Math" panose="02040503050406030204" pitchFamily="18" charset="0"/>
                          </a:rPr>
                          <m:t>∼</m:t>
                        </m:r>
                        <m:sSub>
                          <m:sSubPr>
                            <m:ctrlPr>
                              <a:rPr lang="zh-CN" alt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zh-CN" altLang="en-US">
                                <a:latin typeface="Cambria Math" panose="02040503050406030204" pitchFamily="18" charset="0"/>
                              </a:rPr>
                              <m:t>beh</m:t>
                            </m:r>
                          </m:sub>
                        </m:sSub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zh-CN" alt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zh-CN" altLang="en-US">
                                    <a:latin typeface="Cambria Math" panose="02040503050406030204" pitchFamily="18" charset="0"/>
                                  </a:rPr>
                                  <m:t>tar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</m:d>
                          </m:num>
                          <m:den>
                            <m:sSub>
                              <m:sSubPr>
                                <m:ctrlP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zh-CN" altLang="en-US">
                                    <a:latin typeface="Cambria Math" panose="02040503050406030204" pitchFamily="18" charset="0"/>
                                  </a:rPr>
                                  <m:t>beh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</m:d>
                          </m:den>
                        </m:f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zh-CN" alt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d>
                      </m:e>
                    </m:d>
                  </m:oMath>
                </a14:m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GRPO</a:t>
                </a:r>
                <a:r>
                  <a:rPr lang="zh-CN" altLang="en-US" dirty="0"/>
                  <a:t>里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d>
                          <m:dPr>
                            <m:sepChr m:val="∣"/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altLang="zh-CN" i="1" dirty="0" err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altLang="zh-CN" i="1" dirty="0" err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zh-CN" i="1" dirty="0" err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e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altLang="zh-CN" i="1" dirty="0" err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,&lt;</m:t>
                                </m:r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e>
                        </m:d>
                      </m:num>
                      <m:den>
                        <m:sSub>
                          <m:sSub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m:rPr>
                                    <m:nor/>
                                  </m:rPr>
                                  <a:rPr lang="en-US" altLang="zh-CN" dirty="0">
                                    <a:latin typeface="Cambria Math" panose="02040503050406030204" pitchFamily="18" charset="0"/>
                                  </a:rPr>
                                  <m:t>old</m:t>
                                </m:r>
                              </m:sub>
                            </m:sSub>
                          </m:sub>
                        </m:sSub>
                        <m:d>
                          <m:dPr>
                            <m:sepChr m:val="∣"/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altLang="zh-CN" i="1" dirty="0" err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altLang="zh-CN" i="1" dirty="0" err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zh-CN" i="1" dirty="0" err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e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altLang="zh-CN" i="1" dirty="0" err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,&lt;</m:t>
                                </m:r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e>
                        </m:d>
                      </m:den>
                    </m:f>
                  </m:oMath>
                </a14:m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zh-CN" altLang="en-US" dirty="0"/>
                  <a:t>应该多次采样，但</a:t>
                </a:r>
                <a:r>
                  <a:rPr lang="en-US" altLang="zh-CN" dirty="0"/>
                  <a:t>GRPO</a:t>
                </a:r>
                <a:r>
                  <a:rPr lang="zh-CN" altLang="en-US" dirty="0"/>
                  <a:t>只能采样一次</a:t>
                </a:r>
                <a:endParaRPr lang="en-US" altLang="zh-CN" dirty="0"/>
              </a:p>
              <a:p>
                <a:r>
                  <a:rPr lang="zh-CN" altLang="en-US" dirty="0"/>
                  <a:t>在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i="1" dirty="0" err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,&lt;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zh-CN" altLang="en-US" dirty="0"/>
                  <a:t>的条件下，生成</a:t>
                </a:r>
                <a:r>
                  <a:rPr lang="en-US" altLang="zh-CN" dirty="0"/>
                  <a:t>next token</a:t>
                </a:r>
                <a:r>
                  <a:rPr lang="zh-CN" altLang="en-US" dirty="0"/>
                  <a:t>的过程只会发生一次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zh-CN" altLang="en-US" dirty="0"/>
                  <a:t>只采样了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i="1" dirty="0" err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i="1" dirty="0" err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i="1" dirty="0" err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zh-CN" altLang="en-US" dirty="0"/>
                  <a:t>相当于把单次采样的结果当成了期望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zh-CN" altLang="en-US" dirty="0"/>
                  <a:t>因此引入了高方差噪声</a:t>
                </a:r>
                <a:endParaRPr lang="en-US" altLang="zh-CN" dirty="0"/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6EB9E1E3-267F-D8C4-C45E-328337A04E2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863410"/>
              </a:xfrm>
              <a:blipFill>
                <a:blip r:embed="rId2"/>
                <a:stretch>
                  <a:fillRect l="-1043" t="-2256" b="-300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356581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32B858-6F8B-8DE6-7D40-415230CC95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reward </a:t>
            </a:r>
            <a:r>
              <a:rPr lang="zh-CN" altLang="en-US" dirty="0"/>
              <a:t>的单位和优化的单位不一致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720CD4F8-5B70-ABF7-7375-EDB12CB3953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690688"/>
                <a:ext cx="10515600" cy="3189425"/>
              </a:xfrm>
            </p:spPr>
            <p:txBody>
              <a:bodyPr/>
              <a:lstStyle/>
              <a:p>
                <a:r>
                  <a:rPr lang="zh-CN" altLang="en-US" dirty="0"/>
                  <a:t>奖励是给整个序列的  </a:t>
                </a:r>
                <a:r>
                  <a:rPr lang="en-US" altLang="zh-CN" dirty="0"/>
                  <a:t>seq-level</a:t>
                </a:r>
              </a:p>
              <a:p>
                <a:pPr marL="0" indent="0">
                  <a:buNone/>
                </a:pPr>
                <a:r>
                  <a:rPr lang="en-US" altLang="zh-CN" dirty="0"/>
                  <a:t>	GRPO </a:t>
                </a:r>
                <a:r>
                  <a:rPr lang="zh-CN" altLang="en-US" dirty="0"/>
                  <a:t>却对每个 </a:t>
                </a:r>
                <a:r>
                  <a:rPr lang="en-US" altLang="zh-CN" dirty="0"/>
                  <a:t>token </a:t>
                </a:r>
                <a:r>
                  <a:rPr lang="zh-CN" altLang="en-US" dirty="0"/>
                  <a:t>单独乘一个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zh-CN" altLang="en-US" dirty="0"/>
                  <a:t>，再单独做 </a:t>
                </a:r>
                <a:r>
                  <a:rPr lang="en-US" altLang="zh-CN" dirty="0"/>
                  <a:t>clip</a:t>
                </a:r>
              </a:p>
              <a:p>
                <a:r>
                  <a:rPr lang="en-US" altLang="zh-CN" dirty="0"/>
                  <a:t>PPO </a:t>
                </a:r>
                <a:r>
                  <a:rPr lang="zh-CN" altLang="en-US" dirty="0"/>
                  <a:t>奖励和优化都是</a:t>
                </a:r>
                <a:r>
                  <a:rPr lang="en-US" altLang="zh-CN" dirty="0"/>
                  <a:t>token-level</a:t>
                </a:r>
                <a:r>
                  <a:rPr lang="zh-CN" altLang="en-US" dirty="0"/>
                  <a:t>的</a:t>
                </a:r>
                <a:endParaRPr lang="en-US" altLang="zh-CN" dirty="0"/>
              </a:p>
              <a:p>
                <a:r>
                  <a:rPr lang="en-US" altLang="zh-CN" dirty="0"/>
                  <a:t>GRPO </a:t>
                </a:r>
                <a:r>
                  <a:rPr lang="zh-CN" altLang="en-US" dirty="0"/>
                  <a:t>奖励是</a:t>
                </a:r>
                <a:r>
                  <a:rPr lang="en-US" altLang="zh-CN" dirty="0"/>
                  <a:t>seq-level</a:t>
                </a:r>
                <a:r>
                  <a:rPr lang="zh-CN" altLang="en-US" dirty="0"/>
                  <a:t>的，优化是</a:t>
                </a:r>
                <a:r>
                  <a:rPr lang="en-US" altLang="zh-CN" dirty="0"/>
                  <a:t>token-level</a:t>
                </a:r>
                <a:r>
                  <a:rPr lang="zh-CN" altLang="en-US" dirty="0"/>
                  <a:t>的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GRPO</a:t>
                </a:r>
                <a:r>
                  <a:rPr lang="zh-CN" altLang="en-US" dirty="0"/>
                  <a:t>的</a:t>
                </a:r>
                <a:r>
                  <a:rPr lang="en-US" altLang="zh-CN" dirty="0"/>
                  <a:t>clip ratio optimization</a:t>
                </a:r>
                <a:r>
                  <a:rPr lang="zh-CN" altLang="en-US" dirty="0"/>
                  <a:t>都是</a:t>
                </a:r>
                <a:r>
                  <a:rPr lang="en-US" altLang="zh-CN" dirty="0"/>
                  <a:t>token-level</a:t>
                </a:r>
                <a:r>
                  <a:rPr lang="zh-CN" altLang="en-US" dirty="0"/>
                  <a:t>的</a:t>
                </a:r>
                <a:endParaRPr lang="en-US" altLang="zh-CN" dirty="0"/>
              </a:p>
              <a:p>
                <a:r>
                  <a:rPr lang="en-US" altLang="zh-CN" dirty="0"/>
                  <a:t>GSPO </a:t>
                </a:r>
                <a:r>
                  <a:rPr lang="zh-CN" altLang="en-US" dirty="0"/>
                  <a:t>把奖励和优化统一为</a:t>
                </a:r>
                <a:r>
                  <a:rPr lang="en-US" altLang="zh-CN" dirty="0"/>
                  <a:t>seq-level</a:t>
                </a:r>
                <a:r>
                  <a:rPr lang="zh-CN" altLang="en-US" dirty="0"/>
                  <a:t>的</a:t>
                </a:r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720CD4F8-5B70-ABF7-7375-EDB12CB3953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690688"/>
                <a:ext cx="10515600" cy="3189425"/>
              </a:xfrm>
              <a:blipFill>
                <a:blip r:embed="rId2"/>
                <a:stretch>
                  <a:fillRect l="-1043" t="-3435" b="-57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图片 5">
            <a:extLst>
              <a:ext uri="{FF2B5EF4-FFF2-40B4-BE49-F238E27FC236}">
                <a16:creationId xmlns:a16="http://schemas.microsoft.com/office/drawing/2014/main" id="{A8678100-C2D2-EAD4-3F0F-E1FBE9B74E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784168"/>
            <a:ext cx="12192000" cy="1603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67328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088341B-AF76-E06A-FA91-42BF4C302E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单位不一致的问题是</a:t>
            </a:r>
            <a:r>
              <a:rPr lang="en-US" altLang="zh-CN" dirty="0"/>
              <a:t>token</a:t>
            </a:r>
            <a:r>
              <a:rPr lang="zh-CN" altLang="en-US" dirty="0"/>
              <a:t>权重不同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62675CAC-4802-9346-5025-85B2F1C2D48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959548" cy="4351338"/>
              </a:xfrm>
            </p:spPr>
            <p:txBody>
              <a:bodyPr>
                <a:normAutofit/>
              </a:bodyPr>
              <a:lstStyle/>
              <a:p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i="0" dirty="0" smtClean="0"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m:rPr>
                            <m:nor/>
                          </m:rPr>
                          <a:rPr lang="en-US" altLang="zh-CN" i="0" dirty="0">
                            <a:latin typeface="Cambria Math" panose="02040503050406030204" pitchFamily="18" charset="0"/>
                          </a:rPr>
                          <m:t>GRPO</m:t>
                        </m:r>
                      </m:sub>
                    </m:sSub>
                    <m:d>
                      <m:d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altLang="zh-CN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𝐺</m:t>
                            </m:r>
                          </m:den>
                        </m:f>
                        <m:nary>
                          <m:naryPr>
                            <m:chr m:val="∑"/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altLang="zh-CN" i="1" dirty="0" err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𝐺</m:t>
                            </m:r>
                          </m:sup>
                          <m:e>
                            <m:acc>
                              <m:accPr>
                                <m:chr m:val="̂"/>
                                <m:ctrlP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sSub>
                                  <m:sSubPr>
                                    <m:ctrlPr>
                                      <a:rPr lang="en-US" altLang="zh-CN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 dirty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en-US" altLang="zh-CN" i="1" dirty="0" err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acc>
                          </m:e>
                        </m:nary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⋅</m:t>
                        </m:r>
                        <m:f>
                          <m:f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zh-CN" i="1" dirty="0" err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 dirty="0" err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zh-CN" i="1" dirty="0" err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</m:den>
                        </m:f>
                        <m:nary>
                          <m:naryPr>
                            <m:chr m:val="∑"/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zh-CN" i="1" dirty="0" err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 dirty="0" err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zh-CN" i="1" dirty="0" err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</m:sup>
                          <m:e>
                            <m:sSub>
                              <m:sSubPr>
                                <m:ctrlP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US" altLang="zh-CN" i="1" dirty="0" err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altLang="zh-CN" i="1" dirty="0" err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zh-CN" i="1" dirty="0" err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d>
                            <m:sSub>
                              <m:sSubPr>
                                <m:ctrlP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i="0" dirty="0">
                                    <a:latin typeface="Cambria Math" panose="02040503050406030204" pitchFamily="18" charset="0"/>
                                  </a:rPr>
                                  <m:t>∇</m:t>
                                </m:r>
                              </m:e>
                              <m:sub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sub>
                            </m:sSub>
                          </m:e>
                        </m:nary>
                        <m:func>
                          <m:func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CN" i="0" dirty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sSub>
                              <m:sSubPr>
                                <m:ctrlP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e>
                              <m:sub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zh-CN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 dirty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zh-CN" i="1" dirty="0" err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altLang="zh-CN" i="1" dirty="0" err="1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altLang="zh-CN" i="1" dirty="0" err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altLang="zh-CN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 dirty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zh-CN" i="1" dirty="0" err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altLang="zh-CN" i="1" dirty="0">
                                        <a:latin typeface="Cambria Math" panose="02040503050406030204" pitchFamily="18" charset="0"/>
                                      </a:rPr>
                                      <m:t>,&lt;</m:t>
                                    </m:r>
                                    <m:r>
                                      <a:rPr lang="en-US" altLang="zh-CN" i="1" dirty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</m:e>
                            </m:d>
                          </m:e>
                        </m:func>
                      </m:e>
                    </m:d>
                  </m:oMath>
                </a14:m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CN" i="1" dirty="0" err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i="1" dirty="0" err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i="1" dirty="0" err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d>
                      <m:d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</m:oMath>
                </a14:m>
                <a:r>
                  <a:rPr lang="zh-CN" altLang="en-US" dirty="0"/>
                  <a:t>是</a:t>
                </a:r>
                <a:r>
                  <a:rPr lang="en-US" altLang="zh-CN" dirty="0"/>
                  <a:t>token</a:t>
                </a:r>
                <a:r>
                  <a:rPr lang="zh-CN" altLang="en-US" dirty="0"/>
                  <a:t>级别的</a:t>
                </a:r>
                <a:endParaRPr lang="en-US" altLang="zh-CN" dirty="0"/>
              </a:p>
              <a:p>
                <a:r>
                  <a:rPr lang="en-US" altLang="zh-CN" dirty="0"/>
                  <a:t>GRPO</a:t>
                </a:r>
                <a:r>
                  <a:rPr lang="zh-CN" altLang="en-US" dirty="0"/>
                  <a:t>每个</a:t>
                </a:r>
                <a:r>
                  <a:rPr lang="en-US" altLang="zh-CN" dirty="0"/>
                  <a:t>token</a:t>
                </a:r>
                <a:r>
                  <a:rPr lang="zh-CN" altLang="en-US" dirty="0"/>
                  <a:t>的重要性权重不同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zh-CN" altLang="en-US" dirty="0"/>
                  <a:t>每个</a:t>
                </a:r>
                <a:r>
                  <a:rPr lang="en-US" altLang="zh-CN" dirty="0"/>
                  <a:t>token</a:t>
                </a:r>
                <a:r>
                  <a:rPr lang="zh-CN" altLang="en-US" dirty="0"/>
                  <a:t>根据不同的权重对梯度做加权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zh-CN" altLang="en-US" dirty="0"/>
                  <a:t>随着训练的进行和序列长度增加而累积</a:t>
                </a:r>
                <a:r>
                  <a:rPr lang="en-US" altLang="zh-CN" dirty="0"/>
                  <a:t>token</a:t>
                </a:r>
                <a:r>
                  <a:rPr lang="zh-CN" altLang="en-US" dirty="0"/>
                  <a:t>级别的噪声</a:t>
                </a:r>
                <a:endParaRPr lang="en-US" altLang="zh-CN" dirty="0"/>
              </a:p>
              <a:p>
                <a:r>
                  <a:rPr lang="en-US" altLang="zh-CN" dirty="0"/>
                  <a:t>token</a:t>
                </a:r>
                <a:r>
                  <a:rPr lang="zh-CN" altLang="en-US" dirty="0"/>
                  <a:t>与</a:t>
                </a:r>
                <a:r>
                  <a:rPr lang="en-US" altLang="zh-CN" dirty="0"/>
                  <a:t>token</a:t>
                </a:r>
                <a:r>
                  <a:rPr lang="zh-CN" altLang="en-US" dirty="0"/>
                  <a:t>之间权重的差异可能会很大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zh-CN" altLang="en-US" dirty="0"/>
                  <a:t>会进一步放大既有问题</a:t>
                </a:r>
                <a:endParaRPr lang="en-US" altLang="zh-CN" dirty="0"/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62675CAC-4802-9346-5025-85B2F1C2D48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959548" cy="4351338"/>
              </a:xfrm>
              <a:blipFill>
                <a:blip r:embed="rId2"/>
                <a:stretch>
                  <a:fillRect l="-100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818490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A6B9D81-69E0-14C9-EF94-26C305BE87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token</a:t>
            </a:r>
            <a:r>
              <a:rPr lang="zh-CN" altLang="en-US" dirty="0"/>
              <a:t>与</a:t>
            </a:r>
            <a:r>
              <a:rPr lang="en-US" altLang="zh-CN" dirty="0"/>
              <a:t>token</a:t>
            </a:r>
            <a:r>
              <a:rPr lang="zh-CN" altLang="en-US" dirty="0"/>
              <a:t>之间权重的差异可能会很大</a:t>
            </a:r>
            <a:endParaRPr lang="en-US" altLang="zh-CN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BEC0EEEF-4101-1C59-2420-D6143CB7C6F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1026905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altLang="zh-CN" dirty="0"/>
                  <a:t>clipping</a:t>
                </a:r>
                <a:r>
                  <a:rPr lang="zh-CN" altLang="en-US" dirty="0"/>
                  <a:t>机制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ℓ</m:t>
                        </m:r>
                      </m:e>
                      <m:sub>
                        <m:r>
                          <a:rPr lang="en-US" altLang="zh-CN" i="1" dirty="0" err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i="1" dirty="0" err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i="1" dirty="0" err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d>
                      <m:d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altLang="zh-CN" i="1" dirty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i="0" dirty="0">
                            <a:latin typeface="Cambria Math" panose="02040503050406030204" pitchFamily="18" charset="0"/>
                          </a:rPr>
                          <m:t>min</m:t>
                        </m:r>
                      </m:fName>
                      <m:e>
                        <m:d>
                          <m:d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altLang="zh-CN" i="1" dirty="0" err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altLang="zh-CN" i="1" dirty="0" err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zh-CN" i="1" dirty="0" err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  <m:acc>
                              <m:accPr>
                                <m:chr m:val="̂"/>
                                <m:ctrlP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sSub>
                                  <m:sSubPr>
                                    <m:ctrlPr>
                                      <a:rPr lang="en-US" altLang="zh-CN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 dirty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en-US" altLang="zh-CN" i="1" dirty="0" err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acc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m:rPr>
                                <m:nor/>
                              </m:rPr>
                              <a:rPr lang="en-US" altLang="zh-CN" i="0" dirty="0">
                                <a:latin typeface="Cambria Math" panose="02040503050406030204" pitchFamily="18" charset="0"/>
                              </a:rPr>
                              <m:t>clip</m:t>
                            </m:r>
                            <m:d>
                              <m:dPr>
                                <m:ctrlP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zh-CN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 dirty="0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en-US" altLang="zh-CN" i="1" dirty="0" err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altLang="zh-CN" i="1" dirty="0" err="1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altLang="zh-CN" i="1" dirty="0" err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𝜖</m:t>
                                </m:r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𝜖</m:t>
                                </m:r>
                              </m:e>
                            </m:d>
                            <m:acc>
                              <m:accPr>
                                <m:chr m:val="̂"/>
                                <m:ctrlP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sSub>
                                  <m:sSubPr>
                                    <m:ctrlPr>
                                      <a:rPr lang="en-US" altLang="zh-CN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 dirty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en-US" altLang="zh-CN" i="1" dirty="0" err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acc>
                          </m:e>
                        </m:d>
                      </m:e>
                    </m:func>
                  </m:oMath>
                </a14:m>
                <a:endParaRPr lang="zh-CN" altLang="en-US" dirty="0"/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BEC0EEEF-4101-1C59-2420-D6143CB7C6F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1026905"/>
              </a:xfrm>
              <a:blipFill>
                <a:blip r:embed="rId2"/>
                <a:stretch>
                  <a:fillRect l="-1043" t="-1360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8" name="表格 7">
                <a:extLst>
                  <a:ext uri="{FF2B5EF4-FFF2-40B4-BE49-F238E27FC236}">
                    <a16:creationId xmlns:a16="http://schemas.microsoft.com/office/drawing/2014/main" id="{FF9F6374-5CE6-4575-2CC0-82C2BB842AD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45205342"/>
                  </p:ext>
                </p:extLst>
              </p:nvPr>
            </p:nvGraphicFramePr>
            <p:xfrm>
              <a:off x="644387" y="2987470"/>
              <a:ext cx="10903225" cy="3505405"/>
            </p:xfrm>
            <a:graphic>
              <a:graphicData uri="http://schemas.openxmlformats.org/drawingml/2006/table">
                <a:tbl>
                  <a:tblPr/>
                  <a:tblGrid>
                    <a:gridCol w="2168793">
                      <a:extLst>
                        <a:ext uri="{9D8B030D-6E8A-4147-A177-3AD203B41FA5}">
                          <a16:colId xmlns:a16="http://schemas.microsoft.com/office/drawing/2014/main" val="1508594672"/>
                        </a:ext>
                      </a:extLst>
                    </a:gridCol>
                    <a:gridCol w="2228054">
                      <a:extLst>
                        <a:ext uri="{9D8B030D-6E8A-4147-A177-3AD203B41FA5}">
                          <a16:colId xmlns:a16="http://schemas.microsoft.com/office/drawing/2014/main" val="148813247"/>
                        </a:ext>
                      </a:extLst>
                    </a:gridCol>
                    <a:gridCol w="1970739">
                      <a:extLst>
                        <a:ext uri="{9D8B030D-6E8A-4147-A177-3AD203B41FA5}">
                          <a16:colId xmlns:a16="http://schemas.microsoft.com/office/drawing/2014/main" val="543994165"/>
                        </a:ext>
                      </a:extLst>
                    </a:gridCol>
                    <a:gridCol w="1408942">
                      <a:extLst>
                        <a:ext uri="{9D8B030D-6E8A-4147-A177-3AD203B41FA5}">
                          <a16:colId xmlns:a16="http://schemas.microsoft.com/office/drawing/2014/main" val="420314728"/>
                        </a:ext>
                      </a:extLst>
                    </a:gridCol>
                    <a:gridCol w="3126697">
                      <a:extLst>
                        <a:ext uri="{9D8B030D-6E8A-4147-A177-3AD203B41FA5}">
                          <a16:colId xmlns:a16="http://schemas.microsoft.com/office/drawing/2014/main" val="2216277554"/>
                        </a:ext>
                      </a:extLst>
                    </a:gridCol>
                  </a:tblGrid>
                  <a:tr h="489805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smtClean="0">
                                    <a:latin typeface="Cambria Math" panose="02040503050406030204" pitchFamily="18" charset="0"/>
                                  </a:rPr>
                                  <m:t>𝑎𝑑𝑣𝑎𝑛𝑡𝑎𝑔𝑒</m:t>
                                </m:r>
                                <m:r>
                                  <a:rPr lang="en-US" sz="200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zh-CN" altLang="en-US" sz="2000" i="1">
                                    <a:latin typeface="Cambria Math" panose="02040503050406030204" pitchFamily="18" charset="0"/>
                                  </a:rPr>
                                  <m:t>符号</m:t>
                                </m:r>
                              </m:oMath>
                            </m:oMathPara>
                          </a14:m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smtClean="0">
                                    <a:latin typeface="Cambria Math" panose="02040503050406030204" pitchFamily="18" charset="0"/>
                                  </a:rPr>
                                  <m:t>𝑟𝑎𝑡𝑖𝑜</m:t>
                                </m:r>
                                <m:r>
                                  <a:rPr lang="en-US" sz="200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zh-CN" altLang="en-US" sz="2000" i="1">
                                    <a:latin typeface="Cambria Math" panose="02040503050406030204" pitchFamily="18" charset="0"/>
                                  </a:rPr>
                                  <m:t>区间</m:t>
                                </m:r>
                              </m:oMath>
                            </m:oMathPara>
                          </a14:m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smtClean="0">
                                    <a:latin typeface="Cambria Math" panose="02040503050406030204" pitchFamily="18" charset="0"/>
                                  </a:rPr>
                                  <m:t>𝑙𝑜𝑠𝑠</m:t>
                                </m:r>
                                <m:r>
                                  <a:rPr lang="en-US" sz="200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zh-CN" altLang="en-US" sz="2000" i="1">
                                    <a:latin typeface="Cambria Math" panose="02040503050406030204" pitchFamily="18" charset="0"/>
                                  </a:rPr>
                                  <m:t>用哪一项</m:t>
                                </m:r>
                              </m:oMath>
                            </m:oMathPara>
                          </a14:m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zh-CN" altLang="en-US" sz="2000" i="1" smtClean="0">
                                    <a:latin typeface="Cambria Math" panose="02040503050406030204" pitchFamily="18" charset="0"/>
                                  </a:rPr>
                                  <m:t>是否有梯度</m:t>
                                </m:r>
                              </m:oMath>
                            </m:oMathPara>
                          </a14:m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zh-CN" altLang="en-US" sz="2000" i="1" smtClean="0">
                                    <a:latin typeface="Cambria Math" panose="02040503050406030204" pitchFamily="18" charset="0"/>
                                  </a:rPr>
                                  <m:t>梯度中的</m:t>
                                </m:r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𝑡𝑜𝑘𝑒𝑛</m:t>
                                </m:r>
                                <m:r>
                                  <a:rPr lang="zh-CN" altLang="en-US" sz="2000" i="1">
                                    <a:latin typeface="Cambria Math" panose="02040503050406030204" pitchFamily="18" charset="0"/>
                                  </a:rPr>
                                  <m:t>权重</m:t>
                                </m:r>
                              </m:oMath>
                            </m:oMathPara>
                          </a14:m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781916089"/>
                      </a:ext>
                    </a:extLst>
                  </a:tr>
                  <a:tr h="50260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en-US" altLang="zh-CN" sz="20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CN" sz="2000" i="1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</m:acc>
                                <m:r>
                                  <a:rPr lang="en-US" altLang="zh-CN" sz="2000" i="1" smtClean="0">
                                    <a:latin typeface="Cambria Math" panose="02040503050406030204" pitchFamily="18" charset="0"/>
                                  </a:rPr>
                                  <m:t>&gt;</m:t>
                                </m:r>
                                <m:r>
                                  <a:rPr lang="en-US" altLang="zh-CN" sz="200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000" i="1" dirty="0" smtClean="0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  <m:r>
                                  <a:rPr lang="en-US" altLang="zh-CN" sz="2000" i="1" dirty="0" smtClean="0">
                                    <a:latin typeface="Cambria Math" panose="02040503050406030204" pitchFamily="18" charset="0"/>
                                  </a:rPr>
                                  <m:t>&lt;</m:t>
                                </m:r>
                                <m:r>
                                  <a:rPr lang="en-US" altLang="zh-CN" sz="200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altLang="zh-CN" sz="2000" i="1" dirty="0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zh-CN" sz="2000" i="1" dirty="0" smtClean="0">
                                    <a:latin typeface="Cambria Math" panose="02040503050406030204" pitchFamily="18" charset="0"/>
                                  </a:rPr>
                                  <m:t>𝜖</m:t>
                                </m:r>
                              </m:oMath>
                            </m:oMathPara>
                          </a14:m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000" i="1" smtClean="0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  <m:acc>
                                  <m:accPr>
                                    <m:chr m:val="̂"/>
                                    <m:ctrlPr>
                                      <a:rPr lang="en-US" altLang="zh-CN" sz="20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CN" sz="2000" i="1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</m:acc>
                              </m:oMath>
                            </m:oMathPara>
                          </a14:m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zh-CN" altLang="en-US" sz="2000" i="1" smtClean="0">
                                    <a:latin typeface="Cambria Math" panose="02040503050406030204" pitchFamily="18" charset="0"/>
                                  </a:rPr>
                                  <m:t>有</m:t>
                                </m:r>
                              </m:oMath>
                            </m:oMathPara>
                          </a14:m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000" i="1" smtClean="0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oMath>
                            </m:oMathPara>
                          </a14:m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571904360"/>
                      </a:ext>
                    </a:extLst>
                  </a:tr>
                  <a:tr h="50260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en-US" altLang="zh-CN" sz="20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CN" sz="2000" i="1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</m:acc>
                                <m:r>
                                  <a:rPr lang="en-US" altLang="zh-CN" sz="2000" i="1" smtClean="0">
                                    <a:latin typeface="Cambria Math" panose="02040503050406030204" pitchFamily="18" charset="0"/>
                                  </a:rPr>
                                  <m:t>&gt;</m:t>
                                </m:r>
                                <m:r>
                                  <a:rPr lang="en-US" altLang="zh-CN" sz="200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00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altLang="zh-CN" sz="200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zh-CN" sz="2000" i="1" smtClean="0">
                                    <a:latin typeface="Cambria Math" panose="02040503050406030204" pitchFamily="18" charset="0"/>
                                  </a:rPr>
                                  <m:t>𝜖</m:t>
                                </m:r>
                                <m:r>
                                  <a:rPr lang="en-US" altLang="zh-CN" sz="2000" i="1" smtClean="0">
                                    <a:latin typeface="Cambria Math" panose="02040503050406030204" pitchFamily="18" charset="0"/>
                                  </a:rPr>
                                  <m:t>≤</m:t>
                                </m:r>
                                <m:r>
                                  <a:rPr lang="en-US" altLang="zh-CN" sz="2000" i="1" smtClean="0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  <m:r>
                                  <a:rPr lang="en-US" altLang="zh-CN" sz="2000" i="1" smtClean="0">
                                    <a:latin typeface="Cambria Math" panose="02040503050406030204" pitchFamily="18" charset="0"/>
                                  </a:rPr>
                                  <m:t>≤</m:t>
                                </m:r>
                                <m:r>
                                  <a:rPr lang="en-US" altLang="zh-CN" sz="200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altLang="zh-CN" sz="200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altLang="zh-CN" sz="2000" i="1" smtClean="0">
                                    <a:latin typeface="Cambria Math" panose="02040503050406030204" pitchFamily="18" charset="0"/>
                                  </a:rPr>
                                  <m:t>𝜖</m:t>
                                </m:r>
                              </m:oMath>
                            </m:oMathPara>
                          </a14:m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000" i="1" smtClean="0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  <m:acc>
                                  <m:accPr>
                                    <m:chr m:val="̂"/>
                                    <m:ctrlPr>
                                      <a:rPr lang="en-US" altLang="zh-CN" sz="20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CN" sz="2000" i="1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</m:acc>
                              </m:oMath>
                            </m:oMathPara>
                          </a14:m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zh-CN" altLang="en-US" sz="2000" i="1" smtClean="0">
                                    <a:latin typeface="Cambria Math" panose="02040503050406030204" pitchFamily="18" charset="0"/>
                                  </a:rPr>
                                  <m:t>有</m:t>
                                </m:r>
                              </m:oMath>
                            </m:oMathPara>
                          </a14:m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000" i="1" smtClean="0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oMath>
                            </m:oMathPara>
                          </a14:m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3312919"/>
                      </a:ext>
                    </a:extLst>
                  </a:tr>
                  <a:tr h="50260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en-US" altLang="zh-CN" sz="20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CN" sz="2000" i="1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</m:acc>
                                <m:r>
                                  <a:rPr lang="en-US" altLang="zh-CN" sz="2000" i="1" smtClean="0">
                                    <a:latin typeface="Cambria Math" panose="02040503050406030204" pitchFamily="18" charset="0"/>
                                  </a:rPr>
                                  <m:t>&gt;</m:t>
                                </m:r>
                                <m:r>
                                  <a:rPr lang="en-US" altLang="zh-CN" sz="200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000" i="1" smtClean="0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  <m:r>
                                  <a:rPr lang="en-US" altLang="zh-CN" sz="2000" i="1" smtClean="0">
                                    <a:latin typeface="Cambria Math" panose="02040503050406030204" pitchFamily="18" charset="0"/>
                                  </a:rPr>
                                  <m:t>&gt;</m:t>
                                </m:r>
                                <m:r>
                                  <a:rPr lang="en-US" altLang="zh-CN" sz="200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altLang="zh-CN" sz="200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altLang="zh-CN" sz="2000" i="1" smtClean="0">
                                    <a:latin typeface="Cambria Math" panose="02040503050406030204" pitchFamily="18" charset="0"/>
                                  </a:rPr>
                                  <m:t>𝜖</m:t>
                                </m:r>
                              </m:oMath>
                            </m:oMathPara>
                          </a14:m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en-US" altLang="zh-CN" sz="20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200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US" altLang="zh-CN" sz="2000" i="1" smtClean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altLang="zh-CN" sz="2000" i="1" smtClean="0">
                                        <a:latin typeface="Cambria Math" panose="02040503050406030204" pitchFamily="18" charset="0"/>
                                      </a:rPr>
                                      <m:t>𝜖</m:t>
                                    </m:r>
                                  </m:e>
                                </m:d>
                                <m:acc>
                                  <m:accPr>
                                    <m:chr m:val="̂"/>
                                    <m:ctrlPr>
                                      <a:rPr lang="en-US" altLang="zh-CN" sz="20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CN" sz="2000" i="1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</m:acc>
                              </m:oMath>
                            </m:oMathPara>
                          </a14:m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zh-CN" altLang="en-US" sz="2000" i="1" smtClean="0">
                                    <a:latin typeface="Cambria Math" panose="02040503050406030204" pitchFamily="18" charset="0"/>
                                  </a:rPr>
                                  <m:t>无</m:t>
                                </m:r>
                              </m:oMath>
                            </m:oMathPara>
                          </a14:m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00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871987086"/>
                      </a:ext>
                    </a:extLst>
                  </a:tr>
                  <a:tr h="50260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en-US" altLang="zh-CN" sz="20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CN" sz="2000" i="1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</m:acc>
                                <m:r>
                                  <a:rPr lang="en-US" altLang="zh-CN" sz="2000" i="1" smtClean="0">
                                    <a:latin typeface="Cambria Math" panose="02040503050406030204" pitchFamily="18" charset="0"/>
                                  </a:rPr>
                                  <m:t>&lt;</m:t>
                                </m:r>
                                <m:r>
                                  <a:rPr lang="en-US" altLang="zh-CN" sz="200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000" i="1" dirty="0" smtClean="0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  <m:r>
                                  <a:rPr lang="en-US" altLang="zh-CN" sz="2000" i="1" dirty="0" smtClean="0">
                                    <a:latin typeface="Cambria Math" panose="02040503050406030204" pitchFamily="18" charset="0"/>
                                  </a:rPr>
                                  <m:t>&lt;</m:t>
                                </m:r>
                                <m:r>
                                  <a:rPr lang="en-US" altLang="zh-CN" sz="200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altLang="zh-CN" sz="2000" i="1" dirty="0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zh-CN" sz="2000" i="1" dirty="0" smtClean="0">
                                    <a:latin typeface="Cambria Math" panose="02040503050406030204" pitchFamily="18" charset="0"/>
                                  </a:rPr>
                                  <m:t>𝜖</m:t>
                                </m:r>
                              </m:oMath>
                            </m:oMathPara>
                          </a14:m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en-US" altLang="zh-CN" sz="20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200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US" altLang="zh-CN" sz="200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altLang="zh-CN" sz="2000" i="1" smtClean="0">
                                        <a:latin typeface="Cambria Math" panose="02040503050406030204" pitchFamily="18" charset="0"/>
                                      </a:rPr>
                                      <m:t>𝜖</m:t>
                                    </m:r>
                                  </m:e>
                                </m:d>
                                <m:acc>
                                  <m:accPr>
                                    <m:chr m:val="̂"/>
                                    <m:ctrlPr>
                                      <a:rPr lang="en-US" altLang="zh-CN" sz="20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CN" sz="2000" i="1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</m:acc>
                              </m:oMath>
                            </m:oMathPara>
                          </a14:m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zh-CN" altLang="en-US" sz="2000" i="1" smtClean="0">
                                    <a:latin typeface="Cambria Math" panose="02040503050406030204" pitchFamily="18" charset="0"/>
                                  </a:rPr>
                                  <m:t>无</m:t>
                                </m:r>
                              </m:oMath>
                            </m:oMathPara>
                          </a14:m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00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884256061"/>
                      </a:ext>
                    </a:extLst>
                  </a:tr>
                  <a:tr h="50260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en-US" altLang="zh-CN" sz="20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CN" sz="2000" i="1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</m:acc>
                                <m:r>
                                  <a:rPr lang="en-US" altLang="zh-CN" sz="2000" i="1" smtClean="0">
                                    <a:latin typeface="Cambria Math" panose="02040503050406030204" pitchFamily="18" charset="0"/>
                                  </a:rPr>
                                  <m:t>&lt;</m:t>
                                </m:r>
                                <m:r>
                                  <a:rPr lang="en-US" altLang="zh-CN" sz="200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00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altLang="zh-CN" sz="200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zh-CN" sz="2000" i="1" smtClean="0">
                                    <a:latin typeface="Cambria Math" panose="02040503050406030204" pitchFamily="18" charset="0"/>
                                  </a:rPr>
                                  <m:t>𝜖</m:t>
                                </m:r>
                                <m:r>
                                  <a:rPr lang="en-US" altLang="zh-CN" sz="2000" i="1" smtClean="0">
                                    <a:latin typeface="Cambria Math" panose="02040503050406030204" pitchFamily="18" charset="0"/>
                                  </a:rPr>
                                  <m:t>≤</m:t>
                                </m:r>
                                <m:r>
                                  <a:rPr lang="en-US" altLang="zh-CN" sz="2000" i="1" smtClean="0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  <m:r>
                                  <a:rPr lang="en-US" altLang="zh-CN" sz="2000" i="1" smtClean="0">
                                    <a:latin typeface="Cambria Math" panose="02040503050406030204" pitchFamily="18" charset="0"/>
                                  </a:rPr>
                                  <m:t>≤</m:t>
                                </m:r>
                                <m:r>
                                  <a:rPr lang="en-US" altLang="zh-CN" sz="200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altLang="zh-CN" sz="200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altLang="zh-CN" sz="2000" i="1" smtClean="0">
                                    <a:latin typeface="Cambria Math" panose="02040503050406030204" pitchFamily="18" charset="0"/>
                                  </a:rPr>
                                  <m:t>𝜖</m:t>
                                </m:r>
                              </m:oMath>
                            </m:oMathPara>
                          </a14:m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000" i="1" smtClean="0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  <m:acc>
                                  <m:accPr>
                                    <m:chr m:val="̂"/>
                                    <m:ctrlPr>
                                      <a:rPr lang="en-US" altLang="zh-CN" sz="20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CN" sz="2000" i="1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</m:acc>
                              </m:oMath>
                            </m:oMathPara>
                          </a14:m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zh-CN" altLang="en-US" sz="2000" i="1" smtClean="0">
                                    <a:latin typeface="Cambria Math" panose="02040503050406030204" pitchFamily="18" charset="0"/>
                                  </a:rPr>
                                  <m:t>有</m:t>
                                </m:r>
                              </m:oMath>
                            </m:oMathPara>
                          </a14:m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000" i="1" smtClean="0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oMath>
                            </m:oMathPara>
                          </a14:m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22675528"/>
                      </a:ext>
                    </a:extLst>
                  </a:tr>
                  <a:tr h="50260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en-US" altLang="zh-CN" sz="20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CN" sz="2000" i="1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</m:acc>
                                <m:r>
                                  <a:rPr lang="en-US" altLang="zh-CN" sz="2000" i="1" smtClean="0">
                                    <a:latin typeface="Cambria Math" panose="02040503050406030204" pitchFamily="18" charset="0"/>
                                  </a:rPr>
                                  <m:t>&lt;</m:t>
                                </m:r>
                                <m:r>
                                  <a:rPr lang="en-US" altLang="zh-CN" sz="200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000" i="1" smtClean="0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  <m:r>
                                  <a:rPr lang="en-US" altLang="zh-CN" sz="2000" i="1" smtClean="0">
                                    <a:latin typeface="Cambria Math" panose="02040503050406030204" pitchFamily="18" charset="0"/>
                                  </a:rPr>
                                  <m:t>&gt;</m:t>
                                </m:r>
                                <m:r>
                                  <a:rPr lang="en-US" altLang="zh-CN" sz="200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altLang="zh-CN" sz="200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altLang="zh-CN" sz="2000" i="1" smtClean="0">
                                    <a:latin typeface="Cambria Math" panose="02040503050406030204" pitchFamily="18" charset="0"/>
                                  </a:rPr>
                                  <m:t>𝜖</m:t>
                                </m:r>
                              </m:oMath>
                            </m:oMathPara>
                          </a14:m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000" i="1" smtClean="0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  <m:acc>
                                  <m:accPr>
                                    <m:chr m:val="̂"/>
                                    <m:ctrlPr>
                                      <a:rPr lang="en-US" altLang="zh-CN" sz="20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CN" sz="2000" i="1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</m:acc>
                              </m:oMath>
                            </m:oMathPara>
                          </a14:m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zh-CN" altLang="en-US" sz="2000" i="1" smtClean="0">
                                    <a:latin typeface="Cambria Math" panose="02040503050406030204" pitchFamily="18" charset="0"/>
                                  </a:rPr>
                                  <m:t>有</m:t>
                                </m:r>
                              </m:oMath>
                            </m:oMathPara>
                          </a14:m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000" i="1" smtClean="0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oMath>
                            </m:oMathPara>
                          </a14:m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638625251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8" name="表格 7">
                <a:extLst>
                  <a:ext uri="{FF2B5EF4-FFF2-40B4-BE49-F238E27FC236}">
                    <a16:creationId xmlns:a16="http://schemas.microsoft.com/office/drawing/2014/main" id="{FF9F6374-5CE6-4575-2CC0-82C2BB842AD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45205342"/>
                  </p:ext>
                </p:extLst>
              </p:nvPr>
            </p:nvGraphicFramePr>
            <p:xfrm>
              <a:off x="644387" y="2987470"/>
              <a:ext cx="10903225" cy="3505405"/>
            </p:xfrm>
            <a:graphic>
              <a:graphicData uri="http://schemas.openxmlformats.org/drawingml/2006/table">
                <a:tbl>
                  <a:tblPr/>
                  <a:tblGrid>
                    <a:gridCol w="2168793">
                      <a:extLst>
                        <a:ext uri="{9D8B030D-6E8A-4147-A177-3AD203B41FA5}">
                          <a16:colId xmlns:a16="http://schemas.microsoft.com/office/drawing/2014/main" val="1508594672"/>
                        </a:ext>
                      </a:extLst>
                    </a:gridCol>
                    <a:gridCol w="2228054">
                      <a:extLst>
                        <a:ext uri="{9D8B030D-6E8A-4147-A177-3AD203B41FA5}">
                          <a16:colId xmlns:a16="http://schemas.microsoft.com/office/drawing/2014/main" val="148813247"/>
                        </a:ext>
                      </a:extLst>
                    </a:gridCol>
                    <a:gridCol w="1970739">
                      <a:extLst>
                        <a:ext uri="{9D8B030D-6E8A-4147-A177-3AD203B41FA5}">
                          <a16:colId xmlns:a16="http://schemas.microsoft.com/office/drawing/2014/main" val="543994165"/>
                        </a:ext>
                      </a:extLst>
                    </a:gridCol>
                    <a:gridCol w="1408942">
                      <a:extLst>
                        <a:ext uri="{9D8B030D-6E8A-4147-A177-3AD203B41FA5}">
                          <a16:colId xmlns:a16="http://schemas.microsoft.com/office/drawing/2014/main" val="420314728"/>
                        </a:ext>
                      </a:extLst>
                    </a:gridCol>
                    <a:gridCol w="3126697">
                      <a:extLst>
                        <a:ext uri="{9D8B030D-6E8A-4147-A177-3AD203B41FA5}">
                          <a16:colId xmlns:a16="http://schemas.microsoft.com/office/drawing/2014/main" val="2216277554"/>
                        </a:ext>
                      </a:extLst>
                    </a:gridCol>
                  </a:tblGrid>
                  <a:tr h="489805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3"/>
                          <a:stretch>
                            <a:fillRect r="-402809" b="-6312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3"/>
                          <a:stretch>
                            <a:fillRect l="-97268" r="-291803" b="-6312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3"/>
                          <a:stretch>
                            <a:fillRect l="-223529" r="-230650" b="-6312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3"/>
                          <a:stretch>
                            <a:fillRect l="-450431" r="-221121" b="-6312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3"/>
                          <a:stretch>
                            <a:fillRect l="-248928" b="-63125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81916089"/>
                      </a:ext>
                    </a:extLst>
                  </a:tr>
                  <a:tr h="50260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3"/>
                          <a:stretch>
                            <a:fillRect t="-96386" r="-402809" b="-50843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3"/>
                          <a:stretch>
                            <a:fillRect l="-97268" t="-96386" r="-291803" b="-50843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3"/>
                          <a:stretch>
                            <a:fillRect l="-223529" t="-96386" r="-230650" b="-50843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3"/>
                          <a:stretch>
                            <a:fillRect l="-450431" t="-96386" r="-221121" b="-50843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3"/>
                          <a:stretch>
                            <a:fillRect l="-248928" t="-96386" b="-50843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71904360"/>
                      </a:ext>
                    </a:extLst>
                  </a:tr>
                  <a:tr h="50260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3"/>
                          <a:stretch>
                            <a:fillRect t="-196386" r="-402809" b="-40843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3"/>
                          <a:stretch>
                            <a:fillRect l="-97268" t="-196386" r="-291803" b="-40843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3"/>
                          <a:stretch>
                            <a:fillRect l="-223529" t="-196386" r="-230650" b="-40843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3"/>
                          <a:stretch>
                            <a:fillRect l="-450431" t="-196386" r="-221121" b="-40843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3"/>
                          <a:stretch>
                            <a:fillRect l="-248928" t="-196386" b="-40843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3312919"/>
                      </a:ext>
                    </a:extLst>
                  </a:tr>
                  <a:tr h="50260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3"/>
                          <a:stretch>
                            <a:fillRect t="-300000" r="-402809" b="-3134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3"/>
                          <a:stretch>
                            <a:fillRect l="-97268" t="-300000" r="-291803" b="-3134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3"/>
                          <a:stretch>
                            <a:fillRect l="-223529" t="-300000" r="-230650" b="-3134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3"/>
                          <a:stretch>
                            <a:fillRect l="-450431" t="-300000" r="-221121" b="-3134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3"/>
                          <a:stretch>
                            <a:fillRect l="-248928" t="-300000" b="-31341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71987086"/>
                      </a:ext>
                    </a:extLst>
                  </a:tr>
                  <a:tr h="50260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3"/>
                          <a:stretch>
                            <a:fillRect t="-395181" r="-402809" b="-2096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3"/>
                          <a:stretch>
                            <a:fillRect l="-97268" t="-395181" r="-291803" b="-2096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3"/>
                          <a:stretch>
                            <a:fillRect l="-223529" t="-395181" r="-230650" b="-2096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3"/>
                          <a:stretch>
                            <a:fillRect l="-450431" t="-395181" r="-221121" b="-2096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3"/>
                          <a:stretch>
                            <a:fillRect l="-248928" t="-395181" b="-20963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884256061"/>
                      </a:ext>
                    </a:extLst>
                  </a:tr>
                  <a:tr h="50260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3"/>
                          <a:stretch>
                            <a:fillRect t="-501220" r="-402809" b="-1121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3"/>
                          <a:stretch>
                            <a:fillRect l="-97268" t="-501220" r="-291803" b="-1121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3"/>
                          <a:stretch>
                            <a:fillRect l="-223529" t="-501220" r="-230650" b="-1121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3"/>
                          <a:stretch>
                            <a:fillRect l="-450431" t="-501220" r="-221121" b="-1121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3"/>
                          <a:stretch>
                            <a:fillRect l="-248928" t="-501220" b="-11219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675528"/>
                      </a:ext>
                    </a:extLst>
                  </a:tr>
                  <a:tr h="50260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3"/>
                          <a:stretch>
                            <a:fillRect t="-593976" r="-402809" b="-108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3"/>
                          <a:stretch>
                            <a:fillRect l="-97268" t="-593976" r="-291803" b="-108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3"/>
                          <a:stretch>
                            <a:fillRect l="-223529" t="-593976" r="-230650" b="-108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3"/>
                          <a:stretch>
                            <a:fillRect l="-450431" t="-593976" r="-221121" b="-108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3"/>
                          <a:stretch>
                            <a:fillRect l="-248928" t="-593976" b="-1084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38625251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4186671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DEE94A9-0371-91BF-CB36-68576C31EC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GSPO</a:t>
            </a:r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26701E9C-4A1E-DD27-D519-C1EE17AE84B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87694"/>
                <a:ext cx="10515600" cy="4803775"/>
              </a:xfrm>
            </p:spPr>
            <p:txBody>
              <a:bodyPr/>
              <a:lstStyle/>
              <a:p>
                <a:r>
                  <a:rPr lang="zh-CN" altLang="en-US" dirty="0"/>
                  <a:t>从</a:t>
                </a:r>
                <a:r>
                  <a:rPr lang="en-US" altLang="zh-CN" dirty="0"/>
                  <a:t>token-level ratio</a:t>
                </a:r>
                <a:r>
                  <a:rPr lang="zh-CN" altLang="en-US" dirty="0"/>
                  <a:t>改成</a:t>
                </a:r>
                <a:r>
                  <a:rPr lang="en-US" altLang="zh-CN" dirty="0"/>
                  <a:t>sequence-level ratio</a:t>
                </a:r>
              </a:p>
              <a:p>
                <a:pPr marL="0" indent="0">
                  <a:buNone/>
                </a:pPr>
                <a:r>
                  <a:rPr lang="en-US" altLang="zh-CN" dirty="0"/>
                  <a:t>	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zh-CN" i="1" dirty="0" err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altLang="zh-CN" i="1" dirty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nary>
                              <m:naryPr>
                                <m:chr m:val="∏"/>
                                <m:ctrlP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sub>
                              <m:sup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altLang="zh-CN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zh-CN" i="1" dirty="0" err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i="1" dirty="0" err="1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en-US" altLang="zh-CN" i="1" dirty="0" err="1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d>
                              </m:sup>
                              <m:e>
                                <m:sSub>
                                  <m:sSubPr>
                                    <m:ctrlPr>
                                      <a:rPr lang="en-US" altLang="zh-CN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 dirty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altLang="zh-CN" i="1" dirty="0" err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altLang="zh-CN" i="1" dirty="0" err="1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altLang="zh-CN" i="1" dirty="0" err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altLang="zh-CN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i="1" dirty="0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d>
                              </m:e>
                            </m:nary>
                          </m:e>
                        </m:d>
                      </m:e>
                      <m:sup>
                        <m:f>
                          <m:f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zh-CN" i="1" dirty="0" err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 dirty="0" err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zh-CN" i="1" dirty="0" err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</m:den>
                        </m:f>
                      </m:sup>
                    </m:sSup>
                  </m:oMath>
                </a14:m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altLang="zh-CN" i="1" dirty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i="0" dirty="0">
                            <a:latin typeface="Cambria Math" panose="02040503050406030204" pitchFamily="18" charset="0"/>
                          </a:rPr>
                          <m:t>exp</m:t>
                        </m:r>
                      </m:fName>
                      <m:e>
                        <m:d>
                          <m:d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altLang="zh-CN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zh-CN" i="1" dirty="0" err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i="1" dirty="0" err="1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en-US" altLang="zh-CN" i="1" dirty="0" err="1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d>
                              </m:den>
                            </m:f>
                            <m:nary>
                              <m:naryPr>
                                <m:chr m:val="∑"/>
                                <m:ctrlP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sub>
                              <m:sup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altLang="zh-CN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zh-CN" i="1" dirty="0" err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i="1" dirty="0" err="1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en-US" altLang="zh-CN" i="1" dirty="0" err="1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d>
                              </m:sup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b="0" i="1" dirty="0" smtClean="0"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  <m:f>
                                  <m:fPr>
                                    <m:ctrlPr>
                                      <a:rPr lang="en-US" altLang="zh-CN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en-US" altLang="zh-CN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i="1" dirty="0">
                                            <a:latin typeface="Cambria Math" panose="02040503050406030204" pitchFamily="18" charset="0"/>
                                          </a:rPr>
                                          <m:t>𝜋</m:t>
                                        </m:r>
                                      </m:e>
                                      <m:sub>
                                        <m:r>
                                          <a:rPr lang="en-US" altLang="zh-CN" i="1" dirty="0">
                                            <a:latin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sub>
                                    </m:sSub>
                                    <m:d>
                                      <m:dPr>
                                        <m:ctrlPr>
                                          <a:rPr lang="en-US" altLang="zh-CN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altLang="zh-CN" i="1" dirty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CN" i="1" dirty="0">
                                                <a:latin typeface="Cambria Math" panose="02040503050406030204" pitchFamily="18" charset="0"/>
                                              </a:rPr>
                                              <m:t>𝑦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CN" i="1" dirty="0" err="1"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  <m:r>
                                              <a:rPr lang="en-US" altLang="zh-CN" i="1" dirty="0" err="1">
                                                <a:latin typeface="Cambria Math" panose="02040503050406030204" pitchFamily="18" charset="0"/>
                                              </a:rPr>
                                              <m:t>,</m:t>
                                            </m:r>
                                            <m:r>
                                              <a:rPr lang="en-US" altLang="zh-CN" i="1" dirty="0" err="1">
                                                <a:latin typeface="Cambria Math" panose="02040503050406030204" pitchFamily="18" charset="0"/>
                                              </a:rPr>
                                              <m:t>𝑡</m:t>
                                            </m:r>
                                          </m:sub>
                                        </m:sSub>
                                      </m:e>
                                      <m:e>
                                        <m:r>
                                          <a:rPr lang="en-US" altLang="zh-CN" i="1" dirty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  <m:r>
                                          <a:rPr lang="en-US" altLang="zh-CN" i="1" dirty="0"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sSub>
                                          <m:sSubPr>
                                            <m:ctrlPr>
                                              <a:rPr lang="en-US" altLang="zh-CN" i="1" dirty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CN" i="1" dirty="0">
                                                <a:latin typeface="Cambria Math" panose="02040503050406030204" pitchFamily="18" charset="0"/>
                                              </a:rPr>
                                              <m:t>𝑦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CN" i="1" dirty="0" err="1"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  <m:r>
                                              <a:rPr lang="en-US" altLang="zh-CN" i="1" dirty="0">
                                                <a:latin typeface="Cambria Math" panose="02040503050406030204" pitchFamily="18" charset="0"/>
                                              </a:rPr>
                                              <m:t>,&lt;</m:t>
                                            </m:r>
                                            <m:r>
                                              <a:rPr lang="en-US" altLang="zh-CN" i="1" dirty="0">
                                                <a:latin typeface="Cambria Math" panose="02040503050406030204" pitchFamily="18" charset="0"/>
                                              </a:rPr>
                                              <m:t>𝑡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en-US" altLang="zh-CN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i="1" dirty="0">
                                            <a:latin typeface="Cambria Math" panose="02040503050406030204" pitchFamily="18" charset="0"/>
                                          </a:rPr>
                                          <m:t>𝜋</m:t>
                                        </m:r>
                                      </m:e>
                                      <m:sub>
                                        <m:sSub>
                                          <m:sSubPr>
                                            <m:ctrlPr>
                                              <a:rPr lang="en-US" altLang="zh-CN" i="1" dirty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CN" i="1" dirty="0">
                                                <a:latin typeface="Cambria Math" panose="02040503050406030204" pitchFamily="18" charset="0"/>
                                              </a:rPr>
                                              <m:t>𝜃</m:t>
                                            </m:r>
                                          </m:e>
                                          <m:sub>
                                            <m:r>
                                              <m:rPr>
                                                <m:nor/>
                                              </m:rPr>
                                              <a:rPr lang="en-US" altLang="zh-CN" i="0" dirty="0">
                                                <a:latin typeface="Cambria Math" panose="02040503050406030204" pitchFamily="18" charset="0"/>
                                              </a:rPr>
                                              <m:t>old</m:t>
                                            </m:r>
                                          </m:sub>
                                        </m:sSub>
                                      </m:sub>
                                    </m:sSub>
                                    <m:d>
                                      <m:dPr>
                                        <m:ctrlPr>
                                          <a:rPr lang="en-US" altLang="zh-CN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altLang="zh-CN" i="1" dirty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CN" i="1" dirty="0">
                                                <a:latin typeface="Cambria Math" panose="02040503050406030204" pitchFamily="18" charset="0"/>
                                              </a:rPr>
                                              <m:t>𝑦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CN" i="1" dirty="0" err="1"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  <m:r>
                                              <a:rPr lang="en-US" altLang="zh-CN" i="1" dirty="0" err="1">
                                                <a:latin typeface="Cambria Math" panose="02040503050406030204" pitchFamily="18" charset="0"/>
                                              </a:rPr>
                                              <m:t>,</m:t>
                                            </m:r>
                                            <m:r>
                                              <a:rPr lang="en-US" altLang="zh-CN" i="1" dirty="0" err="1">
                                                <a:latin typeface="Cambria Math" panose="02040503050406030204" pitchFamily="18" charset="0"/>
                                              </a:rPr>
                                              <m:t>𝑡</m:t>
                                            </m:r>
                                          </m:sub>
                                        </m:sSub>
                                      </m:e>
                                      <m:e>
                                        <m:r>
                                          <a:rPr lang="en-US" altLang="zh-CN" i="1" dirty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  <m:r>
                                          <a:rPr lang="en-US" altLang="zh-CN" i="1" dirty="0"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sSub>
                                          <m:sSubPr>
                                            <m:ctrlPr>
                                              <a:rPr lang="en-US" altLang="zh-CN" i="1" dirty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CN" i="1" dirty="0">
                                                <a:latin typeface="Cambria Math" panose="02040503050406030204" pitchFamily="18" charset="0"/>
                                              </a:rPr>
                                              <m:t>𝑦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CN" i="1" dirty="0" err="1"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  <m:r>
                                              <a:rPr lang="en-US" altLang="zh-CN" i="1" dirty="0">
                                                <a:latin typeface="Cambria Math" panose="02040503050406030204" pitchFamily="18" charset="0"/>
                                              </a:rPr>
                                              <m:t>,&lt;</m:t>
                                            </m:r>
                                            <m:r>
                                              <a:rPr lang="en-US" altLang="zh-CN" i="1" dirty="0">
                                                <a:latin typeface="Cambria Math" panose="02040503050406030204" pitchFamily="18" charset="0"/>
                                              </a:rPr>
                                              <m:t>𝑡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den>
                                </m:f>
                              </m:e>
                            </m:nary>
                          </m:e>
                        </m:d>
                      </m:e>
                    </m:func>
                  </m:oMath>
                </a14:m>
              </a:p>
              <a:p>
                <a:r>
                  <a:rPr lang="zh-CN" altLang="en-US" dirty="0"/>
                  <a:t>长度归一化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d>
                          <m:dPr>
                            <m:begChr m:val="|"/>
                            <m:endChr m:val="|"/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i="1" dirty="0" err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 dirty="0" err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altLang="zh-CN" i="1" dirty="0" err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den>
                    </m:f>
                  </m:oMath>
                </a14:m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zh-CN" altLang="en-US" dirty="0"/>
                  <a:t>降低方差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zh-CN" altLang="en-US" dirty="0"/>
                  <a:t>减小序列长度对</a:t>
                </a:r>
                <a:r>
                  <a:rPr lang="en-US" altLang="zh-CN" dirty="0"/>
                  <a:t>seq-level ratio</a:t>
                </a:r>
                <a:r>
                  <a:rPr lang="zh-CN" altLang="en-US" dirty="0"/>
                  <a:t>造成的影响</a:t>
                </a:r>
                <a:endParaRPr lang="en-US" altLang="zh-CN" dirty="0"/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26701E9C-4A1E-DD27-D519-C1EE17AE84B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87694"/>
                <a:ext cx="10515600" cy="4803775"/>
              </a:xfrm>
              <a:blipFill>
                <a:blip r:embed="rId2"/>
                <a:stretch>
                  <a:fillRect l="-1043" t="-228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图片 3">
            <a:extLst>
              <a:ext uri="{FF2B5EF4-FFF2-40B4-BE49-F238E27FC236}">
                <a16:creationId xmlns:a16="http://schemas.microsoft.com/office/drawing/2014/main" id="{044E8EDE-9EF0-955F-FCB9-D366871C0C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6350" y="5720734"/>
            <a:ext cx="9639300" cy="893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48706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6B0FF9D2-E9A3-3B22-0CD6-49F5188BD9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9251" y="2740553"/>
            <a:ext cx="8323868" cy="4016266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BFA15607-17D3-3C1F-CA5C-7E03E288A7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GRPO</a:t>
            </a:r>
            <a:r>
              <a:rPr lang="zh-CN" altLang="en-US" dirty="0"/>
              <a:t>训</a:t>
            </a:r>
            <a:r>
              <a:rPr lang="en-US" altLang="zh-CN" dirty="0" err="1"/>
              <a:t>MoE</a:t>
            </a:r>
            <a:r>
              <a:rPr lang="zh-CN" altLang="en-US" dirty="0"/>
              <a:t>会不稳定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A9B1675-AD6F-E202-5ED9-B5C4B3313B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603375"/>
          </a:xfrm>
        </p:spPr>
        <p:txBody>
          <a:bodyPr/>
          <a:lstStyle/>
          <a:p>
            <a:r>
              <a:rPr lang="zh-CN" altLang="en-US" dirty="0"/>
              <a:t>在长时间训练后出现不可逆的模型崩溃</a:t>
            </a:r>
            <a:endParaRPr lang="en-US" altLang="zh-CN" dirty="0"/>
          </a:p>
          <a:p>
            <a:r>
              <a:rPr lang="en-US" altLang="zh-CN" dirty="0"/>
              <a:t>GSPO</a:t>
            </a:r>
            <a:r>
              <a:rPr lang="zh-CN" altLang="en-US" dirty="0"/>
              <a:t>论文认为</a:t>
            </a:r>
            <a:r>
              <a:rPr lang="en-US" altLang="zh-CN" dirty="0" err="1"/>
              <a:t>MoE</a:t>
            </a:r>
            <a:r>
              <a:rPr lang="zh-CN" altLang="en-US" dirty="0"/>
              <a:t>这种稀疏激活的结构本身很脆弱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每次</a:t>
            </a:r>
            <a:r>
              <a:rPr lang="en-US" altLang="zh-CN" dirty="0"/>
              <a:t>router</a:t>
            </a:r>
            <a:r>
              <a:rPr lang="zh-CN" altLang="en-US" dirty="0"/>
              <a:t>激活的专家会改变</a:t>
            </a:r>
          </a:p>
        </p:txBody>
      </p:sp>
    </p:spTree>
    <p:extLst>
      <p:ext uri="{BB962C8B-B14F-4D97-AF65-F5344CB8AC3E}">
        <p14:creationId xmlns:p14="http://schemas.microsoft.com/office/powerpoint/2010/main" val="28809141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5529A01-FB65-AAA2-3146-B2639A013E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routing replay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9A2FD703-BB1B-F31F-8AFC-6C2B26751A1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1825625"/>
                <a:ext cx="10775623" cy="4565748"/>
              </a:xfrm>
            </p:spPr>
            <p:txBody>
              <a:bodyPr/>
              <a:lstStyle/>
              <a:p>
                <a:r>
                  <a:rPr lang="zh-CN" altLang="en-US" dirty="0"/>
                  <a:t>针对</a:t>
                </a:r>
                <a:r>
                  <a:rPr lang="en-US" altLang="zh-CN" dirty="0"/>
                  <a:t>GRPO</a:t>
                </a:r>
                <a:r>
                  <a:rPr lang="zh-CN" altLang="en-US" dirty="0"/>
                  <a:t>训</a:t>
                </a:r>
                <a:r>
                  <a:rPr lang="en-US" altLang="zh-CN" dirty="0" err="1"/>
                  <a:t>MoE</a:t>
                </a:r>
                <a:r>
                  <a:rPr lang="zh-CN" altLang="en-US" dirty="0"/>
                  <a:t>模型的不稳定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zh-CN" altLang="en-US" dirty="0"/>
                  <a:t>之前的做法是</a:t>
                </a:r>
                <a:r>
                  <a:rPr lang="en-US" altLang="zh-CN" dirty="0"/>
                  <a:t>routing replay</a:t>
                </a:r>
                <a:r>
                  <a:rPr lang="zh-CN" altLang="en-US" dirty="0"/>
                  <a:t>路由回放</a:t>
                </a:r>
                <a:endParaRPr lang="en-US" altLang="zh-CN" dirty="0"/>
              </a:p>
              <a:p>
                <a:r>
                  <a:rPr lang="zh-CN" altLang="en-US" dirty="0"/>
                  <a:t>做法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zh-CN" altLang="en-US" dirty="0"/>
                  <a:t>缓存旧策略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ar-AE" i="1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sSub>
                          <m:sSubPr>
                            <m:ctrlPr>
                              <a:rPr lang="ar-AE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ar-AE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>
                                <a:latin typeface="Cambria Math" panose="02040503050406030204" pitchFamily="18" charset="0"/>
                              </a:rPr>
                              <m:t>old</m:t>
                            </m:r>
                          </m:sub>
                        </m:sSub>
                      </m:sub>
                    </m:sSub>
                  </m:oMath>
                </a14:m>
                <a:r>
                  <a:rPr lang="zh-CN" altLang="en-US" dirty="0"/>
                  <a:t>对每个 </a:t>
                </a:r>
                <a:r>
                  <a:rPr lang="en-US" altLang="zh-CN" dirty="0"/>
                  <a:t>token </a:t>
                </a:r>
                <a:r>
                  <a:rPr lang="zh-CN" altLang="en-US" dirty="0"/>
                  <a:t>的 </a:t>
                </a:r>
                <a:r>
                  <a:rPr lang="en-US" altLang="zh-CN" dirty="0"/>
                  <a:t>routing</a:t>
                </a:r>
                <a:r>
                  <a:rPr lang="zh-CN" altLang="en-US" dirty="0"/>
                  <a:t>，即激活哪些 </a:t>
                </a:r>
                <a:r>
                  <a:rPr lang="en-US" altLang="zh-CN" dirty="0"/>
                  <a:t>experts</a:t>
                </a:r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zh-CN" altLang="en-US" dirty="0"/>
                  <a:t>在新策略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ar-AE" i="1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zh-CN" altLang="ar-AE" i="1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</m:oMath>
                </a14:m>
                <a:r>
                  <a:rPr lang="zh-CN" altLang="en-US" dirty="0"/>
                  <a:t>里计算 </a:t>
                </a:r>
                <a:r>
                  <a:rPr lang="en-US" altLang="zh-CN" dirty="0"/>
                  <a:t>ratio </a:t>
                </a:r>
                <a:r>
                  <a:rPr lang="zh-CN" altLang="en-US" dirty="0"/>
                  <a:t>时，重放同样的 </a:t>
                </a:r>
                <a:r>
                  <a:rPr lang="en-US" altLang="zh-CN" dirty="0"/>
                  <a:t>routing </a:t>
                </a:r>
                <a:r>
                  <a:rPr lang="zh-CN" altLang="en-US" dirty="0"/>
                  <a:t>模式</a:t>
                </a:r>
                <a:endParaRPr lang="en-US" altLang="zh-CN" dirty="0"/>
              </a:p>
              <a:p>
                <a:r>
                  <a:rPr lang="zh-CN" altLang="en-US" dirty="0"/>
                  <a:t>缺点：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zh-CN" altLang="en-US" dirty="0"/>
                  <a:t>额外的通信和内存开销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zh-CN" altLang="en-US" dirty="0"/>
                  <a:t>可能限制 </a:t>
                </a:r>
                <a:r>
                  <a:rPr lang="en-US" altLang="zh-CN" dirty="0" err="1"/>
                  <a:t>MoE</a:t>
                </a:r>
                <a:r>
                  <a:rPr lang="en-US" altLang="zh-CN" dirty="0"/>
                  <a:t> </a:t>
                </a:r>
                <a:r>
                  <a:rPr lang="zh-CN" altLang="en-US" dirty="0"/>
                  <a:t>的实际容量利用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9A2FD703-BB1B-F31F-8AFC-6C2B26751A1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825625"/>
                <a:ext cx="10775623" cy="4565748"/>
              </a:xfrm>
              <a:blipFill>
                <a:blip r:embed="rId2"/>
                <a:stretch>
                  <a:fillRect l="-962" t="-2403" r="-9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795135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1C9610A-5302-6D41-1C96-765A666EFC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GSPO</a:t>
            </a:r>
            <a:r>
              <a:rPr lang="zh-CN" altLang="en-US" dirty="0"/>
              <a:t>不再需要</a:t>
            </a:r>
            <a:r>
              <a:rPr lang="en-US" altLang="zh-CN" dirty="0"/>
              <a:t>routing replay</a:t>
            </a:r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E15EEFC9-BBE7-19BE-8B42-D2CDA67285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/>
                        </m:ctrlPr>
                      </m:sSubPr>
                      <m:e>
                        <m:r>
                          <a:rPr lang="zh-CN" altLang="en-US" i="1"/>
                          <m:t>𝑠</m:t>
                        </m:r>
                      </m:e>
                      <m:sub>
                        <m:r>
                          <a:rPr lang="zh-CN" altLang="en-US" i="1"/>
                          <m:t>𝑖</m:t>
                        </m:r>
                      </m:sub>
                    </m:sSub>
                    <m:d>
                      <m:dPr>
                        <m:ctrlPr>
                          <a:rPr lang="zh-CN" altLang="en-US" i="1"/>
                        </m:ctrlPr>
                      </m:dPr>
                      <m:e>
                        <m:r>
                          <a:rPr lang="zh-CN" altLang="en-US" i="1"/>
                          <m:t>𝜃</m:t>
                        </m:r>
                      </m:e>
                    </m:d>
                    <m:r>
                      <a:rPr lang="zh-CN" altLang="en-US"/>
                      <m:t>=</m:t>
                    </m:r>
                    <m:sSup>
                      <m:sSupPr>
                        <m:ctrlPr>
                          <a:rPr lang="zh-CN" altLang="en-US" i="1"/>
                        </m:ctrlPr>
                      </m:sSupPr>
                      <m:e>
                        <m:d>
                          <m:dPr>
                            <m:ctrlPr>
                              <a:rPr lang="zh-CN" altLang="en-US" i="1"/>
                            </m:ctrlPr>
                          </m:dPr>
                          <m:e>
                            <m:f>
                              <m:fPr>
                                <m:ctrlPr>
                                  <a:rPr lang="zh-CN" altLang="en-US" i="1"/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zh-CN" altLang="en-US" i="1"/>
                                    </m:ctrlPr>
                                  </m:sSubPr>
                                  <m:e>
                                    <m:r>
                                      <a:rPr lang="zh-CN" altLang="en-US" i="1"/>
                                      <m:t>𝜋</m:t>
                                    </m:r>
                                  </m:e>
                                  <m:sub>
                                    <m:r>
                                      <a:rPr lang="zh-CN" altLang="en-US" i="1"/>
                                      <m:t>𝜃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zh-CN" altLang="en-US" i="1"/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zh-CN" altLang="en-US" i="1"/>
                                        </m:ctrlPr>
                                      </m:sSubPr>
                                      <m:e>
                                        <m:r>
                                          <a:rPr lang="zh-CN" altLang="en-US" i="1"/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zh-CN" altLang="en-US" i="1"/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a:rPr lang="zh-CN" altLang="en-US"/>
                                      <m:t>∣</m:t>
                                    </m:r>
                                    <m:r>
                                      <a:rPr lang="zh-CN" altLang="en-US" i="1"/>
                                      <m:t>𝑥</m:t>
                                    </m:r>
                                  </m:e>
                                </m:d>
                              </m:num>
                              <m:den>
                                <m:sSub>
                                  <m:sSubPr>
                                    <m:ctrlPr>
                                      <a:rPr lang="zh-CN" altLang="en-US" i="1"/>
                                    </m:ctrlPr>
                                  </m:sSubPr>
                                  <m:e>
                                    <m:r>
                                      <a:rPr lang="zh-CN" altLang="en-US" i="1"/>
                                      <m:t>𝜋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zh-CN" altLang="en-US" i="1"/>
                                        </m:ctrlPr>
                                      </m:sSubPr>
                                      <m:e>
                                        <m:r>
                                          <a:rPr lang="zh-CN" altLang="en-US" i="1"/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sty m:val="p"/>
                                          </m:rPr>
                                          <a:rPr lang="zh-CN" altLang="en-US"/>
                                          <m:t>old</m:t>
                                        </m:r>
                                      </m:sub>
                                    </m:sSub>
                                  </m:sub>
                                </m:sSub>
                                <m:d>
                                  <m:dPr>
                                    <m:ctrlPr>
                                      <a:rPr lang="zh-CN" altLang="en-US" i="1"/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zh-CN" altLang="en-US" i="1"/>
                                        </m:ctrlPr>
                                      </m:sSubPr>
                                      <m:e>
                                        <m:r>
                                          <a:rPr lang="zh-CN" altLang="en-US" i="1"/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zh-CN" altLang="en-US" i="1"/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a:rPr lang="zh-CN" altLang="en-US"/>
                                      <m:t>∣</m:t>
                                    </m:r>
                                    <m:r>
                                      <a:rPr lang="zh-CN" altLang="en-US" i="1"/>
                                      <m:t>𝑥</m:t>
                                    </m:r>
                                  </m:e>
                                </m:d>
                              </m:den>
                            </m:f>
                          </m:e>
                        </m:d>
                      </m:e>
                      <m:sup>
                        <m:r>
                          <a:rPr lang="zh-CN" altLang="en-US"/>
                          <m:t>1</m:t>
                        </m:r>
                        <m:r>
                          <a:rPr lang="zh-CN" altLang="en-US"/>
                          <m:t>/∣</m:t>
                        </m:r>
                        <m:sSub>
                          <m:sSubPr>
                            <m:ctrlPr>
                              <a:rPr lang="zh-CN" altLang="en-US" i="1"/>
                            </m:ctrlPr>
                          </m:sSubPr>
                          <m:e>
                            <m:r>
                              <a:rPr lang="zh-CN" altLang="en-US" i="1"/>
                              <m:t>𝑦</m:t>
                            </m:r>
                          </m:e>
                          <m:sub>
                            <m:r>
                              <a:rPr lang="zh-CN" altLang="en-US" i="1"/>
                              <m:t>𝑖</m:t>
                            </m:r>
                          </m:sub>
                        </m:sSub>
                        <m:r>
                          <a:rPr lang="zh-CN" altLang="en-US"/>
                          <m:t>∣</m:t>
                        </m:r>
                      </m:sup>
                    </m:sSup>
                  </m:oMath>
                </a14:m>
                <a:endParaRPr lang="zh-CN" altLang="en-US" dirty="0"/>
              </a:p>
              <a:p>
                <a:r>
                  <a:rPr lang="en-US" altLang="zh-CN" dirty="0"/>
                  <a:t>GSPO</a:t>
                </a:r>
                <a:r>
                  <a:rPr lang="zh-CN" altLang="en-US" dirty="0"/>
                  <a:t>不需要</a:t>
                </a:r>
                <a:r>
                  <a:rPr lang="en-US" altLang="zh-CN" dirty="0"/>
                  <a:t>token</a:t>
                </a:r>
                <a:r>
                  <a:rPr lang="zh-CN" altLang="en-US" dirty="0"/>
                  <a:t>级别的</a:t>
                </a:r>
                <a:r>
                  <a:rPr lang="en-US" altLang="zh-CN" dirty="0"/>
                  <a:t>ratio</a:t>
                </a:r>
                <a:r>
                  <a:rPr lang="zh-CN" altLang="en-US" dirty="0"/>
                  <a:t>保持稳定</a:t>
                </a:r>
                <a:endParaRPr lang="en-US" altLang="zh-CN" dirty="0"/>
              </a:p>
              <a:p>
                <a:r>
                  <a:rPr lang="zh-CN" altLang="en-US" dirty="0"/>
                  <a:t>单个</a:t>
                </a:r>
                <a:r>
                  <a:rPr lang="en-US" altLang="zh-CN" dirty="0"/>
                  <a:t>token</a:t>
                </a:r>
                <a:r>
                  <a:rPr lang="zh-CN" altLang="en-US" dirty="0"/>
                  <a:t>的局部</a:t>
                </a:r>
                <a:r>
                  <a:rPr lang="en-US" altLang="zh-CN" dirty="0"/>
                  <a:t>routing</a:t>
                </a:r>
                <a:r>
                  <a:rPr lang="zh-CN" altLang="en-US" dirty="0"/>
                  <a:t>波动不会剧烈影响整个序列</a:t>
                </a:r>
                <a:endParaRPr lang="en-US" altLang="zh-CN" dirty="0"/>
              </a:p>
              <a:p>
                <a:r>
                  <a:rPr lang="en-US" altLang="zh-CN" dirty="0"/>
                  <a:t>GSPO</a:t>
                </a:r>
                <a:r>
                  <a:rPr lang="zh-CN" altLang="en-US" dirty="0"/>
                  <a:t>不需要</a:t>
                </a:r>
                <a:r>
                  <a:rPr lang="en-US" altLang="zh-CN" dirty="0"/>
                  <a:t>Routing Replay</a:t>
                </a:r>
                <a:r>
                  <a:rPr lang="zh-CN" altLang="en-US" dirty="0"/>
                  <a:t>，也能稳定训练</a:t>
                </a:r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E15EEFC9-BBE7-19BE-8B42-D2CDA67285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05000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710</TotalTime>
  <Words>799</Words>
  <Application>Microsoft Office PowerPoint</Application>
  <PresentationFormat>宽屏</PresentationFormat>
  <Paragraphs>123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18" baseType="lpstr">
      <vt:lpstr>等线</vt:lpstr>
      <vt:lpstr>等线 Light</vt:lpstr>
      <vt:lpstr>Arial</vt:lpstr>
      <vt:lpstr>Cambria Math</vt:lpstr>
      <vt:lpstr>Office 主题​​</vt:lpstr>
      <vt:lpstr>GSPO Group Sequence Policy Optimization</vt:lpstr>
      <vt:lpstr>主要内容</vt:lpstr>
      <vt:lpstr>GRPO</vt:lpstr>
      <vt:lpstr>为什么需要重要性采样</vt:lpstr>
      <vt:lpstr>重要性采样</vt:lpstr>
      <vt:lpstr>GSPO论文认为GRPO存在问题</vt:lpstr>
      <vt:lpstr>reward 的单位和优化的单位不一致</vt:lpstr>
      <vt:lpstr>单位不一致的问题是token权重不同</vt:lpstr>
      <vt:lpstr>token与token之间权重的差异可能会很大</vt:lpstr>
      <vt:lpstr>GSPO</vt:lpstr>
      <vt:lpstr>GRPO训MoE会不稳定</vt:lpstr>
      <vt:lpstr>routing replay</vt:lpstr>
      <vt:lpstr>GSPO不再需要routing replay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钰哲 赵</dc:creator>
  <cp:lastModifiedBy>钰哲 赵</cp:lastModifiedBy>
  <cp:revision>9</cp:revision>
  <dcterms:created xsi:type="dcterms:W3CDTF">2026-04-16T00:28:50Z</dcterms:created>
  <dcterms:modified xsi:type="dcterms:W3CDTF">2026-04-29T16:55:45Z</dcterms:modified>
</cp:coreProperties>
</file>